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8" r:id="rId2"/>
    <p:sldId id="259" r:id="rId3"/>
  </p:sldIdLst>
  <p:sldSz cx="39600188" cy="396001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12FDD31-5301-958C-B641-B0D84AF4DD0F}" name="green02@student.ubc.ca" initials="g" userId="S::green02@student.ubc.ca::ec01a612-2678-425e-ad48-7a5aa9853638" providerId="AD"/>
  <p188:author id="{070F0E88-EDFD-4A76-7521-00A37DA510AC}" name="Clark Zhang" initials="CZ" userId="84bf478f48f1e3f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FF40FF"/>
    <a:srgbClr val="A2D8BF"/>
    <a:srgbClr val="A2D7BF"/>
    <a:srgbClr val="00B050"/>
    <a:srgbClr val="ACD98A"/>
    <a:srgbClr val="AB7942"/>
    <a:srgbClr val="FF9300"/>
    <a:srgbClr val="92D050"/>
    <a:srgbClr val="1B39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8734D5-D7C2-4777-B4FD-070A31601793}" v="28" dt="2026-05-31T02:37:19.8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998" autoAdjust="0"/>
    <p:restoredTop sz="95833"/>
  </p:normalViewPr>
  <p:slideViewPr>
    <p:cSldViewPr snapToGrid="0" showGuides="1">
      <p:cViewPr>
        <p:scale>
          <a:sx n="66" d="100"/>
          <a:sy n="66" d="100"/>
        </p:scale>
        <p:origin x="-3366" y="-47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microsoft.com/office/2018/10/relationships/authors" Target="author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rk Zhang" userId="84bf478f48f1e3f5" providerId="LiveId" clId="{14DAE63D-259A-47F8-9880-A07F4D619886}"/>
    <pc:docChg chg="undo redo custSel addSld modSld">
      <pc:chgData name="Clark Zhang" userId="84bf478f48f1e3f5" providerId="LiveId" clId="{14DAE63D-259A-47F8-9880-A07F4D619886}" dt="2026-05-31T02:37:00.644" v="264" actId="1076"/>
      <pc:docMkLst>
        <pc:docMk/>
      </pc:docMkLst>
      <pc:sldChg chg="addSp delSp modSp mod">
        <pc:chgData name="Clark Zhang" userId="84bf478f48f1e3f5" providerId="LiveId" clId="{14DAE63D-259A-47F8-9880-A07F4D619886}" dt="2026-05-31T02:37:00.644" v="264" actId="1076"/>
        <pc:sldMkLst>
          <pc:docMk/>
          <pc:sldMk cId="1667953693" sldId="258"/>
        </pc:sldMkLst>
        <pc:spChg chg="mod modVis">
          <ac:chgData name="Clark Zhang" userId="84bf478f48f1e3f5" providerId="LiveId" clId="{14DAE63D-259A-47F8-9880-A07F4D619886}" dt="2026-05-31T02:34:25.183" v="232" actId="33934"/>
          <ac:spMkLst>
            <pc:docMk/>
            <pc:sldMk cId="1667953693" sldId="258"/>
            <ac:spMk id="3" creationId="{7E6F4285-299A-A3A0-650A-1CDD69F2CE1C}"/>
          </ac:spMkLst>
        </pc:spChg>
        <pc:spChg chg="mod modVis">
          <ac:chgData name="Clark Zhang" userId="84bf478f48f1e3f5" providerId="LiveId" clId="{14DAE63D-259A-47F8-9880-A07F4D619886}" dt="2026-05-31T02:34:25.183" v="232" actId="33934"/>
          <ac:spMkLst>
            <pc:docMk/>
            <pc:sldMk cId="1667953693" sldId="258"/>
            <ac:spMk id="6" creationId="{F6207ED7-757F-B797-AC9F-D5A6B74394F3}"/>
          </ac:spMkLst>
        </pc:spChg>
        <pc:spChg chg="mod modVis">
          <ac:chgData name="Clark Zhang" userId="84bf478f48f1e3f5" providerId="LiveId" clId="{14DAE63D-259A-47F8-9880-A07F4D619886}" dt="2026-05-31T02:34:25.183" v="232" actId="33934"/>
          <ac:spMkLst>
            <pc:docMk/>
            <pc:sldMk cId="1667953693" sldId="258"/>
            <ac:spMk id="8" creationId="{E0B862E9-8FA3-6C41-1E88-C4611C643A17}"/>
          </ac:spMkLst>
        </pc:spChg>
        <pc:spChg chg="mod">
          <ac:chgData name="Clark Zhang" userId="84bf478f48f1e3f5" providerId="LiveId" clId="{14DAE63D-259A-47F8-9880-A07F4D619886}" dt="2026-05-31T02:26:36.720" v="122" actId="571"/>
          <ac:spMkLst>
            <pc:docMk/>
            <pc:sldMk cId="1667953693" sldId="258"/>
            <ac:spMk id="16" creationId="{5A87E806-4068-BF3E-46E0-B75728438F4D}"/>
          </ac:spMkLst>
        </pc:spChg>
        <pc:spChg chg="mod">
          <ac:chgData name="Clark Zhang" userId="84bf478f48f1e3f5" providerId="LiveId" clId="{14DAE63D-259A-47F8-9880-A07F4D619886}" dt="2026-05-31T02:26:36.720" v="122" actId="571"/>
          <ac:spMkLst>
            <pc:docMk/>
            <pc:sldMk cId="1667953693" sldId="258"/>
            <ac:spMk id="23" creationId="{38C70949-EE05-E266-3B58-0739A4249FB4}"/>
          </ac:spMkLst>
        </pc:spChg>
        <pc:spChg chg="mod modVis">
          <ac:chgData name="Clark Zhang" userId="84bf478f48f1e3f5" providerId="LiveId" clId="{14DAE63D-259A-47F8-9880-A07F4D619886}" dt="2026-05-31T02:34:25.183" v="232" actId="33934"/>
          <ac:spMkLst>
            <pc:docMk/>
            <pc:sldMk cId="1667953693" sldId="258"/>
            <ac:spMk id="30" creationId="{9533D7B0-2E79-B66F-22C8-DD9D337C07C6}"/>
          </ac:spMkLst>
        </pc:spChg>
        <pc:spChg chg="mod">
          <ac:chgData name="Clark Zhang" userId="84bf478f48f1e3f5" providerId="LiveId" clId="{14DAE63D-259A-47F8-9880-A07F4D619886}" dt="2026-05-31T02:26:36.720" v="122" actId="571"/>
          <ac:spMkLst>
            <pc:docMk/>
            <pc:sldMk cId="1667953693" sldId="258"/>
            <ac:spMk id="40" creationId="{6448059F-1DB5-3097-062D-F307BCB74EC6}"/>
          </ac:spMkLst>
        </pc:spChg>
        <pc:spChg chg="mod">
          <ac:chgData name="Clark Zhang" userId="84bf478f48f1e3f5" providerId="LiveId" clId="{14DAE63D-259A-47F8-9880-A07F4D619886}" dt="2026-05-31T02:33:06.661" v="205" actId="165"/>
          <ac:spMkLst>
            <pc:docMk/>
            <pc:sldMk cId="1667953693" sldId="258"/>
            <ac:spMk id="54" creationId="{BBB85ED8-E07D-0900-D038-4C18B69D35B7}"/>
          </ac:spMkLst>
        </pc:spChg>
        <pc:spChg chg="mod">
          <ac:chgData name="Clark Zhang" userId="84bf478f48f1e3f5" providerId="LiveId" clId="{14DAE63D-259A-47F8-9880-A07F4D619886}" dt="2026-05-31T02:26:36.720" v="122" actId="571"/>
          <ac:spMkLst>
            <pc:docMk/>
            <pc:sldMk cId="1667953693" sldId="258"/>
            <ac:spMk id="72" creationId="{EB696F77-9CF7-E59F-B2A4-A09556726FF9}"/>
          </ac:spMkLst>
        </pc:spChg>
        <pc:spChg chg="mod">
          <ac:chgData name="Clark Zhang" userId="84bf478f48f1e3f5" providerId="LiveId" clId="{14DAE63D-259A-47F8-9880-A07F4D619886}" dt="2026-05-31T02:33:06.661" v="205" actId="165"/>
          <ac:spMkLst>
            <pc:docMk/>
            <pc:sldMk cId="1667953693" sldId="258"/>
            <ac:spMk id="81" creationId="{4CCF0DD2-1CAE-416C-7189-E5411FFE714C}"/>
          </ac:spMkLst>
        </pc:spChg>
        <pc:spChg chg="mod">
          <ac:chgData name="Clark Zhang" userId="84bf478f48f1e3f5" providerId="LiveId" clId="{14DAE63D-259A-47F8-9880-A07F4D619886}" dt="2026-05-31T02:33:06.661" v="205" actId="165"/>
          <ac:spMkLst>
            <pc:docMk/>
            <pc:sldMk cId="1667953693" sldId="258"/>
            <ac:spMk id="85" creationId="{6613E284-0524-6690-06E0-8450DC1577DA}"/>
          </ac:spMkLst>
        </pc:spChg>
        <pc:spChg chg="add del mod">
          <ac:chgData name="Clark Zhang" userId="84bf478f48f1e3f5" providerId="LiveId" clId="{14DAE63D-259A-47F8-9880-A07F4D619886}" dt="2026-05-31T02:27:00.202" v="129" actId="21"/>
          <ac:spMkLst>
            <pc:docMk/>
            <pc:sldMk cId="1667953693" sldId="258"/>
            <ac:spMk id="116" creationId="{C4069210-0A6F-02EA-8532-6652E49A8DFC}"/>
          </ac:spMkLst>
        </pc:spChg>
        <pc:spChg chg="add del">
          <ac:chgData name="Clark Zhang" userId="84bf478f48f1e3f5" providerId="LiveId" clId="{14DAE63D-259A-47F8-9880-A07F4D619886}" dt="2026-05-31T02:27:00.202" v="129" actId="21"/>
          <ac:spMkLst>
            <pc:docMk/>
            <pc:sldMk cId="1667953693" sldId="258"/>
            <ac:spMk id="118" creationId="{20CA68BE-2B80-16F2-4AFC-FFD7A0643ABF}"/>
          </ac:spMkLst>
        </pc:spChg>
        <pc:spChg chg="mod topLvl">
          <ac:chgData name="Clark Zhang" userId="84bf478f48f1e3f5" providerId="LiveId" clId="{14DAE63D-259A-47F8-9880-A07F4D619886}" dt="2026-05-31T02:33:06.661" v="205" actId="165"/>
          <ac:spMkLst>
            <pc:docMk/>
            <pc:sldMk cId="1667953693" sldId="258"/>
            <ac:spMk id="130" creationId="{32D35DD3-84C7-894A-7E6C-4FFA6DE4EBFE}"/>
          </ac:spMkLst>
        </pc:spChg>
        <pc:spChg chg="mod">
          <ac:chgData name="Clark Zhang" userId="84bf478f48f1e3f5" providerId="LiveId" clId="{14DAE63D-259A-47F8-9880-A07F4D619886}" dt="2026-05-31T02:28:04.698" v="136" actId="1076"/>
          <ac:spMkLst>
            <pc:docMk/>
            <pc:sldMk cId="1667953693" sldId="258"/>
            <ac:spMk id="144" creationId="{11078D01-2DEC-7A5D-5FCE-3D730500498D}"/>
          </ac:spMkLst>
        </pc:spChg>
        <pc:spChg chg="mod">
          <ac:chgData name="Clark Zhang" userId="84bf478f48f1e3f5" providerId="LiveId" clId="{14DAE63D-259A-47F8-9880-A07F4D619886}" dt="2026-05-31T02:28:04.698" v="136" actId="1076"/>
          <ac:spMkLst>
            <pc:docMk/>
            <pc:sldMk cId="1667953693" sldId="258"/>
            <ac:spMk id="145" creationId="{D58280AC-B78E-9439-2377-0468CB18AAEC}"/>
          </ac:spMkLst>
        </pc:spChg>
        <pc:spChg chg="mod">
          <ac:chgData name="Clark Zhang" userId="84bf478f48f1e3f5" providerId="LiveId" clId="{14DAE63D-259A-47F8-9880-A07F4D619886}" dt="2026-05-31T02:26:36.720" v="122" actId="571"/>
          <ac:spMkLst>
            <pc:docMk/>
            <pc:sldMk cId="1667953693" sldId="258"/>
            <ac:spMk id="148" creationId="{96C10AF9-17C2-DBF9-FA38-19F37F16B5AF}"/>
          </ac:spMkLst>
        </pc:spChg>
        <pc:spChg chg="add del mod ord">
          <ac:chgData name="Clark Zhang" userId="84bf478f48f1e3f5" providerId="LiveId" clId="{14DAE63D-259A-47F8-9880-A07F4D619886}" dt="2026-05-31T02:35:27.569" v="250" actId="478"/>
          <ac:spMkLst>
            <pc:docMk/>
            <pc:sldMk cId="1667953693" sldId="258"/>
            <ac:spMk id="159" creationId="{6582DB21-C8D9-0BE5-2924-1EA8D12C14CF}"/>
          </ac:spMkLst>
        </pc:spChg>
        <pc:spChg chg="add del mod ord">
          <ac:chgData name="Clark Zhang" userId="84bf478f48f1e3f5" providerId="LiveId" clId="{14DAE63D-259A-47F8-9880-A07F4D619886}" dt="2026-05-31T02:35:48.291" v="256" actId="478"/>
          <ac:spMkLst>
            <pc:docMk/>
            <pc:sldMk cId="1667953693" sldId="258"/>
            <ac:spMk id="164" creationId="{758EA63E-0648-E9A7-B3E4-4403FDCEF720}"/>
          </ac:spMkLst>
        </pc:spChg>
        <pc:spChg chg="mod ord modVis">
          <ac:chgData name="Clark Zhang" userId="84bf478f48f1e3f5" providerId="LiveId" clId="{14DAE63D-259A-47F8-9880-A07F4D619886}" dt="2026-05-31T02:35:33.420" v="252" actId="14430"/>
          <ac:spMkLst>
            <pc:docMk/>
            <pc:sldMk cId="1667953693" sldId="258"/>
            <ac:spMk id="168" creationId="{0B02EA9D-C8C5-52D0-31FD-2B215F7EF9C2}"/>
          </ac:spMkLst>
        </pc:spChg>
        <pc:spChg chg="mod">
          <ac:chgData name="Clark Zhang" userId="84bf478f48f1e3f5" providerId="LiveId" clId="{14DAE63D-259A-47F8-9880-A07F4D619886}" dt="2026-05-31T02:33:06.661" v="205" actId="165"/>
          <ac:spMkLst>
            <pc:docMk/>
            <pc:sldMk cId="1667953693" sldId="258"/>
            <ac:spMk id="175" creationId="{9A2C2BC1-877A-34B1-3D34-8F04A453175C}"/>
          </ac:spMkLst>
        </pc:spChg>
        <pc:spChg chg="mod">
          <ac:chgData name="Clark Zhang" userId="84bf478f48f1e3f5" providerId="LiveId" clId="{14DAE63D-259A-47F8-9880-A07F4D619886}" dt="2026-05-31T02:33:06.661" v="205" actId="165"/>
          <ac:spMkLst>
            <pc:docMk/>
            <pc:sldMk cId="1667953693" sldId="258"/>
            <ac:spMk id="181" creationId="{C079544A-8A20-A35F-E31A-CC2ED0A74591}"/>
          </ac:spMkLst>
        </pc:spChg>
        <pc:spChg chg="mod">
          <ac:chgData name="Clark Zhang" userId="84bf478f48f1e3f5" providerId="LiveId" clId="{14DAE63D-259A-47F8-9880-A07F4D619886}" dt="2026-05-31T02:33:06.661" v="205" actId="165"/>
          <ac:spMkLst>
            <pc:docMk/>
            <pc:sldMk cId="1667953693" sldId="258"/>
            <ac:spMk id="191" creationId="{46DC8330-3F28-70F6-72E6-C5652E02E75A}"/>
          </ac:spMkLst>
        </pc:spChg>
        <pc:spChg chg="mod">
          <ac:chgData name="Clark Zhang" userId="84bf478f48f1e3f5" providerId="LiveId" clId="{14DAE63D-259A-47F8-9880-A07F4D619886}" dt="2026-05-31T02:26:50.808" v="125" actId="571"/>
          <ac:spMkLst>
            <pc:docMk/>
            <pc:sldMk cId="1667953693" sldId="258"/>
            <ac:spMk id="207" creationId="{A12BE4DD-BFC9-4A0B-5F67-B229BFA79FE3}"/>
          </ac:spMkLst>
        </pc:spChg>
        <pc:spChg chg="mod">
          <ac:chgData name="Clark Zhang" userId="84bf478f48f1e3f5" providerId="LiveId" clId="{14DAE63D-259A-47F8-9880-A07F4D619886}" dt="2026-05-31T02:33:06.661" v="205" actId="165"/>
          <ac:spMkLst>
            <pc:docMk/>
            <pc:sldMk cId="1667953693" sldId="258"/>
            <ac:spMk id="208" creationId="{44CD5BD3-C45F-A028-8C28-851515C7D96F}"/>
          </ac:spMkLst>
        </pc:spChg>
        <pc:spChg chg="mod">
          <ac:chgData name="Clark Zhang" userId="84bf478f48f1e3f5" providerId="LiveId" clId="{14DAE63D-259A-47F8-9880-A07F4D619886}" dt="2026-05-31T02:26:50.808" v="125" actId="571"/>
          <ac:spMkLst>
            <pc:docMk/>
            <pc:sldMk cId="1667953693" sldId="258"/>
            <ac:spMk id="219" creationId="{AA1D935F-C3AB-002E-2A65-8E1E20763FE1}"/>
          </ac:spMkLst>
        </pc:spChg>
        <pc:spChg chg="mod">
          <ac:chgData name="Clark Zhang" userId="84bf478f48f1e3f5" providerId="LiveId" clId="{14DAE63D-259A-47F8-9880-A07F4D619886}" dt="2026-05-31T02:26:50.808" v="125" actId="571"/>
          <ac:spMkLst>
            <pc:docMk/>
            <pc:sldMk cId="1667953693" sldId="258"/>
            <ac:spMk id="240" creationId="{328E1B62-C76A-D67D-52AB-2C469BE4D486}"/>
          </ac:spMkLst>
        </pc:spChg>
        <pc:spChg chg="mod">
          <ac:chgData name="Clark Zhang" userId="84bf478f48f1e3f5" providerId="LiveId" clId="{14DAE63D-259A-47F8-9880-A07F4D619886}" dt="2026-05-31T02:26:36.720" v="122" actId="571"/>
          <ac:spMkLst>
            <pc:docMk/>
            <pc:sldMk cId="1667953693" sldId="258"/>
            <ac:spMk id="251" creationId="{9B0720E7-FF82-B4A8-C89D-31669E47D47F}"/>
          </ac:spMkLst>
        </pc:spChg>
        <pc:spChg chg="mod">
          <ac:chgData name="Clark Zhang" userId="84bf478f48f1e3f5" providerId="LiveId" clId="{14DAE63D-259A-47F8-9880-A07F4D619886}" dt="2026-05-31T02:26:50.808" v="125" actId="571"/>
          <ac:spMkLst>
            <pc:docMk/>
            <pc:sldMk cId="1667953693" sldId="258"/>
            <ac:spMk id="255" creationId="{177AAE14-EE32-C1D7-A689-4B3FC75ABD31}"/>
          </ac:spMkLst>
        </pc:spChg>
        <pc:spChg chg="mod">
          <ac:chgData name="Clark Zhang" userId="84bf478f48f1e3f5" providerId="LiveId" clId="{14DAE63D-259A-47F8-9880-A07F4D619886}" dt="2026-05-31T02:26:50.808" v="125" actId="571"/>
          <ac:spMkLst>
            <pc:docMk/>
            <pc:sldMk cId="1667953693" sldId="258"/>
            <ac:spMk id="272" creationId="{2B2C3535-9051-58A2-CD54-FC03145CD92E}"/>
          </ac:spMkLst>
        </pc:spChg>
        <pc:spChg chg="mod">
          <ac:chgData name="Clark Zhang" userId="84bf478f48f1e3f5" providerId="LiveId" clId="{14DAE63D-259A-47F8-9880-A07F4D619886}" dt="2026-05-31T02:33:06.661" v="205" actId="165"/>
          <ac:spMkLst>
            <pc:docMk/>
            <pc:sldMk cId="1667953693" sldId="258"/>
            <ac:spMk id="278" creationId="{184CD032-9A58-40D0-DD83-3A1F0F878BBA}"/>
          </ac:spMkLst>
        </pc:spChg>
        <pc:spChg chg="mod">
          <ac:chgData name="Clark Zhang" userId="84bf478f48f1e3f5" providerId="LiveId" clId="{14DAE63D-259A-47F8-9880-A07F4D619886}" dt="2026-05-31T02:26:36.720" v="122" actId="571"/>
          <ac:spMkLst>
            <pc:docMk/>
            <pc:sldMk cId="1667953693" sldId="258"/>
            <ac:spMk id="283" creationId="{9A41AE54-8543-4A17-64D8-533855A7DEF4}"/>
          </ac:spMkLst>
        </pc:spChg>
        <pc:spChg chg="mod">
          <ac:chgData name="Clark Zhang" userId="84bf478f48f1e3f5" providerId="LiveId" clId="{14DAE63D-259A-47F8-9880-A07F4D619886}" dt="2026-05-31T02:33:06.661" v="205" actId="165"/>
          <ac:spMkLst>
            <pc:docMk/>
            <pc:sldMk cId="1667953693" sldId="258"/>
            <ac:spMk id="284" creationId="{BE588680-0F2F-30B6-DF55-4D7DD467C1FF}"/>
          </ac:spMkLst>
        </pc:spChg>
        <pc:spChg chg="mod">
          <ac:chgData name="Clark Zhang" userId="84bf478f48f1e3f5" providerId="LiveId" clId="{14DAE63D-259A-47F8-9880-A07F4D619886}" dt="2026-05-31T02:26:50.808" v="125" actId="571"/>
          <ac:spMkLst>
            <pc:docMk/>
            <pc:sldMk cId="1667953693" sldId="258"/>
            <ac:spMk id="358" creationId="{A8B58833-4DB9-780C-A361-8DF2160CE1EB}"/>
          </ac:spMkLst>
        </pc:spChg>
        <pc:spChg chg="mod">
          <ac:chgData name="Clark Zhang" userId="84bf478f48f1e3f5" providerId="LiveId" clId="{14DAE63D-259A-47F8-9880-A07F4D619886}" dt="2026-05-31T02:26:50.808" v="125" actId="571"/>
          <ac:spMkLst>
            <pc:docMk/>
            <pc:sldMk cId="1667953693" sldId="258"/>
            <ac:spMk id="377" creationId="{433D34FD-5823-DD7B-DFD3-C22A0137217C}"/>
          </ac:spMkLst>
        </pc:spChg>
        <pc:spChg chg="mod">
          <ac:chgData name="Clark Zhang" userId="84bf478f48f1e3f5" providerId="LiveId" clId="{14DAE63D-259A-47F8-9880-A07F4D619886}" dt="2026-05-31T02:26:50.808" v="125" actId="571"/>
          <ac:spMkLst>
            <pc:docMk/>
            <pc:sldMk cId="1667953693" sldId="258"/>
            <ac:spMk id="380" creationId="{067AA28B-13EB-02F7-6BED-3F78E477E080}"/>
          </ac:spMkLst>
        </pc:spChg>
        <pc:spChg chg="mod">
          <ac:chgData name="Clark Zhang" userId="84bf478f48f1e3f5" providerId="LiveId" clId="{14DAE63D-259A-47F8-9880-A07F4D619886}" dt="2026-05-31T02:26:50.808" v="125" actId="571"/>
          <ac:spMkLst>
            <pc:docMk/>
            <pc:sldMk cId="1667953693" sldId="258"/>
            <ac:spMk id="1056" creationId="{CC0FD28E-DA28-FD6E-C940-0B54BE6F08CB}"/>
          </ac:spMkLst>
        </pc:spChg>
        <pc:spChg chg="mod">
          <ac:chgData name="Clark Zhang" userId="84bf478f48f1e3f5" providerId="LiveId" clId="{14DAE63D-259A-47F8-9880-A07F4D619886}" dt="2026-05-31T02:26:50.808" v="125" actId="571"/>
          <ac:spMkLst>
            <pc:docMk/>
            <pc:sldMk cId="1667953693" sldId="258"/>
            <ac:spMk id="1071" creationId="{67E76957-7572-0BDA-F25F-B27ABF110C63}"/>
          </ac:spMkLst>
        </pc:spChg>
        <pc:spChg chg="add mod ord">
          <ac:chgData name="Clark Zhang" userId="84bf478f48f1e3f5" providerId="LiveId" clId="{14DAE63D-259A-47F8-9880-A07F4D619886}" dt="2026-05-31T02:35:01.313" v="248" actId="167"/>
          <ac:spMkLst>
            <pc:docMk/>
            <pc:sldMk cId="1667953693" sldId="258"/>
            <ac:spMk id="1089" creationId="{20CA68BE-2B80-16F2-4AFC-FFD7A0643ABF}"/>
          </ac:spMkLst>
        </pc:spChg>
        <pc:spChg chg="add mod">
          <ac:chgData name="Clark Zhang" userId="84bf478f48f1e3f5" providerId="LiveId" clId="{14DAE63D-259A-47F8-9880-A07F4D619886}" dt="2026-05-31T02:27:11.589" v="132" actId="164"/>
          <ac:spMkLst>
            <pc:docMk/>
            <pc:sldMk cId="1667953693" sldId="258"/>
            <ac:spMk id="1091" creationId="{C4069210-0A6F-02EA-8532-6652E49A8DFC}"/>
          </ac:spMkLst>
        </pc:spChg>
        <pc:spChg chg="add mod">
          <ac:chgData name="Clark Zhang" userId="84bf478f48f1e3f5" providerId="LiveId" clId="{14DAE63D-259A-47F8-9880-A07F4D619886}" dt="2026-05-31T02:32:50.098" v="189" actId="1076"/>
          <ac:spMkLst>
            <pc:docMk/>
            <pc:sldMk cId="1667953693" sldId="258"/>
            <ac:spMk id="1099" creationId="{B35FDABB-8536-2845-6187-E4EA8D7EC659}"/>
          </ac:spMkLst>
        </pc:spChg>
        <pc:spChg chg="add mod">
          <ac:chgData name="Clark Zhang" userId="84bf478f48f1e3f5" providerId="LiveId" clId="{14DAE63D-259A-47F8-9880-A07F4D619886}" dt="2026-05-31T02:34:35.885" v="243" actId="1076"/>
          <ac:spMkLst>
            <pc:docMk/>
            <pc:sldMk cId="1667953693" sldId="258"/>
            <ac:spMk id="1101" creationId="{64337544-9B22-18AA-57DC-7D74CC98617F}"/>
          </ac:spMkLst>
        </pc:spChg>
        <pc:spChg chg="add mod">
          <ac:chgData name="Clark Zhang" userId="84bf478f48f1e3f5" providerId="LiveId" clId="{14DAE63D-259A-47F8-9880-A07F4D619886}" dt="2026-05-31T02:36:42.728" v="262" actId="1076"/>
          <ac:spMkLst>
            <pc:docMk/>
            <pc:sldMk cId="1667953693" sldId="258"/>
            <ac:spMk id="1103" creationId="{BA00D7E6-8B07-5A96-768A-44697A0D53D3}"/>
          </ac:spMkLst>
        </pc:spChg>
        <pc:spChg chg="add mod">
          <ac:chgData name="Clark Zhang" userId="84bf478f48f1e3f5" providerId="LiveId" clId="{14DAE63D-259A-47F8-9880-A07F4D619886}" dt="2026-05-31T02:36:47.320" v="263" actId="1076"/>
          <ac:spMkLst>
            <pc:docMk/>
            <pc:sldMk cId="1667953693" sldId="258"/>
            <ac:spMk id="1104" creationId="{9E10AA98-7DCE-3BB7-2790-8673E8BA4460}"/>
          </ac:spMkLst>
        </pc:spChg>
        <pc:grpChg chg="add del">
          <ac:chgData name="Clark Zhang" userId="84bf478f48f1e3f5" providerId="LiveId" clId="{14DAE63D-259A-47F8-9880-A07F4D619886}" dt="2026-05-31T02:27:00.202" v="129" actId="21"/>
          <ac:grpSpMkLst>
            <pc:docMk/>
            <pc:sldMk cId="1667953693" sldId="258"/>
            <ac:grpSpMk id="139" creationId="{AAA07A6A-7FE1-47D6-5C69-961E094B3424}"/>
          </ac:grpSpMkLst>
        </pc:grpChg>
        <pc:grpChg chg="add del">
          <ac:chgData name="Clark Zhang" userId="84bf478f48f1e3f5" providerId="LiveId" clId="{14DAE63D-259A-47F8-9880-A07F4D619886}" dt="2026-05-31T02:35:27.569" v="250" actId="478"/>
          <ac:grpSpMkLst>
            <pc:docMk/>
            <pc:sldMk cId="1667953693" sldId="258"/>
            <ac:grpSpMk id="158" creationId="{5A83CA47-2F00-E0D0-21C7-561C2BAD1FCC}"/>
          </ac:grpSpMkLst>
        </pc:grpChg>
        <pc:grpChg chg="add mod">
          <ac:chgData name="Clark Zhang" userId="84bf478f48f1e3f5" providerId="LiveId" clId="{14DAE63D-259A-47F8-9880-A07F4D619886}" dt="2026-05-31T02:37:00.644" v="264" actId="1076"/>
          <ac:grpSpMkLst>
            <pc:docMk/>
            <pc:sldMk cId="1667953693" sldId="258"/>
            <ac:grpSpMk id="1093" creationId="{12A28B15-F16F-48DE-DB2B-81A0C1CBF345}"/>
          </ac:grpSpMkLst>
        </pc:grpChg>
        <pc:picChg chg="mod modVis">
          <ac:chgData name="Clark Zhang" userId="84bf478f48f1e3f5" providerId="LiveId" clId="{14DAE63D-259A-47F8-9880-A07F4D619886}" dt="2026-05-31T02:34:25.183" v="232" actId="33934"/>
          <ac:picMkLst>
            <pc:docMk/>
            <pc:sldMk cId="1667953693" sldId="258"/>
            <ac:picMk id="15" creationId="{3E14DF7C-8AAE-3DBF-A735-2FE6B54F1C04}"/>
          </ac:picMkLst>
        </pc:picChg>
        <pc:picChg chg="add del mod">
          <ac:chgData name="Clark Zhang" userId="84bf478f48f1e3f5" providerId="LiveId" clId="{14DAE63D-259A-47F8-9880-A07F4D619886}" dt="2026-05-31T02:22:04.540" v="1" actId="21"/>
          <ac:picMkLst>
            <pc:docMk/>
            <pc:sldMk cId="1667953693" sldId="258"/>
            <ac:picMk id="33" creationId="{20B7E8AC-D5A3-9424-ECF1-0CB3F0A1B644}"/>
          </ac:picMkLst>
        </pc:picChg>
        <pc:picChg chg="add del mod">
          <ac:chgData name="Clark Zhang" userId="84bf478f48f1e3f5" providerId="LiveId" clId="{14DAE63D-259A-47F8-9880-A07F4D619886}" dt="2026-05-31T02:24:13.652" v="6" actId="21"/>
          <ac:picMkLst>
            <pc:docMk/>
            <pc:sldMk cId="1667953693" sldId="258"/>
            <ac:picMk id="36" creationId="{C67C2AC3-123B-26B4-ABA8-A656031AF28E}"/>
          </ac:picMkLst>
        </pc:picChg>
        <pc:picChg chg="add mod">
          <ac:chgData name="Clark Zhang" userId="84bf478f48f1e3f5" providerId="LiveId" clId="{14DAE63D-259A-47F8-9880-A07F4D619886}" dt="2026-05-31T02:28:08.937" v="137" actId="1076"/>
          <ac:picMkLst>
            <pc:docMk/>
            <pc:sldMk cId="1667953693" sldId="258"/>
            <ac:picMk id="39" creationId="{C67C2AC3-123B-26B4-ABA8-A656031AF28E}"/>
          </ac:picMkLst>
        </pc:picChg>
        <pc:picChg chg="add del">
          <ac:chgData name="Clark Zhang" userId="84bf478f48f1e3f5" providerId="LiveId" clId="{14DAE63D-259A-47F8-9880-A07F4D619886}" dt="2026-05-31T02:27:00.202" v="129" actId="21"/>
          <ac:picMkLst>
            <pc:docMk/>
            <pc:sldMk cId="1667953693" sldId="258"/>
            <ac:picMk id="96" creationId="{84B81F8D-CAC1-7505-DA38-B576D57D48BD}"/>
          </ac:picMkLst>
        </pc:picChg>
        <pc:picChg chg="del">
          <ac:chgData name="Clark Zhang" userId="84bf478f48f1e3f5" providerId="LiveId" clId="{14DAE63D-259A-47F8-9880-A07F4D619886}" dt="2026-05-31T02:24:25.300" v="9" actId="478"/>
          <ac:picMkLst>
            <pc:docMk/>
            <pc:sldMk cId="1667953693" sldId="258"/>
            <ac:picMk id="97" creationId="{77C5D0B0-35A2-8126-B27E-5F6BC48201B9}"/>
          </ac:picMkLst>
        </pc:picChg>
        <pc:picChg chg="mod modVis">
          <ac:chgData name="Clark Zhang" userId="84bf478f48f1e3f5" providerId="LiveId" clId="{14DAE63D-259A-47F8-9880-A07F4D619886}" dt="2026-05-31T02:34:25.183" v="232" actId="33934"/>
          <ac:picMkLst>
            <pc:docMk/>
            <pc:sldMk cId="1667953693" sldId="258"/>
            <ac:picMk id="133" creationId="{CC9D6038-74BD-8396-3C7C-BAABC63718B1}"/>
          </ac:picMkLst>
        </pc:picChg>
        <pc:picChg chg="mod modVis">
          <ac:chgData name="Clark Zhang" userId="84bf478f48f1e3f5" providerId="LiveId" clId="{14DAE63D-259A-47F8-9880-A07F4D619886}" dt="2026-05-31T02:34:25.183" v="232" actId="33934"/>
          <ac:picMkLst>
            <pc:docMk/>
            <pc:sldMk cId="1667953693" sldId="258"/>
            <ac:picMk id="134" creationId="{D2DD82CD-6735-C30F-C86C-5AFBA16AB7C3}"/>
          </ac:picMkLst>
        </pc:picChg>
        <pc:picChg chg="mod modVis">
          <ac:chgData name="Clark Zhang" userId="84bf478f48f1e3f5" providerId="LiveId" clId="{14DAE63D-259A-47F8-9880-A07F4D619886}" dt="2026-05-31T02:34:25.183" v="232" actId="33934"/>
          <ac:picMkLst>
            <pc:docMk/>
            <pc:sldMk cId="1667953693" sldId="258"/>
            <ac:picMk id="167" creationId="{C19B50AA-DF35-AC9E-FE78-AF6F73AAB197}"/>
          </ac:picMkLst>
        </pc:picChg>
        <pc:picChg chg="mod modVis">
          <ac:chgData name="Clark Zhang" userId="84bf478f48f1e3f5" providerId="LiveId" clId="{14DAE63D-259A-47F8-9880-A07F4D619886}" dt="2026-05-31T02:34:25.183" v="232" actId="33934"/>
          <ac:picMkLst>
            <pc:docMk/>
            <pc:sldMk cId="1667953693" sldId="258"/>
            <ac:picMk id="332" creationId="{AA66BE0C-F17C-15B8-DC02-92FD854A45BC}"/>
          </ac:picMkLst>
        </pc:picChg>
        <pc:picChg chg="mod modVis">
          <ac:chgData name="Clark Zhang" userId="84bf478f48f1e3f5" providerId="LiveId" clId="{14DAE63D-259A-47F8-9880-A07F4D619886}" dt="2026-05-31T02:34:25.183" v="232" actId="33934"/>
          <ac:picMkLst>
            <pc:docMk/>
            <pc:sldMk cId="1667953693" sldId="258"/>
            <ac:picMk id="1032" creationId="{2C5C9742-AFD5-F2EA-4929-E0102B2685FF}"/>
          </ac:picMkLst>
        </pc:picChg>
        <pc:picChg chg="add mod">
          <ac:chgData name="Clark Zhang" userId="84bf478f48f1e3f5" providerId="LiveId" clId="{14DAE63D-259A-47F8-9880-A07F4D619886}" dt="2026-05-31T02:26:56.198" v="127" actId="571"/>
          <ac:picMkLst>
            <pc:docMk/>
            <pc:sldMk cId="1667953693" sldId="258"/>
            <ac:picMk id="1088" creationId="{BCCA2F6F-393B-5FFD-1548-1196F8C4AEBB}"/>
          </ac:picMkLst>
        </pc:picChg>
        <pc:picChg chg="add mod">
          <ac:chgData name="Clark Zhang" userId="84bf478f48f1e3f5" providerId="LiveId" clId="{14DAE63D-259A-47F8-9880-A07F4D619886}" dt="2026-05-31T02:27:11.589" v="132" actId="164"/>
          <ac:picMkLst>
            <pc:docMk/>
            <pc:sldMk cId="1667953693" sldId="258"/>
            <ac:picMk id="1090" creationId="{84B81F8D-CAC1-7505-DA38-B576D57D48BD}"/>
          </ac:picMkLst>
        </pc:picChg>
        <pc:cxnChg chg="mod">
          <ac:chgData name="Clark Zhang" userId="84bf478f48f1e3f5" providerId="LiveId" clId="{14DAE63D-259A-47F8-9880-A07F4D619886}" dt="2026-05-31T02:34:28.639" v="239" actId="14100"/>
          <ac:cxnSpMkLst>
            <pc:docMk/>
            <pc:sldMk cId="1667953693" sldId="258"/>
            <ac:cxnSpMk id="127" creationId="{EDC3327C-060A-AD22-1C93-65B08A7FEC1F}"/>
          </ac:cxnSpMkLst>
        </pc:cxnChg>
        <pc:cxnChg chg="del mod">
          <ac:chgData name="Clark Zhang" userId="84bf478f48f1e3f5" providerId="LiveId" clId="{14DAE63D-259A-47F8-9880-A07F4D619886}" dt="2026-05-31T02:27:00.202" v="129" actId="21"/>
          <ac:cxnSpMkLst>
            <pc:docMk/>
            <pc:sldMk cId="1667953693" sldId="258"/>
            <ac:cxnSpMk id="140" creationId="{B5597E7C-BD48-D502-EA08-419414D6B9D0}"/>
          </ac:cxnSpMkLst>
        </pc:cxnChg>
        <pc:cxnChg chg="mod">
          <ac:chgData name="Clark Zhang" userId="84bf478f48f1e3f5" providerId="LiveId" clId="{14DAE63D-259A-47F8-9880-A07F4D619886}" dt="2026-05-31T02:28:04.698" v="136" actId="1076"/>
          <ac:cxnSpMkLst>
            <pc:docMk/>
            <pc:sldMk cId="1667953693" sldId="258"/>
            <ac:cxnSpMk id="150" creationId="{B06AB55C-3A73-E9DC-5384-7129A192B89E}"/>
          </ac:cxnSpMkLst>
        </pc:cxnChg>
        <pc:cxnChg chg="add del mod">
          <ac:chgData name="Clark Zhang" userId="84bf478f48f1e3f5" providerId="LiveId" clId="{14DAE63D-259A-47F8-9880-A07F4D619886}" dt="2026-05-31T02:35:29.560" v="251" actId="478"/>
          <ac:cxnSpMkLst>
            <pc:docMk/>
            <pc:sldMk cId="1667953693" sldId="258"/>
            <ac:cxnSpMk id="165" creationId="{1D8AD421-6C3B-AFDF-621D-8A22692B6B66}"/>
          </ac:cxnSpMkLst>
        </pc:cxnChg>
        <pc:cxnChg chg="add mod">
          <ac:chgData name="Clark Zhang" userId="84bf478f48f1e3f5" providerId="LiveId" clId="{14DAE63D-259A-47F8-9880-A07F4D619886}" dt="2026-05-31T02:27:11.589" v="132" actId="164"/>
          <ac:cxnSpMkLst>
            <pc:docMk/>
            <pc:sldMk cId="1667953693" sldId="258"/>
            <ac:cxnSpMk id="1092" creationId="{B5597E7C-BD48-D502-EA08-419414D6B9D0}"/>
          </ac:cxnSpMkLst>
        </pc:cxnChg>
        <pc:cxnChg chg="add mod">
          <ac:chgData name="Clark Zhang" userId="84bf478f48f1e3f5" providerId="LiveId" clId="{14DAE63D-259A-47F8-9880-A07F4D619886}" dt="2026-05-31T02:36:42.728" v="262" actId="1076"/>
          <ac:cxnSpMkLst>
            <pc:docMk/>
            <pc:sldMk cId="1667953693" sldId="258"/>
            <ac:cxnSpMk id="1105" creationId="{67059380-B2B1-0C1C-BC12-3D9DA174137B}"/>
          </ac:cxnSpMkLst>
        </pc:cxnChg>
      </pc:sldChg>
      <pc:sldChg chg="add">
        <pc:chgData name="Clark Zhang" userId="84bf478f48f1e3f5" providerId="LiveId" clId="{14DAE63D-259A-47F8-9880-A07F4D619886}" dt="2026-05-31T02:24:15.598" v="7" actId="2890"/>
        <pc:sldMkLst>
          <pc:docMk/>
          <pc:sldMk cId="2864471988" sldId="259"/>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84bf478f48f1e3f5/Desktop/Documents/Uni/hein%20lab/HPLC%20experiment%20caffein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84bf478f48f1e3f5/Desktop/Documents/Uni/hein%20lab/Calibration%20Curve%20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84bf478f48f1e3f5/Desktop/Documents/Uni/hein%20lab/HPLC%20experiment%20caffein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84bf478f48f1e3f5/Desktop/Documents/Uni/hein%20lab/Calibration%20Curve%200.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noFill/>
              <a:round/>
            </a:ln>
            <a:effectLst/>
          </c:spPr>
          <c:marker>
            <c:symbol val="circle"/>
            <c:size val="5"/>
            <c:spPr>
              <a:solidFill>
                <a:srgbClr val="002060"/>
              </a:solidFill>
              <a:ln w="88900">
                <a:solidFill>
                  <a:srgbClr val="002060"/>
                </a:solidFill>
              </a:ln>
              <a:effectLst/>
            </c:spPr>
          </c:marker>
          <c:trendline>
            <c:spPr>
              <a:ln w="19050" cap="rnd">
                <a:solidFill>
                  <a:srgbClr val="002060"/>
                </a:solidFill>
                <a:prstDash val="sysDot"/>
              </a:ln>
              <a:effectLst/>
            </c:spPr>
            <c:trendlineType val="linear"/>
            <c:intercept val="0"/>
            <c:dispRSqr val="1"/>
            <c:dispEq val="1"/>
            <c:trendlineLbl>
              <c:layout>
                <c:manualLayout>
                  <c:x val="5.5725322467098569E-2"/>
                  <c:y val="0.20625257007379194"/>
                </c:manualLayout>
              </c:layout>
              <c:numFmt formatCode="General" sourceLinked="0"/>
              <c:spPr>
                <a:noFill/>
                <a:ln>
                  <a:noFill/>
                </a:ln>
                <a:effectLst/>
              </c:spPr>
              <c:txPr>
                <a:bodyPr rot="0" spcFirstLastPara="1" vertOverflow="ellipsis" vert="horz" wrap="square" anchor="ctr" anchorCtr="1"/>
                <a:lstStyle/>
                <a:p>
                  <a:pPr>
                    <a:defRPr sz="2400" b="0" i="0" u="none" strike="noStrike" kern="1200" baseline="0">
                      <a:solidFill>
                        <a:srgbClr val="002060"/>
                      </a:solidFill>
                      <a:latin typeface="Aptos" panose="020B0004020202020204" pitchFamily="34" charset="0"/>
                      <a:ea typeface="+mn-ea"/>
                      <a:cs typeface="+mn-cs"/>
                    </a:defRPr>
                  </a:pPr>
                  <a:endParaRPr lang="en-US"/>
                </a:p>
              </c:txPr>
            </c:trendlineLbl>
          </c:trendline>
          <c:xVal>
            <c:numRef>
              <c:f>Sheet1!$D$2:$D$17</c:f>
              <c:numCache>
                <c:formatCode>General</c:formatCode>
                <c:ptCount val="16"/>
                <c:pt idx="0">
                  <c:v>0</c:v>
                </c:pt>
                <c:pt idx="1">
                  <c:v>7.1298381044280044</c:v>
                </c:pt>
                <c:pt idx="2">
                  <c:v>3.2742491383554899</c:v>
                </c:pt>
                <c:pt idx="3">
                  <c:v>3.8085797676083484</c:v>
                </c:pt>
                <c:pt idx="4">
                  <c:v>5.9160411453989443</c:v>
                </c:pt>
                <c:pt idx="5">
                  <c:v>7.9556127012522371</c:v>
                </c:pt>
                <c:pt idx="6">
                  <c:v>7.3727532336636994</c:v>
                </c:pt>
                <c:pt idx="7">
                  <c:v>10.427492274236007</c:v>
                </c:pt>
                <c:pt idx="8">
                  <c:v>10.443030719853278</c:v>
                </c:pt>
                <c:pt idx="9">
                  <c:v>9.608715755403999</c:v>
                </c:pt>
                <c:pt idx="10">
                  <c:v>13.200746268656717</c:v>
                </c:pt>
                <c:pt idx="11">
                  <c:v>14.060133239831698</c:v>
                </c:pt>
                <c:pt idx="12">
                  <c:v>14.925284980213808</c:v>
                </c:pt>
                <c:pt idx="13">
                  <c:v>16.63677130044843</c:v>
                </c:pt>
                <c:pt idx="14">
                  <c:v>18.408028759736375</c:v>
                </c:pt>
                <c:pt idx="15">
                  <c:v>17.472063854047892</c:v>
                </c:pt>
              </c:numCache>
            </c:numRef>
          </c:xVal>
          <c:yVal>
            <c:numRef>
              <c:f>Sheet1!$G$2:$G$17</c:f>
              <c:numCache>
                <c:formatCode>0.00</c:formatCode>
                <c:ptCount val="16"/>
                <c:pt idx="0">
                  <c:v>0</c:v>
                </c:pt>
                <c:pt idx="1">
                  <c:v>1.4010100000000001</c:v>
                </c:pt>
                <c:pt idx="2">
                  <c:v>0.81237999999999999</c:v>
                </c:pt>
                <c:pt idx="3">
                  <c:v>0.75366999999999995</c:v>
                </c:pt>
                <c:pt idx="4">
                  <c:v>1.17395</c:v>
                </c:pt>
                <c:pt idx="5">
                  <c:v>1.5503699999999998</c:v>
                </c:pt>
                <c:pt idx="6">
                  <c:v>1.4546300000000001</c:v>
                </c:pt>
                <c:pt idx="7">
                  <c:v>1.95753</c:v>
                </c:pt>
                <c:pt idx="8">
                  <c:v>2.05057</c:v>
                </c:pt>
                <c:pt idx="9">
                  <c:v>1.94509</c:v>
                </c:pt>
                <c:pt idx="10">
                  <c:v>2.5694400000000002</c:v>
                </c:pt>
                <c:pt idx="11">
                  <c:v>2.8387699999999998</c:v>
                </c:pt>
                <c:pt idx="12">
                  <c:v>3.0445300000000004</c:v>
                </c:pt>
                <c:pt idx="13">
                  <c:v>3.3017399999999997</c:v>
                </c:pt>
                <c:pt idx="14">
                  <c:v>3.70994</c:v>
                </c:pt>
                <c:pt idx="15">
                  <c:v>3.6515399999999998</c:v>
                </c:pt>
              </c:numCache>
            </c:numRef>
          </c:yVal>
          <c:smooth val="0"/>
          <c:extLst>
            <c:ext xmlns:c16="http://schemas.microsoft.com/office/drawing/2014/chart" uri="{C3380CC4-5D6E-409C-BE32-E72D297353CC}">
              <c16:uniqueId val="{00000001-5368-E74C-B1F3-135DF70537F0}"/>
            </c:ext>
          </c:extLst>
        </c:ser>
        <c:dLbls>
          <c:showLegendKey val="0"/>
          <c:showVal val="0"/>
          <c:showCatName val="0"/>
          <c:showSerName val="0"/>
          <c:showPercent val="0"/>
          <c:showBubbleSize val="0"/>
        </c:dLbls>
        <c:axId val="810652544"/>
        <c:axId val="810655424"/>
      </c:scatterChart>
      <c:valAx>
        <c:axId val="810652544"/>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r>
                  <a:rPr lang="en-US" b="1" dirty="0"/>
                  <a:t>Analyte Concentration (mg/mL)</a:t>
                </a:r>
              </a:p>
            </c:rich>
          </c:tx>
          <c:layout>
            <c:manualLayout>
              <c:xMode val="edge"/>
              <c:yMode val="edge"/>
              <c:x val="0.32122517834168918"/>
              <c:y val="0.9105152680459504"/>
            </c:manualLayout>
          </c:layout>
          <c:overlay val="0"/>
          <c:spPr>
            <a:noFill/>
            <a:ln>
              <a:noFill/>
            </a:ln>
            <a:effectLst/>
          </c:spPr>
          <c:txPr>
            <a:bodyPr rot="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endParaRPr lang="en-US"/>
            </a:p>
          </c:txPr>
        </c:title>
        <c:numFmt formatCode="General" sourceLinked="1"/>
        <c:majorTickMark val="none"/>
        <c:minorTickMark val="none"/>
        <c:tickLblPos val="nextTo"/>
        <c:spPr>
          <a:noFill/>
          <a:ln w="38100" cap="flat" cmpd="sng" algn="ctr">
            <a:solidFill>
              <a:srgbClr val="002060"/>
            </a:solidFill>
            <a:round/>
          </a:ln>
          <a:effectLst/>
        </c:spPr>
        <c:txPr>
          <a:bodyPr rot="-60000000" spcFirstLastPara="1" vertOverflow="ellipsis" vert="horz" wrap="square" anchor="ctr" anchorCtr="1"/>
          <a:lstStyle/>
          <a:p>
            <a:pPr>
              <a:defRPr sz="1800" b="0" i="0" u="none" strike="noStrike" kern="1200" baseline="0">
                <a:solidFill>
                  <a:srgbClr val="002060"/>
                </a:solidFill>
                <a:latin typeface="Aptos" panose="020B0004020202020204" pitchFamily="34" charset="0"/>
                <a:ea typeface="+mn-ea"/>
                <a:cs typeface="+mn-cs"/>
              </a:defRPr>
            </a:pPr>
            <a:endParaRPr lang="en-US"/>
          </a:p>
        </c:txPr>
        <c:crossAx val="810655424"/>
        <c:crosses val="autoZero"/>
        <c:crossBetween val="midCat"/>
      </c:valAx>
      <c:valAx>
        <c:axId val="810655424"/>
        <c:scaling>
          <c:orientation val="minMax"/>
        </c:scaling>
        <c:delete val="0"/>
        <c:axPos val="l"/>
        <c:majorGridlines>
          <c:spPr>
            <a:ln w="9525" cap="flat" cmpd="sng" algn="ctr">
              <a:noFill/>
              <a:round/>
            </a:ln>
            <a:effectLst>
              <a:glow rad="127000">
                <a:schemeClr val="bg1"/>
              </a:glow>
              <a:outerShdw blurRad="50800" dist="50800" dir="5400000" algn="ctr" rotWithShape="0">
                <a:schemeClr val="bg1"/>
              </a:outerShdw>
            </a:effectLst>
          </c:spPr>
        </c:majorGridlines>
        <c:title>
          <c:tx>
            <c:rich>
              <a:bodyPr rot="-540000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r>
                  <a:rPr lang="en-CA" b="1"/>
                  <a:t>HPLC peak area units (AUs)</a:t>
                </a:r>
              </a:p>
            </c:rich>
          </c:tx>
          <c:layout>
            <c:manualLayout>
              <c:xMode val="edge"/>
              <c:yMode val="edge"/>
              <c:x val="2.8457745757591905E-4"/>
              <c:y val="0.12528611479743273"/>
            </c:manualLayout>
          </c:layout>
          <c:overlay val="0"/>
          <c:spPr>
            <a:noFill/>
            <a:ln>
              <a:noFill/>
            </a:ln>
            <a:effectLst/>
          </c:spPr>
          <c:txPr>
            <a:bodyPr rot="-540000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endParaRPr lang="en-US"/>
            </a:p>
          </c:txPr>
        </c:title>
        <c:numFmt formatCode="0.0" sourceLinked="0"/>
        <c:majorTickMark val="none"/>
        <c:minorTickMark val="none"/>
        <c:tickLblPos val="nextTo"/>
        <c:spPr>
          <a:noFill/>
          <a:ln w="38100" cap="flat" cmpd="sng" algn="ctr">
            <a:solidFill>
              <a:srgbClr val="002060"/>
            </a:solidFill>
            <a:round/>
          </a:ln>
          <a:effectLst/>
        </c:spPr>
        <c:txPr>
          <a:bodyPr rot="-60000000" spcFirstLastPara="1" vertOverflow="ellipsis" vert="horz" wrap="square" anchor="ctr" anchorCtr="1"/>
          <a:lstStyle/>
          <a:p>
            <a:pPr>
              <a:defRPr sz="1800" b="0" i="0" u="none" strike="noStrike" kern="1200" baseline="0">
                <a:solidFill>
                  <a:srgbClr val="002060"/>
                </a:solidFill>
                <a:latin typeface="Aptos" panose="020B0004020202020204" pitchFamily="34" charset="0"/>
                <a:ea typeface="+mn-ea"/>
                <a:cs typeface="+mn-cs"/>
              </a:defRPr>
            </a:pPr>
            <a:endParaRPr lang="en-US"/>
          </a:p>
        </c:txPr>
        <c:crossAx val="810652544"/>
        <c:crosses val="autoZero"/>
        <c:crossBetween val="midCat"/>
      </c:valAx>
      <c:spPr>
        <a:noFill/>
        <a:ln>
          <a:noFill/>
        </a:ln>
        <a:effectLst/>
      </c:spPr>
    </c:plotArea>
    <c:plotVisOnly val="1"/>
    <c:dispBlanksAs val="gap"/>
    <c:showDLblsOverMax val="0"/>
  </c:chart>
  <c:spPr>
    <a:noFill/>
    <a:ln>
      <a:noFill/>
    </a:ln>
    <a:effectLst/>
  </c:spPr>
  <c:txPr>
    <a:bodyPr/>
    <a:lstStyle/>
    <a:p>
      <a:pPr>
        <a:defRPr sz="2400">
          <a:solidFill>
            <a:srgbClr val="002060"/>
          </a:solidFill>
          <a:latin typeface="Aptos" panose="020B00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59421039570357"/>
          <c:y val="0.10988510306176665"/>
          <c:w val="0.84585937496907859"/>
          <c:h val="0.74707927586294587"/>
        </c:manualLayout>
      </c:layout>
      <c:scatterChart>
        <c:scatterStyle val="lineMarker"/>
        <c:varyColors val="0"/>
        <c:ser>
          <c:idx val="0"/>
          <c:order val="0"/>
          <c:spPr>
            <a:ln w="38100" cap="rnd">
              <a:noFill/>
              <a:round/>
            </a:ln>
            <a:effectLst/>
          </c:spPr>
          <c:marker>
            <c:symbol val="circle"/>
            <c:size val="5"/>
            <c:spPr>
              <a:solidFill>
                <a:schemeClr val="accent1"/>
              </a:solidFill>
              <a:ln w="88900">
                <a:solidFill>
                  <a:srgbClr val="002060"/>
                </a:solidFill>
              </a:ln>
              <a:effectLst/>
            </c:spPr>
          </c:marker>
          <c:trendline>
            <c:spPr>
              <a:ln w="19050" cap="rnd">
                <a:solidFill>
                  <a:srgbClr val="002060"/>
                </a:solidFill>
                <a:prstDash val="sysDot"/>
              </a:ln>
              <a:effectLst/>
            </c:spPr>
            <c:trendlineType val="linear"/>
            <c:intercept val="0"/>
            <c:dispRSqr val="1"/>
            <c:dispEq val="1"/>
            <c:trendlineLbl>
              <c:layout>
                <c:manualLayout>
                  <c:x val="5.1098615920693424E-2"/>
                  <c:y val="0.23874080132153974"/>
                </c:manualLayout>
              </c:layout>
              <c:tx>
                <c:rich>
                  <a:bodyPr rot="0" spcFirstLastPara="1" vertOverflow="ellipsis" vert="horz" wrap="square" anchor="ctr" anchorCtr="1"/>
                  <a:lstStyle/>
                  <a:p>
                    <a:pPr>
                      <a:defRPr sz="2400" b="0" i="0" u="none" strike="noStrike" kern="1200" baseline="0">
                        <a:solidFill>
                          <a:srgbClr val="002060"/>
                        </a:solidFill>
                        <a:latin typeface="Aptos" panose="020B0004020202020204" pitchFamily="34" charset="0"/>
                        <a:ea typeface="+mn-ea"/>
                        <a:cs typeface="+mn-cs"/>
                      </a:defRPr>
                    </a:pPr>
                    <a:r>
                      <a:rPr lang="en-US" sz="2400" dirty="0"/>
                      <a:t>y = 0.83655x</a:t>
                    </a:r>
                    <a:br>
                      <a:rPr lang="en-US" sz="2400" dirty="0"/>
                    </a:br>
                    <a:r>
                      <a:rPr lang="en-US" sz="2400" dirty="0"/>
                      <a:t>R² = 0.9992</a:t>
                    </a:r>
                  </a:p>
                </c:rich>
              </c:tx>
              <c:numFmt formatCode="General" sourceLinked="0"/>
              <c:spPr>
                <a:noFill/>
                <a:ln>
                  <a:noFill/>
                </a:ln>
                <a:effectLst/>
              </c:spPr>
              <c:txPr>
                <a:bodyPr rot="0" spcFirstLastPara="1" vertOverflow="ellipsis" vert="horz" wrap="square" anchor="ctr" anchorCtr="1"/>
                <a:lstStyle/>
                <a:p>
                  <a:pPr>
                    <a:defRPr sz="2400" b="0" i="0" u="none" strike="noStrike" kern="1200" baseline="0">
                      <a:solidFill>
                        <a:srgbClr val="002060"/>
                      </a:solidFill>
                      <a:latin typeface="Aptos" panose="020B0004020202020204" pitchFamily="34" charset="0"/>
                      <a:ea typeface="+mn-ea"/>
                      <a:cs typeface="+mn-cs"/>
                    </a:defRPr>
                  </a:pPr>
                  <a:endParaRPr lang="en-US"/>
                </a:p>
              </c:txPr>
            </c:trendlineLbl>
          </c:trendline>
          <c:xVal>
            <c:numRef>
              <c:f>'Calibration Curve 0.xlsx'!$J$2:$J$100</c:f>
              <c:numCache>
                <c:formatCode>General</c:formatCode>
                <c:ptCount val="99"/>
                <c:pt idx="0">
                  <c:v>0</c:v>
                </c:pt>
                <c:pt idx="1">
                  <c:v>0.3974652401572058</c:v>
                </c:pt>
                <c:pt idx="2">
                  <c:v>0.30842652646231355</c:v>
                </c:pt>
                <c:pt idx="3">
                  <c:v>0.25364818297972019</c:v>
                </c:pt>
                <c:pt idx="4">
                  <c:v>0.21908936855126449</c:v>
                </c:pt>
                <c:pt idx="5">
                  <c:v>0.19490053720633824</c:v>
                </c:pt>
                <c:pt idx="6">
                  <c:v>0.17177626347154459</c:v>
                </c:pt>
                <c:pt idx="7">
                  <c:v>0.1520710487076935</c:v>
                </c:pt>
                <c:pt idx="8">
                  <c:v>0.13001493339887957</c:v>
                </c:pt>
                <c:pt idx="9">
                  <c:v>0.12423983616904498</c:v>
                </c:pt>
                <c:pt idx="10">
                  <c:v>1.2954171447383274</c:v>
                </c:pt>
                <c:pt idx="11">
                  <c:v>0.91173250328070532</c:v>
                </c:pt>
                <c:pt idx="12">
                  <c:v>0.71412026572940079</c:v>
                </c:pt>
                <c:pt idx="13">
                  <c:v>0.56687595501996313</c:v>
                </c:pt>
                <c:pt idx="14">
                  <c:v>0.46441700562084742</c:v>
                </c:pt>
                <c:pt idx="15">
                  <c:v>0.37179306074309004</c:v>
                </c:pt>
                <c:pt idx="16">
                  <c:v>0.52618416967649473</c:v>
                </c:pt>
                <c:pt idx="17">
                  <c:v>0.72736601507756293</c:v>
                </c:pt>
                <c:pt idx="18">
                  <c:v>0.64642143951412223</c:v>
                </c:pt>
                <c:pt idx="19">
                  <c:v>0.55321223214653548</c:v>
                </c:pt>
                <c:pt idx="20">
                  <c:v>0.43739052203366502</c:v>
                </c:pt>
                <c:pt idx="21">
                  <c:v>0.28842754921415309</c:v>
                </c:pt>
                <c:pt idx="22">
                  <c:v>8.8733818223640556E-2</c:v>
                </c:pt>
                <c:pt idx="25">
                  <c:v>0.38978351180899329</c:v>
                </c:pt>
                <c:pt idx="26">
                  <c:v>0.4685543389116168</c:v>
                </c:pt>
                <c:pt idx="27">
                  <c:v>0.53892713109336299</c:v>
                </c:pt>
                <c:pt idx="28">
                  <c:v>0.61359167954627125</c:v>
                </c:pt>
                <c:pt idx="29">
                  <c:v>0.68085129590278459</c:v>
                </c:pt>
                <c:pt idx="30">
                  <c:v>0.70290448682716467</c:v>
                </c:pt>
                <c:pt idx="31">
                  <c:v>0.81386676191372309</c:v>
                </c:pt>
                <c:pt idx="32">
                  <c:v>0.95588073680616092</c:v>
                </c:pt>
              </c:numCache>
            </c:numRef>
          </c:xVal>
          <c:yVal>
            <c:numRef>
              <c:f>'Calibration Curve 0.xlsx'!$K$2:$K$100</c:f>
              <c:numCache>
                <c:formatCode>General</c:formatCode>
                <c:ptCount val="99"/>
                <c:pt idx="0">
                  <c:v>0</c:v>
                </c:pt>
                <c:pt idx="1">
                  <c:v>336.9667</c:v>
                </c:pt>
                <c:pt idx="2">
                  <c:v>255.51859999999999</c:v>
                </c:pt>
                <c:pt idx="3">
                  <c:v>211.9316</c:v>
                </c:pt>
                <c:pt idx="4">
                  <c:v>189.25190000000001</c:v>
                </c:pt>
                <c:pt idx="5">
                  <c:v>156.03139999999999</c:v>
                </c:pt>
                <c:pt idx="6">
                  <c:v>136.95679999999999</c:v>
                </c:pt>
                <c:pt idx="7">
                  <c:v>123.1748</c:v>
                </c:pt>
                <c:pt idx="8">
                  <c:v>110.3618</c:v>
                </c:pt>
                <c:pt idx="9">
                  <c:v>106.2606</c:v>
                </c:pt>
                <c:pt idx="10">
                  <c:v>1093.9274</c:v>
                </c:pt>
                <c:pt idx="11">
                  <c:v>757.67309999999998</c:v>
                </c:pt>
                <c:pt idx="12">
                  <c:v>589.77250000000004</c:v>
                </c:pt>
                <c:pt idx="13">
                  <c:v>455.23669999999998</c:v>
                </c:pt>
                <c:pt idx="14">
                  <c:v>412.77210000000002</c:v>
                </c:pt>
                <c:pt idx="15">
                  <c:v>305.17340000000002</c:v>
                </c:pt>
                <c:pt idx="16">
                  <c:v>432.82670000000002</c:v>
                </c:pt>
                <c:pt idx="17">
                  <c:v>625.36</c:v>
                </c:pt>
                <c:pt idx="18">
                  <c:v>525.94809999999995</c:v>
                </c:pt>
                <c:pt idx="19">
                  <c:v>451.49299999999999</c:v>
                </c:pt>
                <c:pt idx="20">
                  <c:v>348.52280000000002</c:v>
                </c:pt>
                <c:pt idx="21">
                  <c:v>226.34379999999999</c:v>
                </c:pt>
                <c:pt idx="22">
                  <c:v>71.545000000000002</c:v>
                </c:pt>
                <c:pt idx="25">
                  <c:v>311</c:v>
                </c:pt>
                <c:pt idx="26">
                  <c:v>422.22</c:v>
                </c:pt>
                <c:pt idx="27">
                  <c:v>464.60539999999997</c:v>
                </c:pt>
                <c:pt idx="28">
                  <c:v>508.16149999999999</c:v>
                </c:pt>
                <c:pt idx="29">
                  <c:v>562.1576</c:v>
                </c:pt>
                <c:pt idx="30">
                  <c:v>569.85</c:v>
                </c:pt>
                <c:pt idx="32">
                  <c:v>824.37379999999996</c:v>
                </c:pt>
              </c:numCache>
            </c:numRef>
          </c:yVal>
          <c:smooth val="0"/>
          <c:extLst>
            <c:ext xmlns:c16="http://schemas.microsoft.com/office/drawing/2014/chart" uri="{C3380CC4-5D6E-409C-BE32-E72D297353CC}">
              <c16:uniqueId val="{00000001-92ED-1E42-9663-CB68A64EC79F}"/>
            </c:ext>
          </c:extLst>
        </c:ser>
        <c:dLbls>
          <c:showLegendKey val="0"/>
          <c:showVal val="0"/>
          <c:showCatName val="0"/>
          <c:showSerName val="0"/>
          <c:showPercent val="0"/>
          <c:showBubbleSize val="0"/>
        </c:dLbls>
        <c:axId val="295793424"/>
        <c:axId val="295795824"/>
      </c:scatterChart>
      <c:valAx>
        <c:axId val="295793424"/>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r>
                  <a:rPr lang="en-CA" sz="2400" b="1"/>
                  <a:t>Analyte Concentration (mg/mL)</a:t>
                </a:r>
              </a:p>
            </c:rich>
          </c:tx>
          <c:layout>
            <c:manualLayout>
              <c:xMode val="edge"/>
              <c:yMode val="edge"/>
              <c:x val="0.30668947175768607"/>
              <c:y val="0.93131648001975165"/>
            </c:manualLayout>
          </c:layout>
          <c:overlay val="0"/>
          <c:spPr>
            <a:noFill/>
            <a:ln>
              <a:noFill/>
            </a:ln>
            <a:effectLst/>
          </c:spPr>
          <c:txPr>
            <a:bodyPr rot="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endParaRPr lang="en-US"/>
            </a:p>
          </c:txPr>
        </c:title>
        <c:numFmt formatCode="General" sourceLinked="1"/>
        <c:majorTickMark val="none"/>
        <c:minorTickMark val="none"/>
        <c:tickLblPos val="nextTo"/>
        <c:spPr>
          <a:noFill/>
          <a:ln w="38100" cap="flat" cmpd="sng" algn="ctr">
            <a:solidFill>
              <a:srgbClr val="002060"/>
            </a:solidFill>
            <a:round/>
          </a:ln>
          <a:effectLst/>
        </c:spPr>
        <c:txPr>
          <a:bodyPr rot="-60000000" spcFirstLastPara="1" vertOverflow="ellipsis" vert="horz" wrap="square" anchor="ctr" anchorCtr="1"/>
          <a:lstStyle/>
          <a:p>
            <a:pPr>
              <a:defRPr sz="1800" b="0" i="0" u="none" strike="noStrike" kern="1200" baseline="0">
                <a:solidFill>
                  <a:srgbClr val="002060"/>
                </a:solidFill>
                <a:latin typeface="Aptos" panose="020B0004020202020204" pitchFamily="34" charset="0"/>
                <a:ea typeface="+mn-ea"/>
                <a:cs typeface="+mn-cs"/>
              </a:defRPr>
            </a:pPr>
            <a:endParaRPr lang="en-US"/>
          </a:p>
        </c:txPr>
        <c:crossAx val="295795824"/>
        <c:crosses val="autoZero"/>
        <c:crossBetween val="midCat"/>
      </c:valAx>
      <c:valAx>
        <c:axId val="295795824"/>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r>
                  <a:rPr lang="en-CA" sz="2400" b="1" dirty="0"/>
                  <a:t>HPLC Peak area</a:t>
                </a:r>
                <a:r>
                  <a:rPr lang="en-CA" sz="2400" b="1" baseline="0" dirty="0"/>
                  <a:t> units</a:t>
                </a:r>
                <a:r>
                  <a:rPr lang="en-CA" sz="2400" b="1" dirty="0"/>
                  <a:t> (AUs) </a:t>
                </a:r>
              </a:p>
            </c:rich>
          </c:tx>
          <c:layout>
            <c:manualLayout>
              <c:xMode val="edge"/>
              <c:yMode val="edge"/>
              <c:x val="9.1761644663232722E-3"/>
              <c:y val="0.1917342041808151"/>
            </c:manualLayout>
          </c:layout>
          <c:overlay val="0"/>
          <c:spPr>
            <a:noFill/>
            <a:ln>
              <a:noFill/>
            </a:ln>
            <a:effectLst/>
          </c:spPr>
          <c:txPr>
            <a:bodyPr rot="-540000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endParaRPr lang="en-US"/>
            </a:p>
          </c:txPr>
        </c:title>
        <c:numFmt formatCode="General" sourceLinked="1"/>
        <c:majorTickMark val="none"/>
        <c:minorTickMark val="none"/>
        <c:tickLblPos val="nextTo"/>
        <c:spPr>
          <a:noFill/>
          <a:ln w="38100" cap="flat" cmpd="sng" algn="ctr">
            <a:solidFill>
              <a:srgbClr val="002060"/>
            </a:solidFill>
            <a:round/>
          </a:ln>
          <a:effectLst/>
        </c:spPr>
        <c:txPr>
          <a:bodyPr rot="-60000000" spcFirstLastPara="1" vertOverflow="ellipsis" vert="horz" wrap="square" anchor="ctr" anchorCtr="1"/>
          <a:lstStyle/>
          <a:p>
            <a:pPr>
              <a:defRPr sz="1800" b="0" i="0" u="none" strike="noStrike" kern="1200" baseline="0">
                <a:solidFill>
                  <a:srgbClr val="002060"/>
                </a:solidFill>
                <a:latin typeface="Aptos" panose="020B0004020202020204" pitchFamily="34" charset="0"/>
                <a:ea typeface="+mn-ea"/>
                <a:cs typeface="+mn-cs"/>
              </a:defRPr>
            </a:pPr>
            <a:endParaRPr lang="en-US"/>
          </a:p>
        </c:txPr>
        <c:crossAx val="295793424"/>
        <c:crosses val="autoZero"/>
        <c:crossBetween val="midCat"/>
        <c:dispUnits>
          <c:builtInUnit val="thousands"/>
        </c:dispUnits>
      </c:valAx>
      <c:spPr>
        <a:noFill/>
        <a:ln>
          <a:noFill/>
        </a:ln>
        <a:effectLst/>
      </c:spPr>
    </c:plotArea>
    <c:plotVisOnly val="1"/>
    <c:dispBlanksAs val="gap"/>
    <c:showDLblsOverMax val="0"/>
  </c:chart>
  <c:spPr>
    <a:noFill/>
    <a:ln>
      <a:noFill/>
    </a:ln>
    <a:effectLst/>
  </c:spPr>
  <c:txPr>
    <a:bodyPr/>
    <a:lstStyle/>
    <a:p>
      <a:pPr>
        <a:defRPr sz="2000">
          <a:solidFill>
            <a:srgbClr val="002060"/>
          </a:solidFill>
          <a:latin typeface="Aptos" panose="020B00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noFill/>
              <a:round/>
            </a:ln>
            <a:effectLst/>
          </c:spPr>
          <c:marker>
            <c:symbol val="circle"/>
            <c:size val="5"/>
            <c:spPr>
              <a:solidFill>
                <a:srgbClr val="002060"/>
              </a:solidFill>
              <a:ln w="88900">
                <a:solidFill>
                  <a:srgbClr val="002060"/>
                </a:solidFill>
              </a:ln>
              <a:effectLst/>
            </c:spPr>
          </c:marker>
          <c:trendline>
            <c:spPr>
              <a:ln w="19050" cap="rnd">
                <a:solidFill>
                  <a:srgbClr val="002060"/>
                </a:solidFill>
                <a:prstDash val="sysDot"/>
              </a:ln>
              <a:effectLst/>
            </c:spPr>
            <c:trendlineType val="linear"/>
            <c:intercept val="0"/>
            <c:dispRSqr val="1"/>
            <c:dispEq val="1"/>
            <c:trendlineLbl>
              <c:layout>
                <c:manualLayout>
                  <c:x val="5.5725322467098569E-2"/>
                  <c:y val="0.20625257007379194"/>
                </c:manualLayout>
              </c:layout>
              <c:numFmt formatCode="General" sourceLinked="0"/>
              <c:spPr>
                <a:noFill/>
                <a:ln>
                  <a:noFill/>
                </a:ln>
                <a:effectLst/>
              </c:spPr>
              <c:txPr>
                <a:bodyPr rot="0" spcFirstLastPara="1" vertOverflow="ellipsis" vert="horz" wrap="square" anchor="ctr" anchorCtr="1"/>
                <a:lstStyle/>
                <a:p>
                  <a:pPr>
                    <a:defRPr sz="2400" b="0" i="0" u="none" strike="noStrike" kern="1200" baseline="0">
                      <a:solidFill>
                        <a:srgbClr val="002060"/>
                      </a:solidFill>
                      <a:latin typeface="Aptos" panose="020B0004020202020204" pitchFamily="34" charset="0"/>
                      <a:ea typeface="+mn-ea"/>
                      <a:cs typeface="+mn-cs"/>
                    </a:defRPr>
                  </a:pPr>
                  <a:endParaRPr lang="en-US"/>
                </a:p>
              </c:txPr>
            </c:trendlineLbl>
          </c:trendline>
          <c:xVal>
            <c:numRef>
              <c:f>Sheet1!$D$2:$D$17</c:f>
              <c:numCache>
                <c:formatCode>General</c:formatCode>
                <c:ptCount val="16"/>
                <c:pt idx="0">
                  <c:v>0</c:v>
                </c:pt>
                <c:pt idx="1">
                  <c:v>7.1298381044280044</c:v>
                </c:pt>
                <c:pt idx="2">
                  <c:v>3.2742491383554899</c:v>
                </c:pt>
                <c:pt idx="3">
                  <c:v>3.8085797676083484</c:v>
                </c:pt>
                <c:pt idx="4">
                  <c:v>5.9160411453989443</c:v>
                </c:pt>
                <c:pt idx="5">
                  <c:v>7.9556127012522371</c:v>
                </c:pt>
                <c:pt idx="6">
                  <c:v>7.3727532336636994</c:v>
                </c:pt>
                <c:pt idx="7">
                  <c:v>10.427492274236007</c:v>
                </c:pt>
                <c:pt idx="8">
                  <c:v>10.443030719853278</c:v>
                </c:pt>
                <c:pt idx="9">
                  <c:v>9.608715755403999</c:v>
                </c:pt>
                <c:pt idx="10">
                  <c:v>13.200746268656717</c:v>
                </c:pt>
                <c:pt idx="11">
                  <c:v>14.060133239831698</c:v>
                </c:pt>
                <c:pt idx="12">
                  <c:v>14.925284980213808</c:v>
                </c:pt>
                <c:pt idx="13">
                  <c:v>16.63677130044843</c:v>
                </c:pt>
                <c:pt idx="14">
                  <c:v>18.408028759736375</c:v>
                </c:pt>
                <c:pt idx="15">
                  <c:v>17.472063854047892</c:v>
                </c:pt>
              </c:numCache>
            </c:numRef>
          </c:xVal>
          <c:yVal>
            <c:numRef>
              <c:f>Sheet1!$G$2:$G$17</c:f>
              <c:numCache>
                <c:formatCode>0.00</c:formatCode>
                <c:ptCount val="16"/>
                <c:pt idx="0">
                  <c:v>0</c:v>
                </c:pt>
                <c:pt idx="1">
                  <c:v>1.4010100000000001</c:v>
                </c:pt>
                <c:pt idx="2">
                  <c:v>0.81237999999999999</c:v>
                </c:pt>
                <c:pt idx="3">
                  <c:v>0.75366999999999995</c:v>
                </c:pt>
                <c:pt idx="4">
                  <c:v>1.17395</c:v>
                </c:pt>
                <c:pt idx="5">
                  <c:v>1.5503699999999998</c:v>
                </c:pt>
                <c:pt idx="6">
                  <c:v>1.4546300000000001</c:v>
                </c:pt>
                <c:pt idx="7">
                  <c:v>1.95753</c:v>
                </c:pt>
                <c:pt idx="8">
                  <c:v>2.05057</c:v>
                </c:pt>
                <c:pt idx="9">
                  <c:v>1.94509</c:v>
                </c:pt>
                <c:pt idx="10">
                  <c:v>2.5694400000000002</c:v>
                </c:pt>
                <c:pt idx="11">
                  <c:v>2.8387699999999998</c:v>
                </c:pt>
                <c:pt idx="12">
                  <c:v>3.0445300000000004</c:v>
                </c:pt>
                <c:pt idx="13">
                  <c:v>3.3017399999999997</c:v>
                </c:pt>
                <c:pt idx="14">
                  <c:v>3.70994</c:v>
                </c:pt>
                <c:pt idx="15">
                  <c:v>3.6515399999999998</c:v>
                </c:pt>
              </c:numCache>
            </c:numRef>
          </c:yVal>
          <c:smooth val="0"/>
          <c:extLst>
            <c:ext xmlns:c16="http://schemas.microsoft.com/office/drawing/2014/chart" uri="{C3380CC4-5D6E-409C-BE32-E72D297353CC}">
              <c16:uniqueId val="{00000001-5368-E74C-B1F3-135DF70537F0}"/>
            </c:ext>
          </c:extLst>
        </c:ser>
        <c:dLbls>
          <c:showLegendKey val="0"/>
          <c:showVal val="0"/>
          <c:showCatName val="0"/>
          <c:showSerName val="0"/>
          <c:showPercent val="0"/>
          <c:showBubbleSize val="0"/>
        </c:dLbls>
        <c:axId val="810652544"/>
        <c:axId val="810655424"/>
      </c:scatterChart>
      <c:valAx>
        <c:axId val="810652544"/>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r>
                  <a:rPr lang="en-US" b="1" dirty="0"/>
                  <a:t>Analyte Concentration (mg/mL)</a:t>
                </a:r>
              </a:p>
            </c:rich>
          </c:tx>
          <c:layout>
            <c:manualLayout>
              <c:xMode val="edge"/>
              <c:yMode val="edge"/>
              <c:x val="0.32122517834168918"/>
              <c:y val="0.9105152680459504"/>
            </c:manualLayout>
          </c:layout>
          <c:overlay val="0"/>
          <c:spPr>
            <a:noFill/>
            <a:ln>
              <a:noFill/>
            </a:ln>
            <a:effectLst/>
          </c:spPr>
          <c:txPr>
            <a:bodyPr rot="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endParaRPr lang="en-US"/>
            </a:p>
          </c:txPr>
        </c:title>
        <c:numFmt formatCode="General" sourceLinked="1"/>
        <c:majorTickMark val="none"/>
        <c:minorTickMark val="none"/>
        <c:tickLblPos val="nextTo"/>
        <c:spPr>
          <a:noFill/>
          <a:ln w="38100" cap="flat" cmpd="sng" algn="ctr">
            <a:solidFill>
              <a:srgbClr val="002060"/>
            </a:solidFill>
            <a:round/>
          </a:ln>
          <a:effectLst/>
        </c:spPr>
        <c:txPr>
          <a:bodyPr rot="-60000000" spcFirstLastPara="1" vertOverflow="ellipsis" vert="horz" wrap="square" anchor="ctr" anchorCtr="1"/>
          <a:lstStyle/>
          <a:p>
            <a:pPr>
              <a:defRPr sz="1800" b="0" i="0" u="none" strike="noStrike" kern="1200" baseline="0">
                <a:solidFill>
                  <a:srgbClr val="002060"/>
                </a:solidFill>
                <a:latin typeface="Aptos" panose="020B0004020202020204" pitchFamily="34" charset="0"/>
                <a:ea typeface="+mn-ea"/>
                <a:cs typeface="+mn-cs"/>
              </a:defRPr>
            </a:pPr>
            <a:endParaRPr lang="en-US"/>
          </a:p>
        </c:txPr>
        <c:crossAx val="810655424"/>
        <c:crosses val="autoZero"/>
        <c:crossBetween val="midCat"/>
      </c:valAx>
      <c:valAx>
        <c:axId val="810655424"/>
        <c:scaling>
          <c:orientation val="minMax"/>
        </c:scaling>
        <c:delete val="0"/>
        <c:axPos val="l"/>
        <c:majorGridlines>
          <c:spPr>
            <a:ln w="9525" cap="flat" cmpd="sng" algn="ctr">
              <a:noFill/>
              <a:round/>
            </a:ln>
            <a:effectLst>
              <a:glow rad="127000">
                <a:schemeClr val="bg1"/>
              </a:glow>
              <a:outerShdw blurRad="50800" dist="50800" dir="5400000" algn="ctr" rotWithShape="0">
                <a:schemeClr val="bg1"/>
              </a:outerShdw>
            </a:effectLst>
          </c:spPr>
        </c:majorGridlines>
        <c:title>
          <c:tx>
            <c:rich>
              <a:bodyPr rot="-540000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r>
                  <a:rPr lang="en-CA" b="1"/>
                  <a:t>HPLC peak area units (AUs)</a:t>
                </a:r>
              </a:p>
            </c:rich>
          </c:tx>
          <c:layout>
            <c:manualLayout>
              <c:xMode val="edge"/>
              <c:yMode val="edge"/>
              <c:x val="2.8457745757591905E-4"/>
              <c:y val="0.12528611479743273"/>
            </c:manualLayout>
          </c:layout>
          <c:overlay val="0"/>
          <c:spPr>
            <a:noFill/>
            <a:ln>
              <a:noFill/>
            </a:ln>
            <a:effectLst/>
          </c:spPr>
          <c:txPr>
            <a:bodyPr rot="-540000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endParaRPr lang="en-US"/>
            </a:p>
          </c:txPr>
        </c:title>
        <c:numFmt formatCode="0.0" sourceLinked="0"/>
        <c:majorTickMark val="none"/>
        <c:minorTickMark val="none"/>
        <c:tickLblPos val="nextTo"/>
        <c:spPr>
          <a:noFill/>
          <a:ln w="38100" cap="flat" cmpd="sng" algn="ctr">
            <a:solidFill>
              <a:srgbClr val="002060"/>
            </a:solidFill>
            <a:round/>
          </a:ln>
          <a:effectLst/>
        </c:spPr>
        <c:txPr>
          <a:bodyPr rot="-60000000" spcFirstLastPara="1" vertOverflow="ellipsis" vert="horz" wrap="square" anchor="ctr" anchorCtr="1"/>
          <a:lstStyle/>
          <a:p>
            <a:pPr>
              <a:defRPr sz="1800" b="0" i="0" u="none" strike="noStrike" kern="1200" baseline="0">
                <a:solidFill>
                  <a:srgbClr val="002060"/>
                </a:solidFill>
                <a:latin typeface="Aptos" panose="020B0004020202020204" pitchFamily="34" charset="0"/>
                <a:ea typeface="+mn-ea"/>
                <a:cs typeface="+mn-cs"/>
              </a:defRPr>
            </a:pPr>
            <a:endParaRPr lang="en-US"/>
          </a:p>
        </c:txPr>
        <c:crossAx val="810652544"/>
        <c:crosses val="autoZero"/>
        <c:crossBetween val="midCat"/>
      </c:valAx>
      <c:spPr>
        <a:noFill/>
        <a:ln>
          <a:noFill/>
        </a:ln>
        <a:effectLst/>
      </c:spPr>
    </c:plotArea>
    <c:plotVisOnly val="1"/>
    <c:dispBlanksAs val="gap"/>
    <c:showDLblsOverMax val="0"/>
  </c:chart>
  <c:spPr>
    <a:noFill/>
    <a:ln>
      <a:noFill/>
    </a:ln>
    <a:effectLst/>
  </c:spPr>
  <c:txPr>
    <a:bodyPr/>
    <a:lstStyle/>
    <a:p>
      <a:pPr>
        <a:defRPr sz="2400">
          <a:solidFill>
            <a:srgbClr val="002060"/>
          </a:solidFill>
          <a:latin typeface="Aptos" panose="020B00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059421039570357"/>
          <c:y val="0.10988510306176665"/>
          <c:w val="0.84585937496907859"/>
          <c:h val="0.74707927586294587"/>
        </c:manualLayout>
      </c:layout>
      <c:scatterChart>
        <c:scatterStyle val="lineMarker"/>
        <c:varyColors val="0"/>
        <c:ser>
          <c:idx val="0"/>
          <c:order val="0"/>
          <c:spPr>
            <a:ln w="38100" cap="rnd">
              <a:noFill/>
              <a:round/>
            </a:ln>
            <a:effectLst/>
          </c:spPr>
          <c:marker>
            <c:symbol val="circle"/>
            <c:size val="5"/>
            <c:spPr>
              <a:solidFill>
                <a:schemeClr val="accent1"/>
              </a:solidFill>
              <a:ln w="88900">
                <a:solidFill>
                  <a:srgbClr val="002060"/>
                </a:solidFill>
              </a:ln>
              <a:effectLst/>
            </c:spPr>
          </c:marker>
          <c:trendline>
            <c:spPr>
              <a:ln w="19050" cap="rnd">
                <a:solidFill>
                  <a:srgbClr val="002060"/>
                </a:solidFill>
                <a:prstDash val="sysDot"/>
              </a:ln>
              <a:effectLst/>
            </c:spPr>
            <c:trendlineType val="linear"/>
            <c:intercept val="0"/>
            <c:dispRSqr val="1"/>
            <c:dispEq val="1"/>
            <c:trendlineLbl>
              <c:layout>
                <c:manualLayout>
                  <c:x val="5.1098615920693424E-2"/>
                  <c:y val="0.23874080132153974"/>
                </c:manualLayout>
              </c:layout>
              <c:tx>
                <c:rich>
                  <a:bodyPr rot="0" spcFirstLastPara="1" vertOverflow="ellipsis" vert="horz" wrap="square" anchor="ctr" anchorCtr="1"/>
                  <a:lstStyle/>
                  <a:p>
                    <a:pPr>
                      <a:defRPr sz="2400" b="0" i="0" u="none" strike="noStrike" kern="1200" baseline="0">
                        <a:solidFill>
                          <a:srgbClr val="002060"/>
                        </a:solidFill>
                        <a:latin typeface="Aptos" panose="020B0004020202020204" pitchFamily="34" charset="0"/>
                        <a:ea typeface="+mn-ea"/>
                        <a:cs typeface="+mn-cs"/>
                      </a:defRPr>
                    </a:pPr>
                    <a:r>
                      <a:rPr lang="en-US" sz="2400" dirty="0"/>
                      <a:t>y = 0.83655x</a:t>
                    </a:r>
                    <a:br>
                      <a:rPr lang="en-US" sz="2400" dirty="0"/>
                    </a:br>
                    <a:r>
                      <a:rPr lang="en-US" sz="2400" dirty="0"/>
                      <a:t>R² = 0.9992</a:t>
                    </a:r>
                  </a:p>
                </c:rich>
              </c:tx>
              <c:numFmt formatCode="General" sourceLinked="0"/>
              <c:spPr>
                <a:noFill/>
                <a:ln>
                  <a:noFill/>
                </a:ln>
                <a:effectLst/>
              </c:spPr>
              <c:txPr>
                <a:bodyPr rot="0" spcFirstLastPara="1" vertOverflow="ellipsis" vert="horz" wrap="square" anchor="ctr" anchorCtr="1"/>
                <a:lstStyle/>
                <a:p>
                  <a:pPr>
                    <a:defRPr sz="2400" b="0" i="0" u="none" strike="noStrike" kern="1200" baseline="0">
                      <a:solidFill>
                        <a:srgbClr val="002060"/>
                      </a:solidFill>
                      <a:latin typeface="Aptos" panose="020B0004020202020204" pitchFamily="34" charset="0"/>
                      <a:ea typeface="+mn-ea"/>
                      <a:cs typeface="+mn-cs"/>
                    </a:defRPr>
                  </a:pPr>
                  <a:endParaRPr lang="en-US"/>
                </a:p>
              </c:txPr>
            </c:trendlineLbl>
          </c:trendline>
          <c:xVal>
            <c:numRef>
              <c:f>'Calibration Curve 0.xlsx'!$J$2:$J$100</c:f>
              <c:numCache>
                <c:formatCode>General</c:formatCode>
                <c:ptCount val="99"/>
                <c:pt idx="0">
                  <c:v>0</c:v>
                </c:pt>
                <c:pt idx="1">
                  <c:v>0.3974652401572058</c:v>
                </c:pt>
                <c:pt idx="2">
                  <c:v>0.30842652646231355</c:v>
                </c:pt>
                <c:pt idx="3">
                  <c:v>0.25364818297972019</c:v>
                </c:pt>
                <c:pt idx="4">
                  <c:v>0.21908936855126449</c:v>
                </c:pt>
                <c:pt idx="5">
                  <c:v>0.19490053720633824</c:v>
                </c:pt>
                <c:pt idx="6">
                  <c:v>0.17177626347154459</c:v>
                </c:pt>
                <c:pt idx="7">
                  <c:v>0.1520710487076935</c:v>
                </c:pt>
                <c:pt idx="8">
                  <c:v>0.13001493339887957</c:v>
                </c:pt>
                <c:pt idx="9">
                  <c:v>0.12423983616904498</c:v>
                </c:pt>
                <c:pt idx="10">
                  <c:v>1.2954171447383274</c:v>
                </c:pt>
                <c:pt idx="11">
                  <c:v>0.91173250328070532</c:v>
                </c:pt>
                <c:pt idx="12">
                  <c:v>0.71412026572940079</c:v>
                </c:pt>
                <c:pt idx="13">
                  <c:v>0.56687595501996313</c:v>
                </c:pt>
                <c:pt idx="14">
                  <c:v>0.46441700562084742</c:v>
                </c:pt>
                <c:pt idx="15">
                  <c:v>0.37179306074309004</c:v>
                </c:pt>
                <c:pt idx="16">
                  <c:v>0.52618416967649473</c:v>
                </c:pt>
                <c:pt idx="17">
                  <c:v>0.72736601507756293</c:v>
                </c:pt>
                <c:pt idx="18">
                  <c:v>0.64642143951412223</c:v>
                </c:pt>
                <c:pt idx="19">
                  <c:v>0.55321223214653548</c:v>
                </c:pt>
                <c:pt idx="20">
                  <c:v>0.43739052203366502</c:v>
                </c:pt>
                <c:pt idx="21">
                  <c:v>0.28842754921415309</c:v>
                </c:pt>
                <c:pt idx="22">
                  <c:v>8.8733818223640556E-2</c:v>
                </c:pt>
                <c:pt idx="25">
                  <c:v>0.38978351180899329</c:v>
                </c:pt>
                <c:pt idx="26">
                  <c:v>0.4685543389116168</c:v>
                </c:pt>
                <c:pt idx="27">
                  <c:v>0.53892713109336299</c:v>
                </c:pt>
                <c:pt idx="28">
                  <c:v>0.61359167954627125</c:v>
                </c:pt>
                <c:pt idx="29">
                  <c:v>0.68085129590278459</c:v>
                </c:pt>
                <c:pt idx="30">
                  <c:v>0.70290448682716467</c:v>
                </c:pt>
                <c:pt idx="31">
                  <c:v>0.81386676191372309</c:v>
                </c:pt>
                <c:pt idx="32">
                  <c:v>0.95588073680616092</c:v>
                </c:pt>
              </c:numCache>
            </c:numRef>
          </c:xVal>
          <c:yVal>
            <c:numRef>
              <c:f>'Calibration Curve 0.xlsx'!$K$2:$K$100</c:f>
              <c:numCache>
                <c:formatCode>General</c:formatCode>
                <c:ptCount val="99"/>
                <c:pt idx="0">
                  <c:v>0</c:v>
                </c:pt>
                <c:pt idx="1">
                  <c:v>336.9667</c:v>
                </c:pt>
                <c:pt idx="2">
                  <c:v>255.51859999999999</c:v>
                </c:pt>
                <c:pt idx="3">
                  <c:v>211.9316</c:v>
                </c:pt>
                <c:pt idx="4">
                  <c:v>189.25190000000001</c:v>
                </c:pt>
                <c:pt idx="5">
                  <c:v>156.03139999999999</c:v>
                </c:pt>
                <c:pt idx="6">
                  <c:v>136.95679999999999</c:v>
                </c:pt>
                <c:pt idx="7">
                  <c:v>123.1748</c:v>
                </c:pt>
                <c:pt idx="8">
                  <c:v>110.3618</c:v>
                </c:pt>
                <c:pt idx="9">
                  <c:v>106.2606</c:v>
                </c:pt>
                <c:pt idx="10">
                  <c:v>1093.9274</c:v>
                </c:pt>
                <c:pt idx="11">
                  <c:v>757.67309999999998</c:v>
                </c:pt>
                <c:pt idx="12">
                  <c:v>589.77250000000004</c:v>
                </c:pt>
                <c:pt idx="13">
                  <c:v>455.23669999999998</c:v>
                </c:pt>
                <c:pt idx="14">
                  <c:v>412.77210000000002</c:v>
                </c:pt>
                <c:pt idx="15">
                  <c:v>305.17340000000002</c:v>
                </c:pt>
                <c:pt idx="16">
                  <c:v>432.82670000000002</c:v>
                </c:pt>
                <c:pt idx="17">
                  <c:v>625.36</c:v>
                </c:pt>
                <c:pt idx="18">
                  <c:v>525.94809999999995</c:v>
                </c:pt>
                <c:pt idx="19">
                  <c:v>451.49299999999999</c:v>
                </c:pt>
                <c:pt idx="20">
                  <c:v>348.52280000000002</c:v>
                </c:pt>
                <c:pt idx="21">
                  <c:v>226.34379999999999</c:v>
                </c:pt>
                <c:pt idx="22">
                  <c:v>71.545000000000002</c:v>
                </c:pt>
                <c:pt idx="25">
                  <c:v>311</c:v>
                </c:pt>
                <c:pt idx="26">
                  <c:v>422.22</c:v>
                </c:pt>
                <c:pt idx="27">
                  <c:v>464.60539999999997</c:v>
                </c:pt>
                <c:pt idx="28">
                  <c:v>508.16149999999999</c:v>
                </c:pt>
                <c:pt idx="29">
                  <c:v>562.1576</c:v>
                </c:pt>
                <c:pt idx="30">
                  <c:v>569.85</c:v>
                </c:pt>
                <c:pt idx="32">
                  <c:v>824.37379999999996</c:v>
                </c:pt>
              </c:numCache>
            </c:numRef>
          </c:yVal>
          <c:smooth val="0"/>
          <c:extLst>
            <c:ext xmlns:c16="http://schemas.microsoft.com/office/drawing/2014/chart" uri="{C3380CC4-5D6E-409C-BE32-E72D297353CC}">
              <c16:uniqueId val="{00000001-92ED-1E42-9663-CB68A64EC79F}"/>
            </c:ext>
          </c:extLst>
        </c:ser>
        <c:dLbls>
          <c:showLegendKey val="0"/>
          <c:showVal val="0"/>
          <c:showCatName val="0"/>
          <c:showSerName val="0"/>
          <c:showPercent val="0"/>
          <c:showBubbleSize val="0"/>
        </c:dLbls>
        <c:axId val="295793424"/>
        <c:axId val="295795824"/>
      </c:scatterChart>
      <c:valAx>
        <c:axId val="295793424"/>
        <c:scaling>
          <c:orientation val="minMax"/>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r>
                  <a:rPr lang="en-CA" sz="2400" b="1"/>
                  <a:t>Analyte Concentration (mg/mL)</a:t>
                </a:r>
              </a:p>
            </c:rich>
          </c:tx>
          <c:layout>
            <c:manualLayout>
              <c:xMode val="edge"/>
              <c:yMode val="edge"/>
              <c:x val="0.30668947175768607"/>
              <c:y val="0.93131648001975165"/>
            </c:manualLayout>
          </c:layout>
          <c:overlay val="0"/>
          <c:spPr>
            <a:noFill/>
            <a:ln>
              <a:noFill/>
            </a:ln>
            <a:effectLst/>
          </c:spPr>
          <c:txPr>
            <a:bodyPr rot="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endParaRPr lang="en-US"/>
            </a:p>
          </c:txPr>
        </c:title>
        <c:numFmt formatCode="General" sourceLinked="1"/>
        <c:majorTickMark val="none"/>
        <c:minorTickMark val="none"/>
        <c:tickLblPos val="nextTo"/>
        <c:spPr>
          <a:noFill/>
          <a:ln w="38100" cap="flat" cmpd="sng" algn="ctr">
            <a:solidFill>
              <a:srgbClr val="002060"/>
            </a:solidFill>
            <a:round/>
          </a:ln>
          <a:effectLst/>
        </c:spPr>
        <c:txPr>
          <a:bodyPr rot="-60000000" spcFirstLastPara="1" vertOverflow="ellipsis" vert="horz" wrap="square" anchor="ctr" anchorCtr="1"/>
          <a:lstStyle/>
          <a:p>
            <a:pPr>
              <a:defRPr sz="1800" b="0" i="0" u="none" strike="noStrike" kern="1200" baseline="0">
                <a:solidFill>
                  <a:srgbClr val="002060"/>
                </a:solidFill>
                <a:latin typeface="Aptos" panose="020B0004020202020204" pitchFamily="34" charset="0"/>
                <a:ea typeface="+mn-ea"/>
                <a:cs typeface="+mn-cs"/>
              </a:defRPr>
            </a:pPr>
            <a:endParaRPr lang="en-US"/>
          </a:p>
        </c:txPr>
        <c:crossAx val="295795824"/>
        <c:crosses val="autoZero"/>
        <c:crossBetween val="midCat"/>
      </c:valAx>
      <c:valAx>
        <c:axId val="295795824"/>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r>
                  <a:rPr lang="en-CA" sz="2400" b="1" dirty="0"/>
                  <a:t>HPLC Peak area</a:t>
                </a:r>
                <a:r>
                  <a:rPr lang="en-CA" sz="2400" b="1" baseline="0" dirty="0"/>
                  <a:t> units</a:t>
                </a:r>
                <a:r>
                  <a:rPr lang="en-CA" sz="2400" b="1" dirty="0"/>
                  <a:t> (AUs) </a:t>
                </a:r>
              </a:p>
            </c:rich>
          </c:tx>
          <c:layout>
            <c:manualLayout>
              <c:xMode val="edge"/>
              <c:yMode val="edge"/>
              <c:x val="9.1761644663232722E-3"/>
              <c:y val="0.1917342041808151"/>
            </c:manualLayout>
          </c:layout>
          <c:overlay val="0"/>
          <c:spPr>
            <a:noFill/>
            <a:ln>
              <a:noFill/>
            </a:ln>
            <a:effectLst/>
          </c:spPr>
          <c:txPr>
            <a:bodyPr rot="-5400000" spcFirstLastPara="1" vertOverflow="ellipsis" vert="horz" wrap="square" anchor="ctr" anchorCtr="1"/>
            <a:lstStyle/>
            <a:p>
              <a:pPr>
                <a:defRPr sz="2400" b="1" i="0" u="none" strike="noStrike" kern="1200" baseline="0">
                  <a:solidFill>
                    <a:srgbClr val="002060"/>
                  </a:solidFill>
                  <a:latin typeface="Aptos" panose="020B0004020202020204" pitchFamily="34" charset="0"/>
                  <a:ea typeface="+mn-ea"/>
                  <a:cs typeface="+mn-cs"/>
                </a:defRPr>
              </a:pPr>
              <a:endParaRPr lang="en-US"/>
            </a:p>
          </c:txPr>
        </c:title>
        <c:numFmt formatCode="General" sourceLinked="1"/>
        <c:majorTickMark val="none"/>
        <c:minorTickMark val="none"/>
        <c:tickLblPos val="nextTo"/>
        <c:spPr>
          <a:noFill/>
          <a:ln w="38100" cap="flat" cmpd="sng" algn="ctr">
            <a:solidFill>
              <a:srgbClr val="002060"/>
            </a:solidFill>
            <a:round/>
          </a:ln>
          <a:effectLst/>
        </c:spPr>
        <c:txPr>
          <a:bodyPr rot="-60000000" spcFirstLastPara="1" vertOverflow="ellipsis" vert="horz" wrap="square" anchor="ctr" anchorCtr="1"/>
          <a:lstStyle/>
          <a:p>
            <a:pPr>
              <a:defRPr sz="1800" b="0" i="0" u="none" strike="noStrike" kern="1200" baseline="0">
                <a:solidFill>
                  <a:srgbClr val="002060"/>
                </a:solidFill>
                <a:latin typeface="Aptos" panose="020B0004020202020204" pitchFamily="34" charset="0"/>
                <a:ea typeface="+mn-ea"/>
                <a:cs typeface="+mn-cs"/>
              </a:defRPr>
            </a:pPr>
            <a:endParaRPr lang="en-US"/>
          </a:p>
        </c:txPr>
        <c:crossAx val="295793424"/>
        <c:crosses val="autoZero"/>
        <c:crossBetween val="midCat"/>
        <c:dispUnits>
          <c:builtInUnit val="thousands"/>
        </c:dispUnits>
      </c:valAx>
      <c:spPr>
        <a:noFill/>
        <a:ln>
          <a:noFill/>
        </a:ln>
        <a:effectLst/>
      </c:spPr>
    </c:plotArea>
    <c:plotVisOnly val="1"/>
    <c:dispBlanksAs val="gap"/>
    <c:showDLblsOverMax val="0"/>
  </c:chart>
  <c:spPr>
    <a:noFill/>
    <a:ln>
      <a:noFill/>
    </a:ln>
    <a:effectLst/>
  </c:spPr>
  <c:txPr>
    <a:bodyPr/>
    <a:lstStyle/>
    <a:p>
      <a:pPr>
        <a:defRPr sz="2000">
          <a:solidFill>
            <a:srgbClr val="002060"/>
          </a:solidFill>
          <a:latin typeface="Aptos" panose="020B00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70014" y="6480867"/>
            <a:ext cx="33660160" cy="13786732"/>
          </a:xfrm>
        </p:spPr>
        <p:txBody>
          <a:bodyPr anchor="b"/>
          <a:lstStyle>
            <a:lvl1pPr algn="ctr">
              <a:defRPr sz="25984"/>
            </a:lvl1pPr>
          </a:lstStyle>
          <a:p>
            <a:r>
              <a:rPr lang="en-US"/>
              <a:t>Click to edit Master title style</a:t>
            </a:r>
            <a:endParaRPr lang="en-US" dirty="0"/>
          </a:p>
        </p:txBody>
      </p:sp>
      <p:sp>
        <p:nvSpPr>
          <p:cNvPr id="3" name="Subtitle 2"/>
          <p:cNvSpPr>
            <a:spLocks noGrp="1"/>
          </p:cNvSpPr>
          <p:nvPr>
            <p:ph type="subTitle" idx="1"/>
          </p:nvPr>
        </p:nvSpPr>
        <p:spPr>
          <a:xfrm>
            <a:off x="4950024" y="20799268"/>
            <a:ext cx="29700141" cy="9560876"/>
          </a:xfrm>
        </p:spPr>
        <p:txBody>
          <a:bodyPr/>
          <a:lstStyle>
            <a:lvl1pPr marL="0" indent="0" algn="ctr">
              <a:buNone/>
              <a:defRPr sz="10394"/>
            </a:lvl1pPr>
            <a:lvl2pPr marL="1979996" indent="0" algn="ctr">
              <a:buNone/>
              <a:defRPr sz="8661"/>
            </a:lvl2pPr>
            <a:lvl3pPr marL="3959992" indent="0" algn="ctr">
              <a:buNone/>
              <a:defRPr sz="7795"/>
            </a:lvl3pPr>
            <a:lvl4pPr marL="5939988" indent="0" algn="ctr">
              <a:buNone/>
              <a:defRPr sz="6929"/>
            </a:lvl4pPr>
            <a:lvl5pPr marL="7919984" indent="0" algn="ctr">
              <a:buNone/>
              <a:defRPr sz="6929"/>
            </a:lvl5pPr>
            <a:lvl6pPr marL="9899980" indent="0" algn="ctr">
              <a:buNone/>
              <a:defRPr sz="6929"/>
            </a:lvl6pPr>
            <a:lvl7pPr marL="11879976" indent="0" algn="ctr">
              <a:buNone/>
              <a:defRPr sz="6929"/>
            </a:lvl7pPr>
            <a:lvl8pPr marL="13859972" indent="0" algn="ctr">
              <a:buNone/>
              <a:defRPr sz="6929"/>
            </a:lvl8pPr>
            <a:lvl9pPr marL="15839968" indent="0" algn="ctr">
              <a:buNone/>
              <a:defRPr sz="692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917FBB-CBD9-8F4F-AB75-73FE79BCDBC7}"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2798379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917FBB-CBD9-8F4F-AB75-73FE79BCDBC7}"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2666524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01890" y="9872559"/>
            <a:ext cx="34155162" cy="16472575"/>
          </a:xfrm>
        </p:spPr>
        <p:txBody>
          <a:bodyPr anchor="b"/>
          <a:lstStyle>
            <a:lvl1pPr>
              <a:defRPr sz="25984"/>
            </a:lvl1pPr>
          </a:lstStyle>
          <a:p>
            <a:r>
              <a:rPr lang="en-US"/>
              <a:t>Click to edit Master title style</a:t>
            </a:r>
            <a:endParaRPr lang="en-US" dirty="0"/>
          </a:p>
        </p:txBody>
      </p:sp>
      <p:sp>
        <p:nvSpPr>
          <p:cNvPr id="3" name="Text Placeholder 2"/>
          <p:cNvSpPr>
            <a:spLocks noGrp="1"/>
          </p:cNvSpPr>
          <p:nvPr>
            <p:ph type="body" idx="1"/>
          </p:nvPr>
        </p:nvSpPr>
        <p:spPr>
          <a:xfrm>
            <a:off x="2701890" y="26500971"/>
            <a:ext cx="34155162" cy="8662538"/>
          </a:xfrm>
        </p:spPr>
        <p:txBody>
          <a:bodyPr/>
          <a:lstStyle>
            <a:lvl1pPr marL="0" indent="0">
              <a:buNone/>
              <a:defRPr sz="10394">
                <a:solidFill>
                  <a:schemeClr val="tx1"/>
                </a:solidFill>
              </a:defRPr>
            </a:lvl1pPr>
            <a:lvl2pPr marL="1979996" indent="0">
              <a:buNone/>
              <a:defRPr sz="8661">
                <a:solidFill>
                  <a:schemeClr val="tx1">
                    <a:tint val="75000"/>
                  </a:schemeClr>
                </a:solidFill>
              </a:defRPr>
            </a:lvl2pPr>
            <a:lvl3pPr marL="3959992" indent="0">
              <a:buNone/>
              <a:defRPr sz="7795">
                <a:solidFill>
                  <a:schemeClr val="tx1">
                    <a:tint val="75000"/>
                  </a:schemeClr>
                </a:solidFill>
              </a:defRPr>
            </a:lvl3pPr>
            <a:lvl4pPr marL="5939988" indent="0">
              <a:buNone/>
              <a:defRPr sz="6929">
                <a:solidFill>
                  <a:schemeClr val="tx1">
                    <a:tint val="75000"/>
                  </a:schemeClr>
                </a:solidFill>
              </a:defRPr>
            </a:lvl4pPr>
            <a:lvl5pPr marL="7919984" indent="0">
              <a:buNone/>
              <a:defRPr sz="6929">
                <a:solidFill>
                  <a:schemeClr val="tx1">
                    <a:tint val="75000"/>
                  </a:schemeClr>
                </a:solidFill>
              </a:defRPr>
            </a:lvl5pPr>
            <a:lvl6pPr marL="9899980" indent="0">
              <a:buNone/>
              <a:defRPr sz="6929">
                <a:solidFill>
                  <a:schemeClr val="tx1">
                    <a:tint val="75000"/>
                  </a:schemeClr>
                </a:solidFill>
              </a:defRPr>
            </a:lvl6pPr>
            <a:lvl7pPr marL="11879976" indent="0">
              <a:buNone/>
              <a:defRPr sz="6929">
                <a:solidFill>
                  <a:schemeClr val="tx1">
                    <a:tint val="75000"/>
                  </a:schemeClr>
                </a:solidFill>
              </a:defRPr>
            </a:lvl7pPr>
            <a:lvl8pPr marL="13859972" indent="0">
              <a:buNone/>
              <a:defRPr sz="6929">
                <a:solidFill>
                  <a:schemeClr val="tx1">
                    <a:tint val="75000"/>
                  </a:schemeClr>
                </a:solidFill>
              </a:defRPr>
            </a:lvl8pPr>
            <a:lvl9pPr marL="15839968" indent="0">
              <a:buNone/>
              <a:defRPr sz="692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917FBB-CBD9-8F4F-AB75-73FE79BCDBC7}"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584369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22513" y="10541716"/>
            <a:ext cx="16830080" cy="25125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0047595" y="10541716"/>
            <a:ext cx="16830080" cy="25125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917FBB-CBD9-8F4F-AB75-73FE79BCDBC7}"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4101773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108352"/>
            <a:ext cx="34155162" cy="765420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727675" y="9707549"/>
            <a:ext cx="16752733" cy="4757520"/>
          </a:xfrm>
        </p:spPr>
        <p:txBody>
          <a:bodyPr anchor="b"/>
          <a:lstStyle>
            <a:lvl1pPr marL="0" indent="0">
              <a:buNone/>
              <a:defRPr sz="10394" b="1"/>
            </a:lvl1pPr>
            <a:lvl2pPr marL="1979996" indent="0">
              <a:buNone/>
              <a:defRPr sz="8661" b="1"/>
            </a:lvl2pPr>
            <a:lvl3pPr marL="3959992" indent="0">
              <a:buNone/>
              <a:defRPr sz="7795" b="1"/>
            </a:lvl3pPr>
            <a:lvl4pPr marL="5939988" indent="0">
              <a:buNone/>
              <a:defRPr sz="6929" b="1"/>
            </a:lvl4pPr>
            <a:lvl5pPr marL="7919984" indent="0">
              <a:buNone/>
              <a:defRPr sz="6929" b="1"/>
            </a:lvl5pPr>
            <a:lvl6pPr marL="9899980" indent="0">
              <a:buNone/>
              <a:defRPr sz="6929" b="1"/>
            </a:lvl6pPr>
            <a:lvl7pPr marL="11879976" indent="0">
              <a:buNone/>
              <a:defRPr sz="6929" b="1"/>
            </a:lvl7pPr>
            <a:lvl8pPr marL="13859972" indent="0">
              <a:buNone/>
              <a:defRPr sz="6929" b="1"/>
            </a:lvl8pPr>
            <a:lvl9pPr marL="15839968" indent="0">
              <a:buNone/>
              <a:defRPr sz="6929" b="1"/>
            </a:lvl9pPr>
          </a:lstStyle>
          <a:p>
            <a:pPr lvl="0"/>
            <a:r>
              <a:rPr lang="en-US"/>
              <a:t>Click to edit Master text styles</a:t>
            </a:r>
          </a:p>
        </p:txBody>
      </p:sp>
      <p:sp>
        <p:nvSpPr>
          <p:cNvPr id="4" name="Content Placeholder 3"/>
          <p:cNvSpPr>
            <a:spLocks noGrp="1"/>
          </p:cNvSpPr>
          <p:nvPr>
            <p:ph sz="half" idx="2"/>
          </p:nvPr>
        </p:nvSpPr>
        <p:spPr>
          <a:xfrm>
            <a:off x="2727675" y="14465069"/>
            <a:ext cx="16752733" cy="2127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0047597" y="9707549"/>
            <a:ext cx="16835238" cy="4757520"/>
          </a:xfrm>
        </p:spPr>
        <p:txBody>
          <a:bodyPr anchor="b"/>
          <a:lstStyle>
            <a:lvl1pPr marL="0" indent="0">
              <a:buNone/>
              <a:defRPr sz="10394" b="1"/>
            </a:lvl1pPr>
            <a:lvl2pPr marL="1979996" indent="0">
              <a:buNone/>
              <a:defRPr sz="8661" b="1"/>
            </a:lvl2pPr>
            <a:lvl3pPr marL="3959992" indent="0">
              <a:buNone/>
              <a:defRPr sz="7795" b="1"/>
            </a:lvl3pPr>
            <a:lvl4pPr marL="5939988" indent="0">
              <a:buNone/>
              <a:defRPr sz="6929" b="1"/>
            </a:lvl4pPr>
            <a:lvl5pPr marL="7919984" indent="0">
              <a:buNone/>
              <a:defRPr sz="6929" b="1"/>
            </a:lvl5pPr>
            <a:lvl6pPr marL="9899980" indent="0">
              <a:buNone/>
              <a:defRPr sz="6929" b="1"/>
            </a:lvl6pPr>
            <a:lvl7pPr marL="11879976" indent="0">
              <a:buNone/>
              <a:defRPr sz="6929" b="1"/>
            </a:lvl7pPr>
            <a:lvl8pPr marL="13859972" indent="0">
              <a:buNone/>
              <a:defRPr sz="6929" b="1"/>
            </a:lvl8pPr>
            <a:lvl9pPr marL="15839968" indent="0">
              <a:buNone/>
              <a:defRPr sz="6929" b="1"/>
            </a:lvl9pPr>
          </a:lstStyle>
          <a:p>
            <a:pPr lvl="0"/>
            <a:r>
              <a:rPr lang="en-US"/>
              <a:t>Click to edit Master text styles</a:t>
            </a:r>
          </a:p>
        </p:txBody>
      </p:sp>
      <p:sp>
        <p:nvSpPr>
          <p:cNvPr id="6" name="Content Placeholder 5"/>
          <p:cNvSpPr>
            <a:spLocks noGrp="1"/>
          </p:cNvSpPr>
          <p:nvPr>
            <p:ph sz="quarter" idx="4"/>
          </p:nvPr>
        </p:nvSpPr>
        <p:spPr>
          <a:xfrm>
            <a:off x="20047597" y="14465069"/>
            <a:ext cx="16835238" cy="2127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917FBB-CBD9-8F4F-AB75-73FE79BCDBC7}" type="datetimeFigureOut">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2891131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917FBB-CBD9-8F4F-AB75-73FE79BCDBC7}" type="datetimeFigureOut">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28262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917FBB-CBD9-8F4F-AB75-73FE79BCDBC7}" type="datetimeFigureOut">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4026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640012"/>
            <a:ext cx="12772091" cy="9240044"/>
          </a:xfrm>
        </p:spPr>
        <p:txBody>
          <a:bodyPr anchor="b"/>
          <a:lstStyle>
            <a:lvl1pPr>
              <a:defRPr sz="13858"/>
            </a:lvl1pPr>
          </a:lstStyle>
          <a:p>
            <a:r>
              <a:rPr lang="en-US"/>
              <a:t>Click to edit Master title style</a:t>
            </a:r>
            <a:endParaRPr lang="en-US" dirty="0"/>
          </a:p>
        </p:txBody>
      </p:sp>
      <p:sp>
        <p:nvSpPr>
          <p:cNvPr id="3" name="Content Placeholder 2"/>
          <p:cNvSpPr>
            <a:spLocks noGrp="1"/>
          </p:cNvSpPr>
          <p:nvPr>
            <p:ph idx="1"/>
          </p:nvPr>
        </p:nvSpPr>
        <p:spPr>
          <a:xfrm>
            <a:off x="16835238" y="5701703"/>
            <a:ext cx="20047595" cy="28141800"/>
          </a:xfrm>
        </p:spPr>
        <p:txBody>
          <a:bodyPr/>
          <a:lstStyle>
            <a:lvl1pPr>
              <a:defRPr sz="13858"/>
            </a:lvl1pPr>
            <a:lvl2pPr>
              <a:defRPr sz="12126"/>
            </a:lvl2pPr>
            <a:lvl3pPr>
              <a:defRPr sz="10394"/>
            </a:lvl3pPr>
            <a:lvl4pPr>
              <a:defRPr sz="8661"/>
            </a:lvl4pPr>
            <a:lvl5pPr>
              <a:defRPr sz="8661"/>
            </a:lvl5pPr>
            <a:lvl6pPr>
              <a:defRPr sz="8661"/>
            </a:lvl6pPr>
            <a:lvl7pPr>
              <a:defRPr sz="8661"/>
            </a:lvl7pPr>
            <a:lvl8pPr>
              <a:defRPr sz="8661"/>
            </a:lvl8pPr>
            <a:lvl9pPr>
              <a:defRPr sz="866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27671" y="11880056"/>
            <a:ext cx="12772091" cy="22009274"/>
          </a:xfrm>
        </p:spPr>
        <p:txBody>
          <a:bodyPr/>
          <a:lstStyle>
            <a:lvl1pPr marL="0" indent="0">
              <a:buNone/>
              <a:defRPr sz="6929"/>
            </a:lvl1pPr>
            <a:lvl2pPr marL="1979996" indent="0">
              <a:buNone/>
              <a:defRPr sz="6063"/>
            </a:lvl2pPr>
            <a:lvl3pPr marL="3959992" indent="0">
              <a:buNone/>
              <a:defRPr sz="5197"/>
            </a:lvl3pPr>
            <a:lvl4pPr marL="5939988" indent="0">
              <a:buNone/>
              <a:defRPr sz="4331"/>
            </a:lvl4pPr>
            <a:lvl5pPr marL="7919984" indent="0">
              <a:buNone/>
              <a:defRPr sz="4331"/>
            </a:lvl5pPr>
            <a:lvl6pPr marL="9899980" indent="0">
              <a:buNone/>
              <a:defRPr sz="4331"/>
            </a:lvl6pPr>
            <a:lvl7pPr marL="11879976" indent="0">
              <a:buNone/>
              <a:defRPr sz="4331"/>
            </a:lvl7pPr>
            <a:lvl8pPr marL="13859972" indent="0">
              <a:buNone/>
              <a:defRPr sz="4331"/>
            </a:lvl8pPr>
            <a:lvl9pPr marL="15839968" indent="0">
              <a:buNone/>
              <a:defRPr sz="4331"/>
            </a:lvl9pPr>
          </a:lstStyle>
          <a:p>
            <a:pPr lvl="0"/>
            <a:r>
              <a:rPr lang="en-US"/>
              <a:t>Click to edit Master text styles</a:t>
            </a:r>
          </a:p>
        </p:txBody>
      </p:sp>
      <p:sp>
        <p:nvSpPr>
          <p:cNvPr id="5" name="Date Placeholder 4"/>
          <p:cNvSpPr>
            <a:spLocks noGrp="1"/>
          </p:cNvSpPr>
          <p:nvPr>
            <p:ph type="dt" sz="half" idx="10"/>
          </p:nvPr>
        </p:nvSpPr>
        <p:spPr/>
        <p:txBody>
          <a:bodyPr/>
          <a:lstStyle/>
          <a:p>
            <a:fld id="{2D917FBB-CBD9-8F4F-AB75-73FE79BCDBC7}"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4146195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640012"/>
            <a:ext cx="12772091" cy="9240044"/>
          </a:xfrm>
        </p:spPr>
        <p:txBody>
          <a:bodyPr anchor="b"/>
          <a:lstStyle>
            <a:lvl1pPr>
              <a:defRPr sz="13858"/>
            </a:lvl1pPr>
          </a:lstStyle>
          <a:p>
            <a:r>
              <a:rPr lang="en-US"/>
              <a:t>Click to edit Master title style</a:t>
            </a:r>
            <a:endParaRPr lang="en-US" dirty="0"/>
          </a:p>
        </p:txBody>
      </p:sp>
      <p:sp>
        <p:nvSpPr>
          <p:cNvPr id="3" name="Picture Placeholder 2"/>
          <p:cNvSpPr>
            <a:spLocks noGrp="1" noChangeAspect="1"/>
          </p:cNvSpPr>
          <p:nvPr>
            <p:ph type="pic" idx="1"/>
          </p:nvPr>
        </p:nvSpPr>
        <p:spPr>
          <a:xfrm>
            <a:off x="16835238" y="5701703"/>
            <a:ext cx="20047595" cy="28141800"/>
          </a:xfrm>
        </p:spPr>
        <p:txBody>
          <a:bodyPr anchor="t"/>
          <a:lstStyle>
            <a:lvl1pPr marL="0" indent="0">
              <a:buNone/>
              <a:defRPr sz="13858"/>
            </a:lvl1pPr>
            <a:lvl2pPr marL="1979996" indent="0">
              <a:buNone/>
              <a:defRPr sz="12126"/>
            </a:lvl2pPr>
            <a:lvl3pPr marL="3959992" indent="0">
              <a:buNone/>
              <a:defRPr sz="10394"/>
            </a:lvl3pPr>
            <a:lvl4pPr marL="5939988" indent="0">
              <a:buNone/>
              <a:defRPr sz="8661"/>
            </a:lvl4pPr>
            <a:lvl5pPr marL="7919984" indent="0">
              <a:buNone/>
              <a:defRPr sz="8661"/>
            </a:lvl5pPr>
            <a:lvl6pPr marL="9899980" indent="0">
              <a:buNone/>
              <a:defRPr sz="8661"/>
            </a:lvl6pPr>
            <a:lvl7pPr marL="11879976" indent="0">
              <a:buNone/>
              <a:defRPr sz="8661"/>
            </a:lvl7pPr>
            <a:lvl8pPr marL="13859972" indent="0">
              <a:buNone/>
              <a:defRPr sz="8661"/>
            </a:lvl8pPr>
            <a:lvl9pPr marL="15839968" indent="0">
              <a:buNone/>
              <a:defRPr sz="8661"/>
            </a:lvl9pPr>
          </a:lstStyle>
          <a:p>
            <a:r>
              <a:rPr lang="en-US"/>
              <a:t>Click icon to add picture</a:t>
            </a:r>
            <a:endParaRPr lang="en-US" dirty="0"/>
          </a:p>
        </p:txBody>
      </p:sp>
      <p:sp>
        <p:nvSpPr>
          <p:cNvPr id="4" name="Text Placeholder 3"/>
          <p:cNvSpPr>
            <a:spLocks noGrp="1"/>
          </p:cNvSpPr>
          <p:nvPr>
            <p:ph type="body" sz="half" idx="2"/>
          </p:nvPr>
        </p:nvSpPr>
        <p:spPr>
          <a:xfrm>
            <a:off x="2727671" y="11880056"/>
            <a:ext cx="12772091" cy="22009274"/>
          </a:xfrm>
        </p:spPr>
        <p:txBody>
          <a:bodyPr/>
          <a:lstStyle>
            <a:lvl1pPr marL="0" indent="0">
              <a:buNone/>
              <a:defRPr sz="6929"/>
            </a:lvl1pPr>
            <a:lvl2pPr marL="1979996" indent="0">
              <a:buNone/>
              <a:defRPr sz="6063"/>
            </a:lvl2pPr>
            <a:lvl3pPr marL="3959992" indent="0">
              <a:buNone/>
              <a:defRPr sz="5197"/>
            </a:lvl3pPr>
            <a:lvl4pPr marL="5939988" indent="0">
              <a:buNone/>
              <a:defRPr sz="4331"/>
            </a:lvl4pPr>
            <a:lvl5pPr marL="7919984" indent="0">
              <a:buNone/>
              <a:defRPr sz="4331"/>
            </a:lvl5pPr>
            <a:lvl6pPr marL="9899980" indent="0">
              <a:buNone/>
              <a:defRPr sz="4331"/>
            </a:lvl6pPr>
            <a:lvl7pPr marL="11879976" indent="0">
              <a:buNone/>
              <a:defRPr sz="4331"/>
            </a:lvl7pPr>
            <a:lvl8pPr marL="13859972" indent="0">
              <a:buNone/>
              <a:defRPr sz="4331"/>
            </a:lvl8pPr>
            <a:lvl9pPr marL="15839968" indent="0">
              <a:buNone/>
              <a:defRPr sz="4331"/>
            </a:lvl9pPr>
          </a:lstStyle>
          <a:p>
            <a:pPr lvl="0"/>
            <a:r>
              <a:rPr lang="en-US"/>
              <a:t>Click to edit Master text styles</a:t>
            </a:r>
          </a:p>
        </p:txBody>
      </p:sp>
      <p:sp>
        <p:nvSpPr>
          <p:cNvPr id="5" name="Date Placeholder 4"/>
          <p:cNvSpPr>
            <a:spLocks noGrp="1"/>
          </p:cNvSpPr>
          <p:nvPr>
            <p:ph type="dt" sz="half" idx="10"/>
          </p:nvPr>
        </p:nvSpPr>
        <p:spPr/>
        <p:txBody>
          <a:bodyPr/>
          <a:lstStyle/>
          <a:p>
            <a:fld id="{2D917FBB-CBD9-8F4F-AB75-73FE79BCDBC7}"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1243536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917FBB-CBD9-8F4F-AB75-73FE79BCDBC7}"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579617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338886" y="2108343"/>
            <a:ext cx="8538791" cy="335593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722515" y="2108343"/>
            <a:ext cx="25121369" cy="335593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917FBB-CBD9-8F4F-AB75-73FE79BCDBC7}"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FD3588-A541-8345-9C13-692B8C63FC0F}" type="slidenum">
              <a:rPr lang="en-US" smtClean="0"/>
              <a:t>‹#›</a:t>
            </a:fld>
            <a:endParaRPr lang="en-US"/>
          </a:p>
        </p:txBody>
      </p:sp>
    </p:spTree>
    <p:extLst>
      <p:ext uri="{BB962C8B-B14F-4D97-AF65-F5344CB8AC3E}">
        <p14:creationId xmlns:p14="http://schemas.microsoft.com/office/powerpoint/2010/main" val="3372193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22513" y="2108352"/>
            <a:ext cx="34155162" cy="765420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722513" y="10541716"/>
            <a:ext cx="34155162" cy="251259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22513" y="36703516"/>
            <a:ext cx="8910042" cy="2108343"/>
          </a:xfrm>
          <a:prstGeom prst="rect">
            <a:avLst/>
          </a:prstGeom>
        </p:spPr>
        <p:txBody>
          <a:bodyPr vert="horz" lIns="91440" tIns="45720" rIns="91440" bIns="45720" rtlCol="0" anchor="ctr"/>
          <a:lstStyle>
            <a:lvl1pPr algn="l">
              <a:defRPr sz="5197">
                <a:solidFill>
                  <a:schemeClr val="tx1">
                    <a:tint val="75000"/>
                  </a:schemeClr>
                </a:solidFill>
              </a:defRPr>
            </a:lvl1pPr>
          </a:lstStyle>
          <a:p>
            <a:fld id="{2D917FBB-CBD9-8F4F-AB75-73FE79BCDBC7}" type="datetimeFigureOut">
              <a:rPr lang="en-US" smtClean="0"/>
              <a:t>5/30/2026</a:t>
            </a:fld>
            <a:endParaRPr lang="en-US"/>
          </a:p>
        </p:txBody>
      </p:sp>
      <p:sp>
        <p:nvSpPr>
          <p:cNvPr id="5" name="Footer Placeholder 4"/>
          <p:cNvSpPr>
            <a:spLocks noGrp="1"/>
          </p:cNvSpPr>
          <p:nvPr>
            <p:ph type="ftr" sz="quarter" idx="3"/>
          </p:nvPr>
        </p:nvSpPr>
        <p:spPr>
          <a:xfrm>
            <a:off x="13117563" y="36703516"/>
            <a:ext cx="13365063" cy="2108343"/>
          </a:xfrm>
          <a:prstGeom prst="rect">
            <a:avLst/>
          </a:prstGeom>
        </p:spPr>
        <p:txBody>
          <a:bodyPr vert="horz" lIns="91440" tIns="45720" rIns="91440" bIns="45720" rtlCol="0" anchor="ctr"/>
          <a:lstStyle>
            <a:lvl1pPr algn="ctr">
              <a:defRPr sz="5197">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967633" y="36703516"/>
            <a:ext cx="8910042" cy="2108343"/>
          </a:xfrm>
          <a:prstGeom prst="rect">
            <a:avLst/>
          </a:prstGeom>
        </p:spPr>
        <p:txBody>
          <a:bodyPr vert="horz" lIns="91440" tIns="45720" rIns="91440" bIns="45720" rtlCol="0" anchor="ctr"/>
          <a:lstStyle>
            <a:lvl1pPr algn="r">
              <a:defRPr sz="5197">
                <a:solidFill>
                  <a:schemeClr val="tx1">
                    <a:tint val="75000"/>
                  </a:schemeClr>
                </a:solidFill>
              </a:defRPr>
            </a:lvl1pPr>
          </a:lstStyle>
          <a:p>
            <a:fld id="{65FD3588-A541-8345-9C13-692B8C63FC0F}" type="slidenum">
              <a:rPr lang="en-US" smtClean="0"/>
              <a:t>‹#›</a:t>
            </a:fld>
            <a:endParaRPr lang="en-US"/>
          </a:p>
        </p:txBody>
      </p:sp>
    </p:spTree>
    <p:extLst>
      <p:ext uri="{BB962C8B-B14F-4D97-AF65-F5344CB8AC3E}">
        <p14:creationId xmlns:p14="http://schemas.microsoft.com/office/powerpoint/2010/main" val="42712286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959992" rtl="0" eaLnBrk="1" latinLnBrk="0" hangingPunct="1">
        <a:lnSpc>
          <a:spcPct val="90000"/>
        </a:lnSpc>
        <a:spcBef>
          <a:spcPct val="0"/>
        </a:spcBef>
        <a:buNone/>
        <a:defRPr sz="19055" kern="1200">
          <a:solidFill>
            <a:schemeClr val="tx1"/>
          </a:solidFill>
          <a:latin typeface="+mj-lt"/>
          <a:ea typeface="+mj-ea"/>
          <a:cs typeface="+mj-cs"/>
        </a:defRPr>
      </a:lvl1pPr>
    </p:titleStyle>
    <p:bodyStyle>
      <a:lvl1pPr marL="989998" indent="-989998" algn="l" defTabSz="3959992" rtl="0" eaLnBrk="1" latinLnBrk="0" hangingPunct="1">
        <a:lnSpc>
          <a:spcPct val="90000"/>
        </a:lnSpc>
        <a:spcBef>
          <a:spcPts val="4331"/>
        </a:spcBef>
        <a:buFont typeface="Arial" panose="020B0604020202020204" pitchFamily="34" charset="0"/>
        <a:buChar char="•"/>
        <a:defRPr sz="12126" kern="1200">
          <a:solidFill>
            <a:schemeClr val="tx1"/>
          </a:solidFill>
          <a:latin typeface="+mn-lt"/>
          <a:ea typeface="+mn-ea"/>
          <a:cs typeface="+mn-cs"/>
        </a:defRPr>
      </a:lvl1pPr>
      <a:lvl2pPr marL="2969994" indent="-989998" algn="l" defTabSz="3959992" rtl="0" eaLnBrk="1" latinLnBrk="0" hangingPunct="1">
        <a:lnSpc>
          <a:spcPct val="90000"/>
        </a:lnSpc>
        <a:spcBef>
          <a:spcPts val="2165"/>
        </a:spcBef>
        <a:buFont typeface="Arial" panose="020B0604020202020204" pitchFamily="34" charset="0"/>
        <a:buChar char="•"/>
        <a:defRPr sz="10394" kern="1200">
          <a:solidFill>
            <a:schemeClr val="tx1"/>
          </a:solidFill>
          <a:latin typeface="+mn-lt"/>
          <a:ea typeface="+mn-ea"/>
          <a:cs typeface="+mn-cs"/>
        </a:defRPr>
      </a:lvl2pPr>
      <a:lvl3pPr marL="4949990" indent="-989998" algn="l" defTabSz="3959992" rtl="0" eaLnBrk="1" latinLnBrk="0" hangingPunct="1">
        <a:lnSpc>
          <a:spcPct val="90000"/>
        </a:lnSpc>
        <a:spcBef>
          <a:spcPts val="2165"/>
        </a:spcBef>
        <a:buFont typeface="Arial" panose="020B0604020202020204" pitchFamily="34" charset="0"/>
        <a:buChar char="•"/>
        <a:defRPr sz="8661" kern="1200">
          <a:solidFill>
            <a:schemeClr val="tx1"/>
          </a:solidFill>
          <a:latin typeface="+mn-lt"/>
          <a:ea typeface="+mn-ea"/>
          <a:cs typeface="+mn-cs"/>
        </a:defRPr>
      </a:lvl3pPr>
      <a:lvl4pPr marL="6929986"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4pPr>
      <a:lvl5pPr marL="8909982"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5pPr>
      <a:lvl6pPr marL="10889978"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6pPr>
      <a:lvl7pPr marL="12869974"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7pPr>
      <a:lvl8pPr marL="14849970"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8pPr>
      <a:lvl9pPr marL="16829966"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9pPr>
    </p:bodyStyle>
    <p:otherStyle>
      <a:defPPr>
        <a:defRPr lang="en-US"/>
      </a:defPPr>
      <a:lvl1pPr marL="0" algn="l" defTabSz="3959992" rtl="0" eaLnBrk="1" latinLnBrk="0" hangingPunct="1">
        <a:defRPr sz="7795" kern="1200">
          <a:solidFill>
            <a:schemeClr val="tx1"/>
          </a:solidFill>
          <a:latin typeface="+mn-lt"/>
          <a:ea typeface="+mn-ea"/>
          <a:cs typeface="+mn-cs"/>
        </a:defRPr>
      </a:lvl1pPr>
      <a:lvl2pPr marL="1979996" algn="l" defTabSz="3959992" rtl="0" eaLnBrk="1" latinLnBrk="0" hangingPunct="1">
        <a:defRPr sz="7795" kern="1200">
          <a:solidFill>
            <a:schemeClr val="tx1"/>
          </a:solidFill>
          <a:latin typeface="+mn-lt"/>
          <a:ea typeface="+mn-ea"/>
          <a:cs typeface="+mn-cs"/>
        </a:defRPr>
      </a:lvl2pPr>
      <a:lvl3pPr marL="3959992" algn="l" defTabSz="3959992" rtl="0" eaLnBrk="1" latinLnBrk="0" hangingPunct="1">
        <a:defRPr sz="7795" kern="1200">
          <a:solidFill>
            <a:schemeClr val="tx1"/>
          </a:solidFill>
          <a:latin typeface="+mn-lt"/>
          <a:ea typeface="+mn-ea"/>
          <a:cs typeface="+mn-cs"/>
        </a:defRPr>
      </a:lvl3pPr>
      <a:lvl4pPr marL="5939988" algn="l" defTabSz="3959992" rtl="0" eaLnBrk="1" latinLnBrk="0" hangingPunct="1">
        <a:defRPr sz="7795" kern="1200">
          <a:solidFill>
            <a:schemeClr val="tx1"/>
          </a:solidFill>
          <a:latin typeface="+mn-lt"/>
          <a:ea typeface="+mn-ea"/>
          <a:cs typeface="+mn-cs"/>
        </a:defRPr>
      </a:lvl4pPr>
      <a:lvl5pPr marL="7919984" algn="l" defTabSz="3959992" rtl="0" eaLnBrk="1" latinLnBrk="0" hangingPunct="1">
        <a:defRPr sz="7795" kern="1200">
          <a:solidFill>
            <a:schemeClr val="tx1"/>
          </a:solidFill>
          <a:latin typeface="+mn-lt"/>
          <a:ea typeface="+mn-ea"/>
          <a:cs typeface="+mn-cs"/>
        </a:defRPr>
      </a:lvl5pPr>
      <a:lvl6pPr marL="9899980" algn="l" defTabSz="3959992" rtl="0" eaLnBrk="1" latinLnBrk="0" hangingPunct="1">
        <a:defRPr sz="7795" kern="1200">
          <a:solidFill>
            <a:schemeClr val="tx1"/>
          </a:solidFill>
          <a:latin typeface="+mn-lt"/>
          <a:ea typeface="+mn-ea"/>
          <a:cs typeface="+mn-cs"/>
        </a:defRPr>
      </a:lvl6pPr>
      <a:lvl7pPr marL="11879976" algn="l" defTabSz="3959992" rtl="0" eaLnBrk="1" latinLnBrk="0" hangingPunct="1">
        <a:defRPr sz="7795" kern="1200">
          <a:solidFill>
            <a:schemeClr val="tx1"/>
          </a:solidFill>
          <a:latin typeface="+mn-lt"/>
          <a:ea typeface="+mn-ea"/>
          <a:cs typeface="+mn-cs"/>
        </a:defRPr>
      </a:lvl7pPr>
      <a:lvl8pPr marL="13859972" algn="l" defTabSz="3959992" rtl="0" eaLnBrk="1" latinLnBrk="0" hangingPunct="1">
        <a:defRPr sz="7795" kern="1200">
          <a:solidFill>
            <a:schemeClr val="tx1"/>
          </a:solidFill>
          <a:latin typeface="+mn-lt"/>
          <a:ea typeface="+mn-ea"/>
          <a:cs typeface="+mn-cs"/>
        </a:defRPr>
      </a:lvl8pPr>
      <a:lvl9pPr marL="15839968" algn="l" defTabSz="3959992" rtl="0" eaLnBrk="1" latinLnBrk="0" hangingPunct="1">
        <a:defRPr sz="7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2.xml"/><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image" Target="../media/image2.png"/><Relationship Id="rId21" Type="http://schemas.openxmlformats.org/officeDocument/2006/relationships/image" Target="../media/image17.png"/><Relationship Id="rId7" Type="http://schemas.openxmlformats.org/officeDocument/2006/relationships/chart" Target="../charts/chart1.xml"/><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image" Target="../media/image1.png"/><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jpeg"/><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5.png"/><Relationship Id="rId14" Type="http://schemas.openxmlformats.org/officeDocument/2006/relationships/image" Target="../media/image10.png"/><Relationship Id="rId22" Type="http://schemas.openxmlformats.org/officeDocument/2006/relationships/image" Target="../media/image18.png"/></Relationships>
</file>

<file path=ppt/slides/_rels/slide2.xml.rels><?xml version="1.0" encoding="UTF-8" standalone="yes"?>
<Relationships xmlns="http://schemas.openxmlformats.org/package/2006/relationships"><Relationship Id="rId8" Type="http://schemas.openxmlformats.org/officeDocument/2006/relationships/chart" Target="../charts/chart4.xml"/><Relationship Id="rId13" Type="http://schemas.openxmlformats.org/officeDocument/2006/relationships/image" Target="../media/image7.png"/><Relationship Id="rId18" Type="http://schemas.openxmlformats.org/officeDocument/2006/relationships/image" Target="../media/image12.png"/><Relationship Id="rId3" Type="http://schemas.openxmlformats.org/officeDocument/2006/relationships/image" Target="../media/image2.png"/><Relationship Id="rId21" Type="http://schemas.openxmlformats.org/officeDocument/2006/relationships/image" Target="../media/image15.png"/><Relationship Id="rId7" Type="http://schemas.openxmlformats.org/officeDocument/2006/relationships/chart" Target="../charts/chart3.xml"/><Relationship Id="rId12" Type="http://schemas.openxmlformats.org/officeDocument/2006/relationships/image" Target="../media/image19.png"/><Relationship Id="rId17"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0.png"/><Relationship Id="rId20"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jpeg"/><Relationship Id="rId15" Type="http://schemas.openxmlformats.org/officeDocument/2006/relationships/image" Target="../media/image9.png"/><Relationship Id="rId10" Type="http://schemas.openxmlformats.org/officeDocument/2006/relationships/image" Target="../media/image6.png"/><Relationship Id="rId19" Type="http://schemas.openxmlformats.org/officeDocument/2006/relationships/image" Target="../media/image13.png"/><Relationship Id="rId4" Type="http://schemas.microsoft.com/office/2007/relationships/hdphoto" Target="../media/hdphoto1.wdp"/><Relationship Id="rId9" Type="http://schemas.openxmlformats.org/officeDocument/2006/relationships/image" Target="../media/image5.png"/><Relationship Id="rId14" Type="http://schemas.openxmlformats.org/officeDocument/2006/relationships/image" Target="../media/image8.png"/><Relationship Id="rId22"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0"/>
          </a:schemeClr>
        </a:solidFill>
        <a:effectLst/>
      </p:bgPr>
    </p:bg>
    <p:spTree>
      <p:nvGrpSpPr>
        <p:cNvPr id="1" name=""/>
        <p:cNvGrpSpPr/>
        <p:nvPr/>
      </p:nvGrpSpPr>
      <p:grpSpPr>
        <a:xfrm>
          <a:off x="0" y="0"/>
          <a:ext cx="0" cy="0"/>
          <a:chOff x="0" y="0"/>
          <a:chExt cx="0" cy="0"/>
        </a:xfrm>
      </p:grpSpPr>
      <p:grpSp>
        <p:nvGrpSpPr>
          <p:cNvPr id="137" name="Group 136">
            <a:extLst>
              <a:ext uri="{FF2B5EF4-FFF2-40B4-BE49-F238E27FC236}">
                <a16:creationId xmlns:a16="http://schemas.microsoft.com/office/drawing/2014/main" id="{9CC28774-54C0-6D9E-F9C6-C3A1BA466157}"/>
              </a:ext>
            </a:extLst>
          </p:cNvPr>
          <p:cNvGrpSpPr/>
          <p:nvPr/>
        </p:nvGrpSpPr>
        <p:grpSpPr>
          <a:xfrm>
            <a:off x="15828656" y="-11945"/>
            <a:ext cx="23771532" cy="8910290"/>
            <a:chOff x="1896849" y="1313514"/>
            <a:chExt cx="23771532" cy="8910290"/>
          </a:xfrm>
        </p:grpSpPr>
        <p:cxnSp>
          <p:nvCxnSpPr>
            <p:cNvPr id="7" name="Straight Connector 6">
              <a:extLst>
                <a:ext uri="{FF2B5EF4-FFF2-40B4-BE49-F238E27FC236}">
                  <a16:creationId xmlns:a16="http://schemas.microsoft.com/office/drawing/2014/main" id="{C89A1474-DD9B-DC5A-1277-820769599428}"/>
                </a:ext>
              </a:extLst>
            </p:cNvPr>
            <p:cNvCxnSpPr>
              <a:cxnSpLocks/>
            </p:cNvCxnSpPr>
            <p:nvPr/>
          </p:nvCxnSpPr>
          <p:spPr>
            <a:xfrm>
              <a:off x="1896849" y="1332095"/>
              <a:ext cx="7535036" cy="2530012"/>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D257179-C6CA-F316-ADE5-8F6AA56B20D8}"/>
                </a:ext>
              </a:extLst>
            </p:cNvPr>
            <p:cNvCxnSpPr>
              <a:cxnSpLocks/>
            </p:cNvCxnSpPr>
            <p:nvPr/>
          </p:nvCxnSpPr>
          <p:spPr>
            <a:xfrm>
              <a:off x="1896849" y="1332095"/>
              <a:ext cx="9267544" cy="181500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8A2CA4-C0E4-2E3A-2932-55AF0723EAD9}"/>
                </a:ext>
              </a:extLst>
            </p:cNvPr>
            <p:cNvCxnSpPr>
              <a:cxnSpLocks/>
            </p:cNvCxnSpPr>
            <p:nvPr/>
          </p:nvCxnSpPr>
          <p:spPr>
            <a:xfrm flipV="1">
              <a:off x="9431884" y="1744597"/>
              <a:ext cx="9267544" cy="211751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091A23-7C5C-FBB6-D896-BCFA444B6B8A}"/>
                </a:ext>
              </a:extLst>
            </p:cNvPr>
            <p:cNvCxnSpPr>
              <a:cxnSpLocks/>
            </p:cNvCxnSpPr>
            <p:nvPr/>
          </p:nvCxnSpPr>
          <p:spPr>
            <a:xfrm flipV="1">
              <a:off x="9431884" y="2239599"/>
              <a:ext cx="12100057" cy="162250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52CAB6A-98A9-4BDD-9B3A-1A474BD4DA8E}"/>
                </a:ext>
              </a:extLst>
            </p:cNvPr>
            <p:cNvCxnSpPr>
              <a:cxnSpLocks/>
            </p:cNvCxnSpPr>
            <p:nvPr/>
          </p:nvCxnSpPr>
          <p:spPr>
            <a:xfrm>
              <a:off x="2416506" y="1332095"/>
              <a:ext cx="6342573" cy="2290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444D3DE-15CF-C7E0-0BC1-62142FCDCAB5}"/>
                </a:ext>
              </a:extLst>
            </p:cNvPr>
            <p:cNvCxnSpPr>
              <a:cxnSpLocks/>
            </p:cNvCxnSpPr>
            <p:nvPr/>
          </p:nvCxnSpPr>
          <p:spPr>
            <a:xfrm flipV="1">
              <a:off x="8759080" y="2597101"/>
              <a:ext cx="10109066" cy="102509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A5FE813-6B40-4C36-AA50-349C6139C51B}"/>
                </a:ext>
              </a:extLst>
            </p:cNvPr>
            <p:cNvCxnSpPr>
              <a:cxnSpLocks/>
            </p:cNvCxnSpPr>
            <p:nvPr/>
          </p:nvCxnSpPr>
          <p:spPr>
            <a:xfrm flipV="1">
              <a:off x="8759080" y="1332095"/>
              <a:ext cx="9692848" cy="2290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DB449D7-B16E-FB06-8822-0F0CE71452A6}"/>
                </a:ext>
              </a:extLst>
            </p:cNvPr>
            <p:cNvCxnSpPr>
              <a:cxnSpLocks/>
            </p:cNvCxnSpPr>
            <p:nvPr/>
          </p:nvCxnSpPr>
          <p:spPr>
            <a:xfrm flipV="1">
              <a:off x="8759080" y="1332095"/>
              <a:ext cx="12112859" cy="2290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78E60E7-3B5D-60D6-E6A2-4E26561F2678}"/>
                </a:ext>
              </a:extLst>
            </p:cNvPr>
            <p:cNvCxnSpPr>
              <a:cxnSpLocks/>
            </p:cNvCxnSpPr>
            <p:nvPr/>
          </p:nvCxnSpPr>
          <p:spPr>
            <a:xfrm flipH="1" flipV="1">
              <a:off x="18451927" y="1332095"/>
              <a:ext cx="1493226" cy="462655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CDE129F-B9A7-1406-5413-D1F73B22426E}"/>
                </a:ext>
              </a:extLst>
            </p:cNvPr>
            <p:cNvCxnSpPr>
              <a:cxnSpLocks/>
            </p:cNvCxnSpPr>
            <p:nvPr/>
          </p:nvCxnSpPr>
          <p:spPr>
            <a:xfrm flipH="1" flipV="1">
              <a:off x="18451927" y="1322804"/>
              <a:ext cx="2711971" cy="353847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305AB09-BC00-EE3B-7898-8714D3CAA6EB}"/>
                </a:ext>
              </a:extLst>
            </p:cNvPr>
            <p:cNvCxnSpPr>
              <a:cxnSpLocks/>
            </p:cNvCxnSpPr>
            <p:nvPr/>
          </p:nvCxnSpPr>
          <p:spPr>
            <a:xfrm flipH="1" flipV="1">
              <a:off x="18459276" y="1332095"/>
              <a:ext cx="2612512" cy="452495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72546FF-F0D3-605F-78D6-728442D09258}"/>
                </a:ext>
              </a:extLst>
            </p:cNvPr>
            <p:cNvCxnSpPr>
              <a:cxnSpLocks/>
            </p:cNvCxnSpPr>
            <p:nvPr/>
          </p:nvCxnSpPr>
          <p:spPr>
            <a:xfrm flipH="1" flipV="1">
              <a:off x="20938359" y="1322804"/>
              <a:ext cx="4663603" cy="518848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809AD3A-2A60-D2F9-A911-A845E56660D7}"/>
                </a:ext>
              </a:extLst>
            </p:cNvPr>
            <p:cNvCxnSpPr>
              <a:cxnSpLocks/>
            </p:cNvCxnSpPr>
            <p:nvPr/>
          </p:nvCxnSpPr>
          <p:spPr>
            <a:xfrm flipH="1" flipV="1">
              <a:off x="21519763" y="2239599"/>
              <a:ext cx="4082199" cy="258717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14E8DE0-392D-0B9E-47DE-EF59CB8F37BC}"/>
                </a:ext>
              </a:extLst>
            </p:cNvPr>
            <p:cNvCxnSpPr>
              <a:cxnSpLocks/>
            </p:cNvCxnSpPr>
            <p:nvPr/>
          </p:nvCxnSpPr>
          <p:spPr>
            <a:xfrm flipH="1" flipV="1">
              <a:off x="20938359" y="1332095"/>
              <a:ext cx="4730022" cy="889170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1BDFB32-C851-BDDF-F595-0740C7C66F30}"/>
                </a:ext>
              </a:extLst>
            </p:cNvPr>
            <p:cNvCxnSpPr>
              <a:cxnSpLocks/>
            </p:cNvCxnSpPr>
            <p:nvPr/>
          </p:nvCxnSpPr>
          <p:spPr>
            <a:xfrm flipH="1" flipV="1">
              <a:off x="21163898" y="4870568"/>
              <a:ext cx="4438063" cy="422852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8608D51-8AD6-B373-021D-F214FEC136CD}"/>
                </a:ext>
              </a:extLst>
            </p:cNvPr>
            <p:cNvCxnSpPr>
              <a:cxnSpLocks/>
            </p:cNvCxnSpPr>
            <p:nvPr/>
          </p:nvCxnSpPr>
          <p:spPr>
            <a:xfrm flipH="1" flipV="1">
              <a:off x="19945154" y="5958646"/>
              <a:ext cx="5656808" cy="314044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C962142-1338-19C1-3073-C2E5019D2292}"/>
                </a:ext>
              </a:extLst>
            </p:cNvPr>
            <p:cNvCxnSpPr>
              <a:cxnSpLocks/>
            </p:cNvCxnSpPr>
            <p:nvPr/>
          </p:nvCxnSpPr>
          <p:spPr>
            <a:xfrm flipH="1" flipV="1">
              <a:off x="21071788" y="5857052"/>
              <a:ext cx="4530173" cy="323274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CFACE06-6759-E1B8-F206-3EAB26D063A5}"/>
                </a:ext>
              </a:extLst>
            </p:cNvPr>
            <p:cNvCxnSpPr>
              <a:cxnSpLocks/>
            </p:cNvCxnSpPr>
            <p:nvPr/>
          </p:nvCxnSpPr>
          <p:spPr>
            <a:xfrm flipH="1" flipV="1">
              <a:off x="4525660" y="1322804"/>
              <a:ext cx="4240768" cy="229938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6D1242C-C666-0B51-80B8-834C658C98AA}"/>
                </a:ext>
              </a:extLst>
            </p:cNvPr>
            <p:cNvCxnSpPr>
              <a:cxnSpLocks/>
            </p:cNvCxnSpPr>
            <p:nvPr/>
          </p:nvCxnSpPr>
          <p:spPr>
            <a:xfrm flipH="1" flipV="1">
              <a:off x="5710774" y="1322803"/>
              <a:ext cx="3728459" cy="253930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35A5FE8-F144-A0A2-57CE-19ACB8A7C310}"/>
                </a:ext>
              </a:extLst>
            </p:cNvPr>
            <p:cNvCxnSpPr>
              <a:cxnSpLocks/>
            </p:cNvCxnSpPr>
            <p:nvPr/>
          </p:nvCxnSpPr>
          <p:spPr>
            <a:xfrm>
              <a:off x="18451927" y="1313514"/>
              <a:ext cx="5981119" cy="74621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6A0E8B3-DE0C-7CBD-A818-36888BA84E4D}"/>
                </a:ext>
              </a:extLst>
            </p:cNvPr>
            <p:cNvCxnSpPr>
              <a:cxnSpLocks/>
            </p:cNvCxnSpPr>
            <p:nvPr/>
          </p:nvCxnSpPr>
          <p:spPr>
            <a:xfrm flipH="1" flipV="1">
              <a:off x="24433046" y="2067511"/>
              <a:ext cx="92110" cy="602482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DB26006-B248-7AF8-F01E-C0FBB6E900DC}"/>
                </a:ext>
              </a:extLst>
            </p:cNvPr>
            <p:cNvCxnSpPr>
              <a:cxnSpLocks/>
            </p:cNvCxnSpPr>
            <p:nvPr/>
          </p:nvCxnSpPr>
          <p:spPr>
            <a:xfrm flipH="1" flipV="1">
              <a:off x="24433046" y="2067511"/>
              <a:ext cx="1148185" cy="445306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634535F8-22EB-4629-9509-2ABE080EC0E0}"/>
                </a:ext>
              </a:extLst>
            </p:cNvPr>
            <p:cNvCxnSpPr>
              <a:cxnSpLocks/>
            </p:cNvCxnSpPr>
            <p:nvPr/>
          </p:nvCxnSpPr>
          <p:spPr>
            <a:xfrm flipH="1" flipV="1">
              <a:off x="24433046" y="2067511"/>
              <a:ext cx="1168915" cy="276642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720C049-AB28-E343-E229-DB0B4A639BCF}"/>
                </a:ext>
              </a:extLst>
            </p:cNvPr>
            <p:cNvCxnSpPr>
              <a:cxnSpLocks/>
            </p:cNvCxnSpPr>
            <p:nvPr/>
          </p:nvCxnSpPr>
          <p:spPr>
            <a:xfrm flipH="1" flipV="1">
              <a:off x="20885676" y="1330260"/>
              <a:ext cx="4716285" cy="775953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63440E44-ACD0-48AF-D3A8-AD29308F4836}"/>
              </a:ext>
            </a:extLst>
          </p:cNvPr>
          <p:cNvGrpSpPr/>
          <p:nvPr/>
        </p:nvGrpSpPr>
        <p:grpSpPr>
          <a:xfrm>
            <a:off x="-10437" y="33415598"/>
            <a:ext cx="14148985" cy="6184590"/>
            <a:chOff x="-14043573" y="24939249"/>
            <a:chExt cx="14148985" cy="6184590"/>
          </a:xfrm>
        </p:grpSpPr>
        <p:cxnSp>
          <p:nvCxnSpPr>
            <p:cNvPr id="121" name="Straight Connector 120">
              <a:extLst>
                <a:ext uri="{FF2B5EF4-FFF2-40B4-BE49-F238E27FC236}">
                  <a16:creationId xmlns:a16="http://schemas.microsoft.com/office/drawing/2014/main" id="{C8413626-5149-1C25-BF27-B7920150FEBC}"/>
                </a:ext>
              </a:extLst>
            </p:cNvPr>
            <p:cNvCxnSpPr>
              <a:cxnSpLocks/>
            </p:cNvCxnSpPr>
            <p:nvPr/>
          </p:nvCxnSpPr>
          <p:spPr>
            <a:xfrm>
              <a:off x="-3852434" y="28586256"/>
              <a:ext cx="3957846" cy="253758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D6F5405B-CDB0-F487-CECE-D85DBAAD77C6}"/>
                </a:ext>
              </a:extLst>
            </p:cNvPr>
            <p:cNvCxnSpPr>
              <a:cxnSpLocks/>
            </p:cNvCxnSpPr>
            <p:nvPr/>
          </p:nvCxnSpPr>
          <p:spPr>
            <a:xfrm>
              <a:off x="-13998227" y="25963190"/>
              <a:ext cx="10145792" cy="260848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A587EF1-6017-1414-A343-DD1047F75A2D}"/>
                </a:ext>
              </a:extLst>
            </p:cNvPr>
            <p:cNvCxnSpPr>
              <a:cxnSpLocks/>
            </p:cNvCxnSpPr>
            <p:nvPr/>
          </p:nvCxnSpPr>
          <p:spPr>
            <a:xfrm flipV="1">
              <a:off x="-13998227" y="28574777"/>
              <a:ext cx="10145792" cy="165147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045CA1B-1C19-E5B3-3F53-AB0D8D4EC429}"/>
                </a:ext>
              </a:extLst>
            </p:cNvPr>
            <p:cNvCxnSpPr>
              <a:cxnSpLocks/>
            </p:cNvCxnSpPr>
            <p:nvPr/>
          </p:nvCxnSpPr>
          <p:spPr>
            <a:xfrm flipV="1">
              <a:off x="-11944494" y="29525579"/>
              <a:ext cx="2281926" cy="1506656"/>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5DABABA2-D12A-A0BF-DB70-1B631951A924}"/>
                </a:ext>
              </a:extLst>
            </p:cNvPr>
            <p:cNvCxnSpPr>
              <a:cxnSpLocks/>
            </p:cNvCxnSpPr>
            <p:nvPr/>
          </p:nvCxnSpPr>
          <p:spPr>
            <a:xfrm flipV="1">
              <a:off x="-14031870" y="29525579"/>
              <a:ext cx="4369302" cy="1506656"/>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15D4E62E-544D-CA0A-1212-790F8EF2B290}"/>
                </a:ext>
              </a:extLst>
            </p:cNvPr>
            <p:cNvCxnSpPr>
              <a:cxnSpLocks/>
            </p:cNvCxnSpPr>
            <p:nvPr/>
          </p:nvCxnSpPr>
          <p:spPr>
            <a:xfrm>
              <a:off x="-13998227" y="29525579"/>
              <a:ext cx="433565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54F1325-33C6-9A02-CC54-9116611E7154}"/>
                </a:ext>
              </a:extLst>
            </p:cNvPr>
            <p:cNvCxnSpPr>
              <a:cxnSpLocks/>
            </p:cNvCxnSpPr>
            <p:nvPr/>
          </p:nvCxnSpPr>
          <p:spPr>
            <a:xfrm>
              <a:off x="-13998227" y="25963190"/>
              <a:ext cx="4321030" cy="356549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70C10DF6-E36A-0DF4-9B4C-75603E38AADD}"/>
                </a:ext>
              </a:extLst>
            </p:cNvPr>
            <p:cNvCxnSpPr>
              <a:cxnSpLocks/>
            </p:cNvCxnSpPr>
            <p:nvPr/>
          </p:nvCxnSpPr>
          <p:spPr>
            <a:xfrm>
              <a:off x="-14043573" y="24939249"/>
              <a:ext cx="4400020" cy="357610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323513A-B888-15E8-18E3-BCF4BA5D1A65}"/>
                </a:ext>
              </a:extLst>
            </p:cNvPr>
            <p:cNvCxnSpPr>
              <a:cxnSpLocks/>
            </p:cNvCxnSpPr>
            <p:nvPr/>
          </p:nvCxnSpPr>
          <p:spPr>
            <a:xfrm>
              <a:off x="-9643553" y="28515356"/>
              <a:ext cx="5791119" cy="5631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052E36DC-1405-DAF6-5891-3A01C9BAEF27}"/>
                </a:ext>
              </a:extLst>
            </p:cNvPr>
            <p:cNvCxnSpPr>
              <a:cxnSpLocks/>
            </p:cNvCxnSpPr>
            <p:nvPr/>
          </p:nvCxnSpPr>
          <p:spPr>
            <a:xfrm>
              <a:off x="-13998227" y="25960085"/>
              <a:ext cx="4335659" cy="2552166"/>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58DA5640-8229-9CAC-8E3C-A20336DFDCB1}"/>
                </a:ext>
              </a:extLst>
            </p:cNvPr>
            <p:cNvCxnSpPr>
              <a:cxnSpLocks/>
            </p:cNvCxnSpPr>
            <p:nvPr/>
          </p:nvCxnSpPr>
          <p:spPr>
            <a:xfrm flipH="1" flipV="1">
              <a:off x="-12268010" y="26414505"/>
              <a:ext cx="2590814" cy="310796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7E6F4285-299A-A3A0-650A-1CDD69F2CE1C}"/>
              </a:ext>
            </a:extLst>
          </p:cNvPr>
          <p:cNvSpPr txBox="1"/>
          <p:nvPr/>
        </p:nvSpPr>
        <p:spPr>
          <a:xfrm>
            <a:off x="645479" y="4164963"/>
            <a:ext cx="37115836" cy="3170099"/>
          </a:xfrm>
          <a:prstGeom prst="rect">
            <a:avLst/>
          </a:prstGeom>
          <a:noFill/>
        </p:spPr>
        <p:txBody>
          <a:bodyPr wrap="square" rtlCol="0">
            <a:spAutoFit/>
          </a:bodyPr>
          <a:lstStyle/>
          <a:p>
            <a:r>
              <a:rPr lang="en-US" sz="10000" b="1" dirty="0">
                <a:solidFill>
                  <a:srgbClr val="002060"/>
                </a:solidFill>
                <a:latin typeface="Aptos ExtraBold" panose="020B0004020202020204" pitchFamily="34" charset="0"/>
                <a:ea typeface="Open Sans" pitchFamily="2" charset="0"/>
                <a:cs typeface="Open Sans" pitchFamily="2" charset="0"/>
              </a:rPr>
              <a:t>Using Automation to Provide High-Quality </a:t>
            </a:r>
          </a:p>
          <a:p>
            <a:r>
              <a:rPr lang="en-US" sz="10000" b="1" dirty="0">
                <a:solidFill>
                  <a:srgbClr val="002060"/>
                </a:solidFill>
                <a:latin typeface="Aptos ExtraBold" panose="020B0004020202020204" pitchFamily="34" charset="0"/>
                <a:ea typeface="Open Sans" pitchFamily="2" charset="0"/>
                <a:cs typeface="Open Sans" pitchFamily="2" charset="0"/>
              </a:rPr>
              <a:t>Analytical Data in Drug Checking and Point of Care Services</a:t>
            </a:r>
          </a:p>
        </p:txBody>
      </p:sp>
      <p:cxnSp>
        <p:nvCxnSpPr>
          <p:cNvPr id="5" name="Straight Connector 4">
            <a:extLst>
              <a:ext uri="{FF2B5EF4-FFF2-40B4-BE49-F238E27FC236}">
                <a16:creationId xmlns:a16="http://schemas.microsoft.com/office/drawing/2014/main" id="{08984DD0-14B3-7280-B54F-CC7328BD450A}"/>
              </a:ext>
            </a:extLst>
          </p:cNvPr>
          <p:cNvCxnSpPr>
            <a:cxnSpLocks/>
          </p:cNvCxnSpPr>
          <p:nvPr/>
        </p:nvCxnSpPr>
        <p:spPr>
          <a:xfrm>
            <a:off x="764230" y="7773629"/>
            <a:ext cx="1267786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6207ED7-757F-B797-AC9F-D5A6B74394F3}"/>
              </a:ext>
            </a:extLst>
          </p:cNvPr>
          <p:cNvSpPr txBox="1"/>
          <p:nvPr/>
        </p:nvSpPr>
        <p:spPr>
          <a:xfrm>
            <a:off x="645480" y="7994278"/>
            <a:ext cx="31561506" cy="1384995"/>
          </a:xfrm>
          <a:prstGeom prst="rect">
            <a:avLst/>
          </a:prstGeom>
          <a:noFill/>
        </p:spPr>
        <p:txBody>
          <a:bodyPr wrap="square" rtlCol="0">
            <a:spAutoFit/>
          </a:bodyPr>
          <a:lstStyle/>
          <a:p>
            <a:r>
              <a:rPr lang="en-US" sz="4200" dirty="0">
                <a:solidFill>
                  <a:srgbClr val="002060"/>
                </a:solidFill>
                <a:latin typeface="Aptos" panose="020B0004020202020204" pitchFamily="34" charset="0"/>
                <a:ea typeface="Open Sans" pitchFamily="2" charset="0"/>
                <a:cs typeface="Open Sans" pitchFamily="2" charset="0"/>
              </a:rPr>
              <a:t>Clark Zhang</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Matthew E. Reish</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Rebekah Greenwood</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Guy Swain</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Rebecca Hickman</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Sara Guzman</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and Jason E. Hein</a:t>
            </a:r>
            <a:r>
              <a:rPr lang="en-US" sz="4200" baseline="30000" dirty="0">
                <a:solidFill>
                  <a:srgbClr val="002060"/>
                </a:solidFill>
                <a:latin typeface="Aptos" panose="020B0004020202020204" pitchFamily="34" charset="0"/>
                <a:ea typeface="Open Sans" pitchFamily="2" charset="0"/>
                <a:cs typeface="Open Sans" pitchFamily="2" charset="0"/>
              </a:rPr>
              <a:t>1-3</a:t>
            </a:r>
          </a:p>
          <a:p>
            <a:endParaRPr lang="en-US" sz="4200" dirty="0">
              <a:solidFill>
                <a:srgbClr val="002060"/>
              </a:solidFill>
              <a:latin typeface="Aptos" panose="020B0004020202020204" pitchFamily="34" charset="0"/>
              <a:ea typeface="Open Sans" pitchFamily="2" charset="0"/>
              <a:cs typeface="Open Sans" pitchFamily="2" charset="0"/>
            </a:endParaRPr>
          </a:p>
        </p:txBody>
      </p:sp>
      <p:sp>
        <p:nvSpPr>
          <p:cNvPr id="8" name="TextBox 7">
            <a:extLst>
              <a:ext uri="{FF2B5EF4-FFF2-40B4-BE49-F238E27FC236}">
                <a16:creationId xmlns:a16="http://schemas.microsoft.com/office/drawing/2014/main" id="{E0B862E9-8FA3-6C41-1E88-C4611C643A17}"/>
              </a:ext>
            </a:extLst>
          </p:cNvPr>
          <p:cNvSpPr txBox="1"/>
          <p:nvPr/>
        </p:nvSpPr>
        <p:spPr>
          <a:xfrm>
            <a:off x="26714015" y="35653538"/>
            <a:ext cx="15674202" cy="1631216"/>
          </a:xfrm>
          <a:prstGeom prst="rect">
            <a:avLst/>
          </a:prstGeom>
          <a:noFill/>
        </p:spPr>
        <p:txBody>
          <a:bodyPr wrap="square" rtlCol="0">
            <a:spAutoFit/>
          </a:bodyPr>
          <a:lstStyle/>
          <a:p>
            <a:r>
              <a:rPr lang="en-US" sz="2500" b="1" dirty="0">
                <a:solidFill>
                  <a:srgbClr val="002060"/>
                </a:solidFill>
                <a:latin typeface="Aptos" panose="020B0004020202020204" pitchFamily="34" charset="0"/>
                <a:ea typeface="Open Sans" pitchFamily="2" charset="0"/>
                <a:cs typeface="Open Sans" pitchFamily="2" charset="0"/>
              </a:rPr>
              <a:t>Affiliations</a:t>
            </a:r>
          </a:p>
          <a:p>
            <a:pPr marL="464072" indent="-464072">
              <a:buAutoNum type="arabicPeriod"/>
            </a:pPr>
            <a:r>
              <a:rPr lang="en-US" sz="2500" dirty="0">
                <a:solidFill>
                  <a:srgbClr val="002060"/>
                </a:solidFill>
                <a:latin typeface="Aptos" panose="020B0004020202020204" pitchFamily="34" charset="0"/>
                <a:ea typeface="Open Sans" pitchFamily="2" charset="0"/>
                <a:cs typeface="Open Sans" pitchFamily="2" charset="0"/>
              </a:rPr>
              <a:t>Department of Chemistry, The University of British Columbia, 2036 Main Mall, Vancouver</a:t>
            </a:r>
          </a:p>
          <a:p>
            <a:pPr marL="464072" indent="-464072">
              <a:buAutoNum type="arabicPeriod"/>
            </a:pPr>
            <a:r>
              <a:rPr lang="en-US" sz="2500" dirty="0">
                <a:solidFill>
                  <a:srgbClr val="002060"/>
                </a:solidFill>
                <a:latin typeface="Aptos" panose="020B0004020202020204" pitchFamily="34" charset="0"/>
                <a:ea typeface="Open Sans" pitchFamily="2" charset="0"/>
                <a:cs typeface="Open Sans" pitchFamily="2" charset="0"/>
              </a:rPr>
              <a:t>Acceleration Consortium, University of Toronto, </a:t>
            </a:r>
            <a:r>
              <a:rPr lang="fr-FR" sz="2500" dirty="0">
                <a:solidFill>
                  <a:srgbClr val="002060"/>
                </a:solidFill>
                <a:latin typeface="Aptos" panose="020B0004020202020204" pitchFamily="34" charset="0"/>
                <a:ea typeface="Open Sans" pitchFamily="2" charset="0"/>
                <a:cs typeface="Open Sans" pitchFamily="2" charset="0"/>
              </a:rPr>
              <a:t>700 </a:t>
            </a:r>
            <a:r>
              <a:rPr lang="fr-FR" sz="2500" dirty="0" err="1">
                <a:solidFill>
                  <a:srgbClr val="002060"/>
                </a:solidFill>
                <a:latin typeface="Aptos" panose="020B0004020202020204" pitchFamily="34" charset="0"/>
                <a:ea typeface="Open Sans" pitchFamily="2" charset="0"/>
                <a:cs typeface="Open Sans" pitchFamily="2" charset="0"/>
              </a:rPr>
              <a:t>University</a:t>
            </a:r>
            <a:r>
              <a:rPr lang="fr-FR" sz="2500" dirty="0">
                <a:solidFill>
                  <a:srgbClr val="002060"/>
                </a:solidFill>
                <a:latin typeface="Aptos" panose="020B0004020202020204" pitchFamily="34" charset="0"/>
                <a:ea typeface="Open Sans" pitchFamily="2" charset="0"/>
                <a:cs typeface="Open Sans" pitchFamily="2" charset="0"/>
              </a:rPr>
              <a:t> Ave suite 1001, Toronto</a:t>
            </a:r>
            <a:endParaRPr lang="en-US" sz="2500" dirty="0">
              <a:solidFill>
                <a:srgbClr val="002060"/>
              </a:solidFill>
              <a:latin typeface="Aptos" panose="020B0004020202020204" pitchFamily="34" charset="0"/>
              <a:ea typeface="Open Sans" pitchFamily="2" charset="0"/>
              <a:cs typeface="Open Sans" pitchFamily="2" charset="0"/>
            </a:endParaRPr>
          </a:p>
          <a:p>
            <a:pPr marL="464072" indent="-464072">
              <a:buAutoNum type="arabicPeriod"/>
            </a:pPr>
            <a:r>
              <a:rPr lang="en-US" sz="2500" dirty="0">
                <a:solidFill>
                  <a:srgbClr val="002060"/>
                </a:solidFill>
                <a:latin typeface="Aptos" panose="020B0004020202020204" pitchFamily="34" charset="0"/>
                <a:ea typeface="Open Sans" pitchFamily="2" charset="0"/>
                <a:cs typeface="Open Sans" pitchFamily="2" charset="0"/>
              </a:rPr>
              <a:t>Department of Chemistry, University of Bergen, </a:t>
            </a:r>
            <a:r>
              <a:rPr lang="en-US" sz="2500" dirty="0" err="1">
                <a:solidFill>
                  <a:srgbClr val="002060"/>
                </a:solidFill>
                <a:latin typeface="Aptos" panose="020B0004020202020204" pitchFamily="34" charset="0"/>
                <a:ea typeface="Open Sans" pitchFamily="2" charset="0"/>
                <a:cs typeface="Open Sans" pitchFamily="2" charset="0"/>
              </a:rPr>
              <a:t>Allégaten</a:t>
            </a:r>
            <a:r>
              <a:rPr lang="en-US" sz="2500" dirty="0">
                <a:solidFill>
                  <a:srgbClr val="002060"/>
                </a:solidFill>
                <a:latin typeface="Aptos" panose="020B0004020202020204" pitchFamily="34" charset="0"/>
                <a:ea typeface="Open Sans" pitchFamily="2" charset="0"/>
                <a:cs typeface="Open Sans" pitchFamily="2" charset="0"/>
              </a:rPr>
              <a:t> 41, 5007 Bergen, Norway</a:t>
            </a:r>
          </a:p>
        </p:txBody>
      </p:sp>
      <p:pic>
        <p:nvPicPr>
          <p:cNvPr id="15" name="Picture 14" descr="A black background with blue text&#10;&#10;Description automatically generated">
            <a:extLst>
              <a:ext uri="{FF2B5EF4-FFF2-40B4-BE49-F238E27FC236}">
                <a16:creationId xmlns:a16="http://schemas.microsoft.com/office/drawing/2014/main" id="{3E14DF7C-8AAE-3DBF-A735-2FE6B54F1C04}"/>
              </a:ext>
            </a:extLst>
          </p:cNvPr>
          <p:cNvPicPr>
            <a:picLocks noChangeAspect="1"/>
          </p:cNvPicPr>
          <p:nvPr/>
        </p:nvPicPr>
        <p:blipFill rotWithShape="1">
          <a:blip r:embed="rId2"/>
          <a:srcRect l="-1" r="-13233"/>
          <a:stretch/>
        </p:blipFill>
        <p:spPr>
          <a:xfrm>
            <a:off x="22528362" y="37707656"/>
            <a:ext cx="11452679" cy="2088705"/>
          </a:xfrm>
          <a:prstGeom prst="rect">
            <a:avLst/>
          </a:prstGeom>
        </p:spPr>
      </p:pic>
      <p:pic>
        <p:nvPicPr>
          <p:cNvPr id="332" name="Google Shape;1201;p110">
            <a:extLst>
              <a:ext uri="{FF2B5EF4-FFF2-40B4-BE49-F238E27FC236}">
                <a16:creationId xmlns:a16="http://schemas.microsoft.com/office/drawing/2014/main" id="{AA66BE0C-F17C-15B8-DC02-92FD854A45BC}"/>
              </a:ext>
            </a:extLst>
          </p:cNvPr>
          <p:cNvPicPr preferRelativeResize="0">
            <a:picLocks noChangeAspect="1" noChangeArrowheads="1"/>
          </p:cNvPicPr>
          <p:nvPr/>
        </p:nvPicPr>
        <p:blipFill>
          <a:blip r:embed="rId3">
            <a:duotone>
              <a:prstClr val="black"/>
              <a:schemeClr val="accent5">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5812032" y="37833154"/>
            <a:ext cx="2846290" cy="160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4" name="Group 153">
            <a:extLst>
              <a:ext uri="{FF2B5EF4-FFF2-40B4-BE49-F238E27FC236}">
                <a16:creationId xmlns:a16="http://schemas.microsoft.com/office/drawing/2014/main" id="{9D22B372-7EBE-1697-756D-B968A237EBC1}"/>
              </a:ext>
            </a:extLst>
          </p:cNvPr>
          <p:cNvGrpSpPr/>
          <p:nvPr/>
        </p:nvGrpSpPr>
        <p:grpSpPr>
          <a:xfrm>
            <a:off x="-92106" y="9493487"/>
            <a:ext cx="39223410" cy="25721484"/>
            <a:chOff x="712599" y="10388674"/>
            <a:chExt cx="37744342" cy="23445142"/>
          </a:xfrm>
        </p:grpSpPr>
        <p:grpSp>
          <p:nvGrpSpPr>
            <p:cNvPr id="27" name="Group 26">
              <a:extLst>
                <a:ext uri="{FF2B5EF4-FFF2-40B4-BE49-F238E27FC236}">
                  <a16:creationId xmlns:a16="http://schemas.microsoft.com/office/drawing/2014/main" id="{5FA8AED7-6332-916B-D9C1-140080DA1948}"/>
                </a:ext>
              </a:extLst>
            </p:cNvPr>
            <p:cNvGrpSpPr/>
            <p:nvPr/>
          </p:nvGrpSpPr>
          <p:grpSpPr>
            <a:xfrm>
              <a:off x="10787328" y="15149210"/>
              <a:ext cx="11980634" cy="10319434"/>
              <a:chOff x="15477892" y="9753600"/>
              <a:chExt cx="17017175" cy="14657614"/>
            </a:xfrm>
          </p:grpSpPr>
          <p:pic>
            <p:nvPicPr>
              <p:cNvPr id="9" name="Picture 8" descr="A machine with many small objects&#10;&#10;Description automatically generated with medium confidence">
                <a:extLst>
                  <a:ext uri="{FF2B5EF4-FFF2-40B4-BE49-F238E27FC236}">
                    <a16:creationId xmlns:a16="http://schemas.microsoft.com/office/drawing/2014/main" id="{95D85AB3-4DCD-EABC-29D9-01452293F7F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5532"/>
              <a:stretch/>
            </p:blipFill>
            <p:spPr>
              <a:xfrm>
                <a:off x="15958690" y="9855201"/>
                <a:ext cx="16396519" cy="13609014"/>
              </a:xfrm>
              <a:prstGeom prst="rect">
                <a:avLst/>
              </a:prstGeom>
            </p:spPr>
          </p:pic>
          <p:grpSp>
            <p:nvGrpSpPr>
              <p:cNvPr id="18" name="Group 17">
                <a:extLst>
                  <a:ext uri="{FF2B5EF4-FFF2-40B4-BE49-F238E27FC236}">
                    <a16:creationId xmlns:a16="http://schemas.microsoft.com/office/drawing/2014/main" id="{5334A433-51EB-70CB-5F62-0C69137B8539}"/>
                  </a:ext>
                </a:extLst>
              </p:cNvPr>
              <p:cNvGrpSpPr/>
              <p:nvPr/>
            </p:nvGrpSpPr>
            <p:grpSpPr>
              <a:xfrm>
                <a:off x="15477892" y="9788434"/>
                <a:ext cx="4718360" cy="14622780"/>
                <a:chOff x="15477892" y="9788434"/>
                <a:chExt cx="4718360" cy="14622780"/>
              </a:xfrm>
            </p:grpSpPr>
            <p:sp>
              <p:nvSpPr>
                <p:cNvPr id="11" name="Freeform 10">
                  <a:extLst>
                    <a:ext uri="{FF2B5EF4-FFF2-40B4-BE49-F238E27FC236}">
                      <a16:creationId xmlns:a16="http://schemas.microsoft.com/office/drawing/2014/main" id="{7FEEEBE1-18DB-C12C-1EF5-3B126DEC79E7}"/>
                    </a:ext>
                  </a:extLst>
                </p:cNvPr>
                <p:cNvSpPr/>
                <p:nvPr/>
              </p:nvSpPr>
              <p:spPr>
                <a:xfrm>
                  <a:off x="15785646" y="14597743"/>
                  <a:ext cx="2073729" cy="9813471"/>
                </a:xfrm>
                <a:custGeom>
                  <a:avLst/>
                  <a:gdLst>
                    <a:gd name="connsiteX0" fmla="*/ 653143 w 2073729"/>
                    <a:gd name="connsiteY0" fmla="*/ 9682843 h 9813471"/>
                    <a:gd name="connsiteX1" fmla="*/ 2073729 w 2073729"/>
                    <a:gd name="connsiteY1" fmla="*/ 0 h 9813471"/>
                    <a:gd name="connsiteX2" fmla="*/ 0 w 2073729"/>
                    <a:gd name="connsiteY2" fmla="*/ 65314 h 9813471"/>
                    <a:gd name="connsiteX3" fmla="*/ 16329 w 2073729"/>
                    <a:gd name="connsiteY3" fmla="*/ 9813471 h 9813471"/>
                    <a:gd name="connsiteX4" fmla="*/ 653143 w 2073729"/>
                    <a:gd name="connsiteY4" fmla="*/ 9682843 h 9813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3729" h="9813471">
                      <a:moveTo>
                        <a:pt x="653143" y="9682843"/>
                      </a:moveTo>
                      <a:lnTo>
                        <a:pt x="2073729" y="0"/>
                      </a:lnTo>
                      <a:lnTo>
                        <a:pt x="0" y="65314"/>
                      </a:lnTo>
                      <a:lnTo>
                        <a:pt x="16329" y="9813471"/>
                      </a:lnTo>
                      <a:lnTo>
                        <a:pt x="653143" y="9682843"/>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sp>
              <p:nvSpPr>
                <p:cNvPr id="13" name="Freeform 12">
                  <a:extLst>
                    <a:ext uri="{FF2B5EF4-FFF2-40B4-BE49-F238E27FC236}">
                      <a16:creationId xmlns:a16="http://schemas.microsoft.com/office/drawing/2014/main" id="{364594B9-072C-EAFA-0C99-B32CDFE3FF69}"/>
                    </a:ext>
                  </a:extLst>
                </p:cNvPr>
                <p:cNvSpPr/>
                <p:nvPr/>
              </p:nvSpPr>
              <p:spPr>
                <a:xfrm>
                  <a:off x="15477892" y="10571356"/>
                  <a:ext cx="4718360" cy="4415883"/>
                </a:xfrm>
                <a:custGeom>
                  <a:avLst/>
                  <a:gdLst>
                    <a:gd name="connsiteX0" fmla="*/ 2375210 w 4718360"/>
                    <a:gd name="connsiteY0" fmla="*/ 4087619 h 4415883"/>
                    <a:gd name="connsiteX1" fmla="*/ 2632385 w 4718360"/>
                    <a:gd name="connsiteY1" fmla="*/ 2258819 h 4415883"/>
                    <a:gd name="connsiteX2" fmla="*/ 4718360 w 4718360"/>
                    <a:gd name="connsiteY2" fmla="*/ 2315969 h 4415883"/>
                    <a:gd name="connsiteX3" fmla="*/ 4146860 w 4718360"/>
                    <a:gd name="connsiteY3" fmla="*/ 1944494 h 4415883"/>
                    <a:gd name="connsiteX4" fmla="*/ 3847018 w 4718360"/>
                    <a:gd name="connsiteY4" fmla="*/ 1892041 h 4415883"/>
                    <a:gd name="connsiteX5" fmla="*/ 3847018 w 4718360"/>
                    <a:gd name="connsiteY5" fmla="*/ 1892041 h 4415883"/>
                    <a:gd name="connsiteX6" fmla="*/ 3847018 w 4718360"/>
                    <a:gd name="connsiteY6" fmla="*/ 1892041 h 4415883"/>
                    <a:gd name="connsiteX7" fmla="*/ 3847018 w 4718360"/>
                    <a:gd name="connsiteY7" fmla="*/ 1892041 h 4415883"/>
                    <a:gd name="connsiteX8" fmla="*/ 3847018 w 4718360"/>
                    <a:gd name="connsiteY8" fmla="*/ 1892041 h 4415883"/>
                    <a:gd name="connsiteX9" fmla="*/ 3847018 w 4718360"/>
                    <a:gd name="connsiteY9" fmla="*/ 1892041 h 4415883"/>
                    <a:gd name="connsiteX10" fmla="*/ 3408607 w 4718360"/>
                    <a:gd name="connsiteY10" fmla="*/ 1528786 h 4415883"/>
                    <a:gd name="connsiteX11" fmla="*/ 3158087 w 4718360"/>
                    <a:gd name="connsiteY11" fmla="*/ 1165532 h 4415883"/>
                    <a:gd name="connsiteX12" fmla="*/ 3020300 w 4718360"/>
                    <a:gd name="connsiteY12" fmla="*/ 852381 h 4415883"/>
                    <a:gd name="connsiteX13" fmla="*/ 2945144 w 4718360"/>
                    <a:gd name="connsiteY13" fmla="*/ 413970 h 4415883"/>
                    <a:gd name="connsiteX14" fmla="*/ 2307754 w 4718360"/>
                    <a:gd name="connsiteY14" fmla="*/ 491385 h 4415883"/>
                    <a:gd name="connsiteX15" fmla="*/ 2307754 w 4718360"/>
                    <a:gd name="connsiteY15" fmla="*/ 491385 h 4415883"/>
                    <a:gd name="connsiteX16" fmla="*/ 2307754 w 4718360"/>
                    <a:gd name="connsiteY16" fmla="*/ 491385 h 4415883"/>
                    <a:gd name="connsiteX17" fmla="*/ 2307754 w 4718360"/>
                    <a:gd name="connsiteY17" fmla="*/ 491385 h 4415883"/>
                    <a:gd name="connsiteX18" fmla="*/ 0 w 4718360"/>
                    <a:gd name="connsiteY18" fmla="*/ 0 h 4415883"/>
                    <a:gd name="connsiteX19" fmla="*/ 289932 w 4718360"/>
                    <a:gd name="connsiteY19" fmla="*/ 4415883 h 4415883"/>
                    <a:gd name="connsiteX20" fmla="*/ 2375210 w 4718360"/>
                    <a:gd name="connsiteY20" fmla="*/ 4087619 h 441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18360" h="4415883">
                      <a:moveTo>
                        <a:pt x="2375210" y="4087619"/>
                      </a:moveTo>
                      <a:lnTo>
                        <a:pt x="2632385" y="2258819"/>
                      </a:lnTo>
                      <a:lnTo>
                        <a:pt x="4718360" y="2315969"/>
                      </a:lnTo>
                      <a:lnTo>
                        <a:pt x="4146860" y="1944494"/>
                      </a:lnTo>
                      <a:lnTo>
                        <a:pt x="3847018" y="1892041"/>
                      </a:lnTo>
                      <a:lnTo>
                        <a:pt x="3847018" y="1892041"/>
                      </a:lnTo>
                      <a:lnTo>
                        <a:pt x="3847018" y="1892041"/>
                      </a:lnTo>
                      <a:lnTo>
                        <a:pt x="3847018" y="1892041"/>
                      </a:lnTo>
                      <a:lnTo>
                        <a:pt x="3847018" y="1892041"/>
                      </a:lnTo>
                      <a:lnTo>
                        <a:pt x="3847018" y="1892041"/>
                      </a:lnTo>
                      <a:lnTo>
                        <a:pt x="3408607" y="1528786"/>
                      </a:lnTo>
                      <a:lnTo>
                        <a:pt x="3158087" y="1165532"/>
                      </a:lnTo>
                      <a:lnTo>
                        <a:pt x="3020300" y="852381"/>
                      </a:lnTo>
                      <a:lnTo>
                        <a:pt x="2945144" y="413970"/>
                      </a:lnTo>
                      <a:lnTo>
                        <a:pt x="2307754" y="491385"/>
                      </a:lnTo>
                      <a:lnTo>
                        <a:pt x="2307754" y="491385"/>
                      </a:lnTo>
                      <a:lnTo>
                        <a:pt x="2307754" y="491385"/>
                      </a:lnTo>
                      <a:lnTo>
                        <a:pt x="2307754" y="491385"/>
                      </a:lnTo>
                      <a:lnTo>
                        <a:pt x="0" y="0"/>
                      </a:lnTo>
                      <a:lnTo>
                        <a:pt x="289932" y="4415883"/>
                      </a:lnTo>
                      <a:lnTo>
                        <a:pt x="2375210" y="4087619"/>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sp>
              <p:nvSpPr>
                <p:cNvPr id="16" name="Freeform 15">
                  <a:extLst>
                    <a:ext uri="{FF2B5EF4-FFF2-40B4-BE49-F238E27FC236}">
                      <a16:creationId xmlns:a16="http://schemas.microsoft.com/office/drawing/2014/main" id="{5A87E806-4068-BF3E-46E0-B75728438F4D}"/>
                    </a:ext>
                  </a:extLst>
                </p:cNvPr>
                <p:cNvSpPr/>
                <p:nvPr/>
              </p:nvSpPr>
              <p:spPr>
                <a:xfrm>
                  <a:off x="15919269" y="9788434"/>
                  <a:ext cx="2795451" cy="1280160"/>
                </a:xfrm>
                <a:custGeom>
                  <a:avLst/>
                  <a:gdLst>
                    <a:gd name="connsiteX0" fmla="*/ 2795451 w 2795451"/>
                    <a:gd name="connsiteY0" fmla="*/ 34835 h 1280160"/>
                    <a:gd name="connsiteX1" fmla="*/ 2682240 w 2795451"/>
                    <a:gd name="connsiteY1" fmla="*/ 174172 h 1280160"/>
                    <a:gd name="connsiteX2" fmla="*/ 2586445 w 2795451"/>
                    <a:gd name="connsiteY2" fmla="*/ 409303 h 1280160"/>
                    <a:gd name="connsiteX3" fmla="*/ 2499360 w 2795451"/>
                    <a:gd name="connsiteY3" fmla="*/ 757646 h 1280160"/>
                    <a:gd name="connsiteX4" fmla="*/ 2299062 w 2795451"/>
                    <a:gd name="connsiteY4" fmla="*/ 783772 h 1280160"/>
                    <a:gd name="connsiteX5" fmla="*/ 2072640 w 2795451"/>
                    <a:gd name="connsiteY5" fmla="*/ 836023 h 1280160"/>
                    <a:gd name="connsiteX6" fmla="*/ 1854925 w 2795451"/>
                    <a:gd name="connsiteY6" fmla="*/ 888275 h 1280160"/>
                    <a:gd name="connsiteX7" fmla="*/ 1672045 w 2795451"/>
                    <a:gd name="connsiteY7" fmla="*/ 957943 h 1280160"/>
                    <a:gd name="connsiteX8" fmla="*/ 1645920 w 2795451"/>
                    <a:gd name="connsiteY8" fmla="*/ 1027612 h 1280160"/>
                    <a:gd name="connsiteX9" fmla="*/ 1602377 w 2795451"/>
                    <a:gd name="connsiteY9" fmla="*/ 1062446 h 1280160"/>
                    <a:gd name="connsiteX10" fmla="*/ 1593668 w 2795451"/>
                    <a:gd name="connsiteY10" fmla="*/ 1158240 h 1280160"/>
                    <a:gd name="connsiteX11" fmla="*/ 1645920 w 2795451"/>
                    <a:gd name="connsiteY11" fmla="*/ 1184366 h 1280160"/>
                    <a:gd name="connsiteX12" fmla="*/ 1706880 w 2795451"/>
                    <a:gd name="connsiteY12" fmla="*/ 1280160 h 1280160"/>
                    <a:gd name="connsiteX13" fmla="*/ 0 w 2795451"/>
                    <a:gd name="connsiteY13" fmla="*/ 905692 h 1280160"/>
                    <a:gd name="connsiteX14" fmla="*/ 26125 w 2795451"/>
                    <a:gd name="connsiteY14" fmla="*/ 0 h 1280160"/>
                    <a:gd name="connsiteX15" fmla="*/ 2795451 w 2795451"/>
                    <a:gd name="connsiteY15" fmla="*/ 34835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95451" h="1280160">
                      <a:moveTo>
                        <a:pt x="2795451" y="34835"/>
                      </a:moveTo>
                      <a:lnTo>
                        <a:pt x="2682240" y="174172"/>
                      </a:lnTo>
                      <a:lnTo>
                        <a:pt x="2586445" y="409303"/>
                      </a:lnTo>
                      <a:lnTo>
                        <a:pt x="2499360" y="757646"/>
                      </a:lnTo>
                      <a:lnTo>
                        <a:pt x="2299062" y="783772"/>
                      </a:lnTo>
                      <a:lnTo>
                        <a:pt x="2072640" y="836023"/>
                      </a:lnTo>
                      <a:lnTo>
                        <a:pt x="1854925" y="888275"/>
                      </a:lnTo>
                      <a:lnTo>
                        <a:pt x="1672045" y="957943"/>
                      </a:lnTo>
                      <a:lnTo>
                        <a:pt x="1645920" y="1027612"/>
                      </a:lnTo>
                      <a:lnTo>
                        <a:pt x="1602377" y="1062446"/>
                      </a:lnTo>
                      <a:lnTo>
                        <a:pt x="1593668" y="1158240"/>
                      </a:lnTo>
                      <a:lnTo>
                        <a:pt x="1645920" y="1184366"/>
                      </a:lnTo>
                      <a:lnTo>
                        <a:pt x="1706880" y="1280160"/>
                      </a:lnTo>
                      <a:lnTo>
                        <a:pt x="0" y="905692"/>
                      </a:lnTo>
                      <a:lnTo>
                        <a:pt x="26125" y="0"/>
                      </a:lnTo>
                      <a:lnTo>
                        <a:pt x="2795451" y="34835"/>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grpSp>
          <p:grpSp>
            <p:nvGrpSpPr>
              <p:cNvPr id="25" name="Group 24">
                <a:extLst>
                  <a:ext uri="{FF2B5EF4-FFF2-40B4-BE49-F238E27FC236}">
                    <a16:creationId xmlns:a16="http://schemas.microsoft.com/office/drawing/2014/main" id="{23B34632-0B16-9FE9-4776-99C6EDDDC782}"/>
                  </a:ext>
                </a:extLst>
              </p:cNvPr>
              <p:cNvGrpSpPr/>
              <p:nvPr/>
            </p:nvGrpSpPr>
            <p:grpSpPr>
              <a:xfrm>
                <a:off x="21842730" y="9753600"/>
                <a:ext cx="10652337" cy="12886267"/>
                <a:chOff x="21842730" y="9753600"/>
                <a:chExt cx="10652337" cy="12886267"/>
              </a:xfrm>
            </p:grpSpPr>
            <p:grpSp>
              <p:nvGrpSpPr>
                <p:cNvPr id="21" name="Group 20">
                  <a:extLst>
                    <a:ext uri="{FF2B5EF4-FFF2-40B4-BE49-F238E27FC236}">
                      <a16:creationId xmlns:a16="http://schemas.microsoft.com/office/drawing/2014/main" id="{3F04BC7F-4C6C-2BB3-63AC-5D06D5F527CE}"/>
                    </a:ext>
                  </a:extLst>
                </p:cNvPr>
                <p:cNvGrpSpPr/>
                <p:nvPr/>
              </p:nvGrpSpPr>
              <p:grpSpPr>
                <a:xfrm>
                  <a:off x="21842730" y="9753600"/>
                  <a:ext cx="10604615" cy="3810000"/>
                  <a:chOff x="21842730" y="9753600"/>
                  <a:chExt cx="10604615" cy="3810000"/>
                </a:xfrm>
              </p:grpSpPr>
              <p:sp>
                <p:nvSpPr>
                  <p:cNvPr id="19" name="Freeform 18">
                    <a:extLst>
                      <a:ext uri="{FF2B5EF4-FFF2-40B4-BE49-F238E27FC236}">
                        <a16:creationId xmlns:a16="http://schemas.microsoft.com/office/drawing/2014/main" id="{25CFF6E0-2EFB-90A1-8768-DF5ED419127E}"/>
                      </a:ext>
                    </a:extLst>
                  </p:cNvPr>
                  <p:cNvSpPr/>
                  <p:nvPr/>
                </p:nvSpPr>
                <p:spPr>
                  <a:xfrm>
                    <a:off x="21842730" y="9795510"/>
                    <a:ext cx="6206490" cy="2548890"/>
                  </a:xfrm>
                  <a:custGeom>
                    <a:avLst/>
                    <a:gdLst>
                      <a:gd name="connsiteX0" fmla="*/ 205740 w 6206490"/>
                      <a:gd name="connsiteY0" fmla="*/ 34290 h 2548890"/>
                      <a:gd name="connsiteX1" fmla="*/ 171450 w 6206490"/>
                      <a:gd name="connsiteY1" fmla="*/ 240030 h 2548890"/>
                      <a:gd name="connsiteX2" fmla="*/ 171450 w 6206490"/>
                      <a:gd name="connsiteY2" fmla="*/ 240030 h 2548890"/>
                      <a:gd name="connsiteX3" fmla="*/ 11430 w 6206490"/>
                      <a:gd name="connsiteY3" fmla="*/ 308610 h 2548890"/>
                      <a:gd name="connsiteX4" fmla="*/ 0 w 6206490"/>
                      <a:gd name="connsiteY4" fmla="*/ 400050 h 2548890"/>
                      <a:gd name="connsiteX5" fmla="*/ 80010 w 6206490"/>
                      <a:gd name="connsiteY5" fmla="*/ 662940 h 2548890"/>
                      <a:gd name="connsiteX6" fmla="*/ 137160 w 6206490"/>
                      <a:gd name="connsiteY6" fmla="*/ 880110 h 2548890"/>
                      <a:gd name="connsiteX7" fmla="*/ 91440 w 6206490"/>
                      <a:gd name="connsiteY7" fmla="*/ 1097280 h 2548890"/>
                      <a:gd name="connsiteX8" fmla="*/ 240030 w 6206490"/>
                      <a:gd name="connsiteY8" fmla="*/ 1565910 h 2548890"/>
                      <a:gd name="connsiteX9" fmla="*/ 297180 w 6206490"/>
                      <a:gd name="connsiteY9" fmla="*/ 1600200 h 2548890"/>
                      <a:gd name="connsiteX10" fmla="*/ 354330 w 6206490"/>
                      <a:gd name="connsiteY10" fmla="*/ 1874520 h 2548890"/>
                      <a:gd name="connsiteX11" fmla="*/ 422910 w 6206490"/>
                      <a:gd name="connsiteY11" fmla="*/ 2183130 h 2548890"/>
                      <a:gd name="connsiteX12" fmla="*/ 388620 w 6206490"/>
                      <a:gd name="connsiteY12" fmla="*/ 2286000 h 2548890"/>
                      <a:gd name="connsiteX13" fmla="*/ 514350 w 6206490"/>
                      <a:gd name="connsiteY13" fmla="*/ 2320290 h 2548890"/>
                      <a:gd name="connsiteX14" fmla="*/ 868680 w 6206490"/>
                      <a:gd name="connsiteY14" fmla="*/ 2548890 h 2548890"/>
                      <a:gd name="connsiteX15" fmla="*/ 1703070 w 6206490"/>
                      <a:gd name="connsiteY15" fmla="*/ 1828800 h 2548890"/>
                      <a:gd name="connsiteX16" fmla="*/ 1657350 w 6206490"/>
                      <a:gd name="connsiteY16" fmla="*/ 1703070 h 2548890"/>
                      <a:gd name="connsiteX17" fmla="*/ 1657350 w 6206490"/>
                      <a:gd name="connsiteY17" fmla="*/ 1508760 h 2548890"/>
                      <a:gd name="connsiteX18" fmla="*/ 1748790 w 6206490"/>
                      <a:gd name="connsiteY18" fmla="*/ 1131570 h 2548890"/>
                      <a:gd name="connsiteX19" fmla="*/ 1828800 w 6206490"/>
                      <a:gd name="connsiteY19" fmla="*/ 994410 h 2548890"/>
                      <a:gd name="connsiteX20" fmla="*/ 1977390 w 6206490"/>
                      <a:gd name="connsiteY20" fmla="*/ 777240 h 2548890"/>
                      <a:gd name="connsiteX21" fmla="*/ 2205990 w 6206490"/>
                      <a:gd name="connsiteY21" fmla="*/ 514350 h 2548890"/>
                      <a:gd name="connsiteX22" fmla="*/ 2446020 w 6206490"/>
                      <a:gd name="connsiteY22" fmla="*/ 342900 h 2548890"/>
                      <a:gd name="connsiteX23" fmla="*/ 2686050 w 6206490"/>
                      <a:gd name="connsiteY23" fmla="*/ 251460 h 2548890"/>
                      <a:gd name="connsiteX24" fmla="*/ 2857500 w 6206490"/>
                      <a:gd name="connsiteY24" fmla="*/ 285750 h 2548890"/>
                      <a:gd name="connsiteX25" fmla="*/ 3086100 w 6206490"/>
                      <a:gd name="connsiteY25" fmla="*/ 434340 h 2548890"/>
                      <a:gd name="connsiteX26" fmla="*/ 3280410 w 6206490"/>
                      <a:gd name="connsiteY26" fmla="*/ 468630 h 2548890"/>
                      <a:gd name="connsiteX27" fmla="*/ 3371850 w 6206490"/>
                      <a:gd name="connsiteY27" fmla="*/ 537210 h 2548890"/>
                      <a:gd name="connsiteX28" fmla="*/ 3417570 w 6206490"/>
                      <a:gd name="connsiteY28" fmla="*/ 651510 h 2548890"/>
                      <a:gd name="connsiteX29" fmla="*/ 5029200 w 6206490"/>
                      <a:gd name="connsiteY29" fmla="*/ 1771650 h 2548890"/>
                      <a:gd name="connsiteX30" fmla="*/ 5234940 w 6206490"/>
                      <a:gd name="connsiteY30" fmla="*/ 1634490 h 2548890"/>
                      <a:gd name="connsiteX31" fmla="*/ 5532120 w 6206490"/>
                      <a:gd name="connsiteY31" fmla="*/ 1600200 h 2548890"/>
                      <a:gd name="connsiteX32" fmla="*/ 5875020 w 6206490"/>
                      <a:gd name="connsiteY32" fmla="*/ 1634490 h 2548890"/>
                      <a:gd name="connsiteX33" fmla="*/ 6206490 w 6206490"/>
                      <a:gd name="connsiteY33" fmla="*/ 1760220 h 2548890"/>
                      <a:gd name="connsiteX34" fmla="*/ 6012180 w 6206490"/>
                      <a:gd name="connsiteY34" fmla="*/ 0 h 2548890"/>
                      <a:gd name="connsiteX35" fmla="*/ 205740 w 6206490"/>
                      <a:gd name="connsiteY35" fmla="*/ 34290 h 254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206490" h="2548890">
                        <a:moveTo>
                          <a:pt x="205740" y="34290"/>
                        </a:moveTo>
                        <a:lnTo>
                          <a:pt x="171450" y="240030"/>
                        </a:lnTo>
                        <a:lnTo>
                          <a:pt x="171450" y="240030"/>
                        </a:lnTo>
                        <a:lnTo>
                          <a:pt x="11430" y="308610"/>
                        </a:lnTo>
                        <a:lnTo>
                          <a:pt x="0" y="400050"/>
                        </a:lnTo>
                        <a:lnTo>
                          <a:pt x="80010" y="662940"/>
                        </a:lnTo>
                        <a:lnTo>
                          <a:pt x="137160" y="880110"/>
                        </a:lnTo>
                        <a:lnTo>
                          <a:pt x="91440" y="1097280"/>
                        </a:lnTo>
                        <a:lnTo>
                          <a:pt x="240030" y="1565910"/>
                        </a:lnTo>
                        <a:lnTo>
                          <a:pt x="297180" y="1600200"/>
                        </a:lnTo>
                        <a:lnTo>
                          <a:pt x="354330" y="1874520"/>
                        </a:lnTo>
                        <a:lnTo>
                          <a:pt x="422910" y="2183130"/>
                        </a:lnTo>
                        <a:lnTo>
                          <a:pt x="388620" y="2286000"/>
                        </a:lnTo>
                        <a:lnTo>
                          <a:pt x="514350" y="2320290"/>
                        </a:lnTo>
                        <a:lnTo>
                          <a:pt x="868680" y="2548890"/>
                        </a:lnTo>
                        <a:lnTo>
                          <a:pt x="1703070" y="1828800"/>
                        </a:lnTo>
                        <a:lnTo>
                          <a:pt x="1657350" y="1703070"/>
                        </a:lnTo>
                        <a:lnTo>
                          <a:pt x="1657350" y="1508760"/>
                        </a:lnTo>
                        <a:lnTo>
                          <a:pt x="1748790" y="1131570"/>
                        </a:lnTo>
                        <a:lnTo>
                          <a:pt x="1828800" y="994410"/>
                        </a:lnTo>
                        <a:lnTo>
                          <a:pt x="1977390" y="777240"/>
                        </a:lnTo>
                        <a:lnTo>
                          <a:pt x="2205990" y="514350"/>
                        </a:lnTo>
                        <a:lnTo>
                          <a:pt x="2446020" y="342900"/>
                        </a:lnTo>
                        <a:lnTo>
                          <a:pt x="2686050" y="251460"/>
                        </a:lnTo>
                        <a:lnTo>
                          <a:pt x="2857500" y="285750"/>
                        </a:lnTo>
                        <a:lnTo>
                          <a:pt x="3086100" y="434340"/>
                        </a:lnTo>
                        <a:lnTo>
                          <a:pt x="3280410" y="468630"/>
                        </a:lnTo>
                        <a:lnTo>
                          <a:pt x="3371850" y="537210"/>
                        </a:lnTo>
                        <a:lnTo>
                          <a:pt x="3417570" y="651510"/>
                        </a:lnTo>
                        <a:lnTo>
                          <a:pt x="5029200" y="1771650"/>
                        </a:lnTo>
                        <a:lnTo>
                          <a:pt x="5234940" y="1634490"/>
                        </a:lnTo>
                        <a:lnTo>
                          <a:pt x="5532120" y="1600200"/>
                        </a:lnTo>
                        <a:lnTo>
                          <a:pt x="5875020" y="1634490"/>
                        </a:lnTo>
                        <a:lnTo>
                          <a:pt x="6206490" y="1760220"/>
                        </a:lnTo>
                        <a:lnTo>
                          <a:pt x="6012180" y="0"/>
                        </a:lnTo>
                        <a:lnTo>
                          <a:pt x="205740" y="34290"/>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sp>
                <p:nvSpPr>
                  <p:cNvPr id="20" name="Freeform 19">
                    <a:extLst>
                      <a:ext uri="{FF2B5EF4-FFF2-40B4-BE49-F238E27FC236}">
                        <a16:creationId xmlns:a16="http://schemas.microsoft.com/office/drawing/2014/main" id="{FF0FC397-5F6B-ED40-7182-D7CB07B3460C}"/>
                      </a:ext>
                    </a:extLst>
                  </p:cNvPr>
                  <p:cNvSpPr/>
                  <p:nvPr/>
                </p:nvSpPr>
                <p:spPr>
                  <a:xfrm>
                    <a:off x="27778364" y="9753600"/>
                    <a:ext cx="4668981" cy="3810000"/>
                  </a:xfrm>
                  <a:custGeom>
                    <a:avLst/>
                    <a:gdLst>
                      <a:gd name="connsiteX0" fmla="*/ 249381 w 4668981"/>
                      <a:gd name="connsiteY0" fmla="*/ 1773382 h 3810000"/>
                      <a:gd name="connsiteX1" fmla="*/ 471054 w 4668981"/>
                      <a:gd name="connsiteY1" fmla="*/ 1953491 h 3810000"/>
                      <a:gd name="connsiteX2" fmla="*/ 720436 w 4668981"/>
                      <a:gd name="connsiteY2" fmla="*/ 2244436 h 3810000"/>
                      <a:gd name="connsiteX3" fmla="*/ 775854 w 4668981"/>
                      <a:gd name="connsiteY3" fmla="*/ 2410691 h 3810000"/>
                      <a:gd name="connsiteX4" fmla="*/ 803563 w 4668981"/>
                      <a:gd name="connsiteY4" fmla="*/ 2618509 h 3810000"/>
                      <a:gd name="connsiteX5" fmla="*/ 775854 w 4668981"/>
                      <a:gd name="connsiteY5" fmla="*/ 2937164 h 3810000"/>
                      <a:gd name="connsiteX6" fmla="*/ 720436 w 4668981"/>
                      <a:gd name="connsiteY6" fmla="*/ 3075709 h 3810000"/>
                      <a:gd name="connsiteX7" fmla="*/ 720436 w 4668981"/>
                      <a:gd name="connsiteY7" fmla="*/ 3117273 h 3810000"/>
                      <a:gd name="connsiteX8" fmla="*/ 2729345 w 4668981"/>
                      <a:gd name="connsiteY8" fmla="*/ 3117273 h 3810000"/>
                      <a:gd name="connsiteX9" fmla="*/ 2895600 w 4668981"/>
                      <a:gd name="connsiteY9" fmla="*/ 3810000 h 3810000"/>
                      <a:gd name="connsiteX10" fmla="*/ 2964872 w 4668981"/>
                      <a:gd name="connsiteY10" fmla="*/ 3713018 h 3810000"/>
                      <a:gd name="connsiteX11" fmla="*/ 4114800 w 4668981"/>
                      <a:gd name="connsiteY11" fmla="*/ 3435927 h 3810000"/>
                      <a:gd name="connsiteX12" fmla="*/ 4668981 w 4668981"/>
                      <a:gd name="connsiteY12" fmla="*/ 3422073 h 3810000"/>
                      <a:gd name="connsiteX13" fmla="*/ 4627418 w 4668981"/>
                      <a:gd name="connsiteY13" fmla="*/ 0 h 3810000"/>
                      <a:gd name="connsiteX14" fmla="*/ 0 w 4668981"/>
                      <a:gd name="connsiteY14" fmla="*/ 55418 h 3810000"/>
                      <a:gd name="connsiteX15" fmla="*/ 249381 w 4668981"/>
                      <a:gd name="connsiteY15" fmla="*/ 1773382 h 38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68981" h="3810000">
                        <a:moveTo>
                          <a:pt x="249381" y="1773382"/>
                        </a:moveTo>
                        <a:lnTo>
                          <a:pt x="471054" y="1953491"/>
                        </a:lnTo>
                        <a:lnTo>
                          <a:pt x="720436" y="2244436"/>
                        </a:lnTo>
                        <a:lnTo>
                          <a:pt x="775854" y="2410691"/>
                        </a:lnTo>
                        <a:lnTo>
                          <a:pt x="803563" y="2618509"/>
                        </a:lnTo>
                        <a:lnTo>
                          <a:pt x="775854" y="2937164"/>
                        </a:lnTo>
                        <a:lnTo>
                          <a:pt x="720436" y="3075709"/>
                        </a:lnTo>
                        <a:lnTo>
                          <a:pt x="720436" y="3117273"/>
                        </a:lnTo>
                        <a:lnTo>
                          <a:pt x="2729345" y="3117273"/>
                        </a:lnTo>
                        <a:lnTo>
                          <a:pt x="2895600" y="3810000"/>
                        </a:lnTo>
                        <a:lnTo>
                          <a:pt x="2964872" y="3713018"/>
                        </a:lnTo>
                        <a:lnTo>
                          <a:pt x="4114800" y="3435927"/>
                        </a:lnTo>
                        <a:lnTo>
                          <a:pt x="4668981" y="3422073"/>
                        </a:lnTo>
                        <a:lnTo>
                          <a:pt x="4627418" y="0"/>
                        </a:lnTo>
                        <a:lnTo>
                          <a:pt x="0" y="55418"/>
                        </a:lnTo>
                        <a:lnTo>
                          <a:pt x="249381" y="1773382"/>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grpSp>
            <p:sp>
              <p:nvSpPr>
                <p:cNvPr id="22" name="Freeform 21">
                  <a:extLst>
                    <a:ext uri="{FF2B5EF4-FFF2-40B4-BE49-F238E27FC236}">
                      <a16:creationId xmlns:a16="http://schemas.microsoft.com/office/drawing/2014/main" id="{A08363DC-386A-7C5B-774F-D677492773F8}"/>
                    </a:ext>
                  </a:extLst>
                </p:cNvPr>
                <p:cNvSpPr/>
                <p:nvPr/>
              </p:nvSpPr>
              <p:spPr>
                <a:xfrm>
                  <a:off x="30988001" y="13089467"/>
                  <a:ext cx="1473200" cy="9042399"/>
                </a:xfrm>
                <a:custGeom>
                  <a:avLst/>
                  <a:gdLst>
                    <a:gd name="connsiteX0" fmla="*/ 931333 w 1473200"/>
                    <a:gd name="connsiteY0" fmla="*/ 0 h 9127066"/>
                    <a:gd name="connsiteX1" fmla="*/ 1354667 w 1473200"/>
                    <a:gd name="connsiteY1" fmla="*/ 1117600 h 9127066"/>
                    <a:gd name="connsiteX2" fmla="*/ 1303867 w 1473200"/>
                    <a:gd name="connsiteY2" fmla="*/ 1354666 h 9127066"/>
                    <a:gd name="connsiteX3" fmla="*/ 0 w 1473200"/>
                    <a:gd name="connsiteY3" fmla="*/ 2607733 h 9127066"/>
                    <a:gd name="connsiteX4" fmla="*/ 220133 w 1473200"/>
                    <a:gd name="connsiteY4" fmla="*/ 3657600 h 9127066"/>
                    <a:gd name="connsiteX5" fmla="*/ 423333 w 1473200"/>
                    <a:gd name="connsiteY5" fmla="*/ 3674533 h 9127066"/>
                    <a:gd name="connsiteX6" fmla="*/ 965200 w 1473200"/>
                    <a:gd name="connsiteY6" fmla="*/ 6366933 h 9127066"/>
                    <a:gd name="connsiteX7" fmla="*/ 745067 w 1473200"/>
                    <a:gd name="connsiteY7" fmla="*/ 6485466 h 9127066"/>
                    <a:gd name="connsiteX8" fmla="*/ 1286933 w 1473200"/>
                    <a:gd name="connsiteY8" fmla="*/ 9127066 h 9127066"/>
                    <a:gd name="connsiteX9" fmla="*/ 1473200 w 1473200"/>
                    <a:gd name="connsiteY9" fmla="*/ 0 h 9127066"/>
                    <a:gd name="connsiteX10" fmla="*/ 931333 w 1473200"/>
                    <a:gd name="connsiteY10" fmla="*/ 0 h 912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3200" h="9127066">
                      <a:moveTo>
                        <a:pt x="931333" y="0"/>
                      </a:moveTo>
                      <a:lnTo>
                        <a:pt x="1354667" y="1117600"/>
                      </a:lnTo>
                      <a:lnTo>
                        <a:pt x="1303867" y="1354666"/>
                      </a:lnTo>
                      <a:lnTo>
                        <a:pt x="0" y="2607733"/>
                      </a:lnTo>
                      <a:lnTo>
                        <a:pt x="220133" y="3657600"/>
                      </a:lnTo>
                      <a:lnTo>
                        <a:pt x="423333" y="3674533"/>
                      </a:lnTo>
                      <a:lnTo>
                        <a:pt x="965200" y="6366933"/>
                      </a:lnTo>
                      <a:lnTo>
                        <a:pt x="745067" y="6485466"/>
                      </a:lnTo>
                      <a:lnTo>
                        <a:pt x="1286933" y="9127066"/>
                      </a:lnTo>
                      <a:lnTo>
                        <a:pt x="1473200" y="0"/>
                      </a:lnTo>
                      <a:lnTo>
                        <a:pt x="931333" y="0"/>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sp>
              <p:nvSpPr>
                <p:cNvPr id="23" name="Freeform 22">
                  <a:extLst>
                    <a:ext uri="{FF2B5EF4-FFF2-40B4-BE49-F238E27FC236}">
                      <a16:creationId xmlns:a16="http://schemas.microsoft.com/office/drawing/2014/main" id="{38C70949-EE05-E266-3B58-0739A4249FB4}"/>
                    </a:ext>
                  </a:extLst>
                </p:cNvPr>
                <p:cNvSpPr/>
                <p:nvPr/>
              </p:nvSpPr>
              <p:spPr>
                <a:xfrm>
                  <a:off x="32224133" y="18220267"/>
                  <a:ext cx="270934" cy="4419600"/>
                </a:xfrm>
                <a:custGeom>
                  <a:avLst/>
                  <a:gdLst>
                    <a:gd name="connsiteX0" fmla="*/ 0 w 270934"/>
                    <a:gd name="connsiteY0" fmla="*/ 0 h 4419600"/>
                    <a:gd name="connsiteX1" fmla="*/ 33867 w 270934"/>
                    <a:gd name="connsiteY1" fmla="*/ 3810000 h 4419600"/>
                    <a:gd name="connsiteX2" fmla="*/ 169334 w 270934"/>
                    <a:gd name="connsiteY2" fmla="*/ 4419600 h 4419600"/>
                    <a:gd name="connsiteX3" fmla="*/ 270934 w 270934"/>
                    <a:gd name="connsiteY3" fmla="*/ 135466 h 4419600"/>
                    <a:gd name="connsiteX4" fmla="*/ 0 w 270934"/>
                    <a:gd name="connsiteY4" fmla="*/ 0 h 441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34" h="4419600">
                      <a:moveTo>
                        <a:pt x="0" y="0"/>
                      </a:moveTo>
                      <a:lnTo>
                        <a:pt x="33867" y="3810000"/>
                      </a:lnTo>
                      <a:lnTo>
                        <a:pt x="169334" y="4419600"/>
                      </a:lnTo>
                      <a:lnTo>
                        <a:pt x="270934" y="135466"/>
                      </a:lnTo>
                      <a:lnTo>
                        <a:pt x="0" y="0"/>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grpSp>
        </p:grpSp>
        <p:sp>
          <p:nvSpPr>
            <p:cNvPr id="41" name="Text Box 9">
              <a:extLst>
                <a:ext uri="{FF2B5EF4-FFF2-40B4-BE49-F238E27FC236}">
                  <a16:creationId xmlns:a16="http://schemas.microsoft.com/office/drawing/2014/main" id="{7ECE7742-9B6C-41C7-E5DC-6952AD4E775D}"/>
                </a:ext>
              </a:extLst>
            </p:cNvPr>
            <p:cNvSpPr txBox="1">
              <a:spLocks noChangeArrowheads="1"/>
            </p:cNvSpPr>
            <p:nvPr/>
          </p:nvSpPr>
          <p:spPr bwMode="auto">
            <a:xfrm>
              <a:off x="1422056" y="10388674"/>
              <a:ext cx="8710958" cy="7229664"/>
            </a:xfrm>
            <a:prstGeom prst="rect">
              <a:avLst/>
            </a:prstGeom>
            <a:noFill/>
            <a:ln w="9525">
              <a:noFill/>
              <a:miter lim="800000"/>
              <a:headEnd/>
              <a:tailEnd/>
            </a:ln>
            <a:effectLst/>
          </p:spPr>
          <p:txBody>
            <a:bodyPr wrap="square" lIns="82500" tIns="41250" rIns="82500" bIns="41250" anchor="t">
              <a:spAutoFit/>
            </a:bodyPr>
            <a:lstStyle/>
            <a:p>
              <a:pPr algn="just" defTabSz="552875"/>
              <a:r>
                <a:rPr lang="en-US" sz="3000" dirty="0">
                  <a:solidFill>
                    <a:srgbClr val="002060"/>
                  </a:solidFill>
                  <a:latin typeface="Aptos" panose="020B0004020202020204" pitchFamily="34" charset="0"/>
                  <a:cs typeface="Arial" panose="020B0604020202020204" pitchFamily="34" charset="0"/>
                </a:rPr>
                <a:t>Each year, there are over </a:t>
              </a:r>
              <a:r>
                <a:rPr lang="en-US" sz="3000" b="1" dirty="0">
                  <a:solidFill>
                    <a:srgbClr val="002060"/>
                  </a:solidFill>
                  <a:latin typeface="Aptos" panose="020B0004020202020204" pitchFamily="34" charset="0"/>
                  <a:cs typeface="Arial" panose="020B0604020202020204" pitchFamily="34" charset="0"/>
                </a:rPr>
                <a:t>10,000</a:t>
              </a:r>
              <a:r>
                <a:rPr lang="en-US" sz="3000" dirty="0">
                  <a:solidFill>
                    <a:srgbClr val="002060"/>
                  </a:solidFill>
                  <a:latin typeface="Aptos" panose="020B0004020202020204" pitchFamily="34" charset="0"/>
                  <a:cs typeface="Arial" panose="020B0604020202020204" pitchFamily="34" charset="0"/>
                </a:rPr>
                <a:t> cases of overdose in Vancouver</a:t>
              </a:r>
              <a:r>
                <a:rPr lang="en-US" sz="3000" baseline="30000" dirty="0">
                  <a:solidFill>
                    <a:srgbClr val="002060"/>
                  </a:solidFill>
                  <a:latin typeface="Aptos" panose="020B0004020202020204" pitchFamily="34" charset="0"/>
                  <a:ea typeface="Open Sans" pitchFamily="2" charset="0"/>
                  <a:cs typeface="Open Sans" pitchFamily="2" charset="0"/>
                </a:rPr>
                <a:t>1</a:t>
              </a:r>
              <a:r>
                <a:rPr lang="en-US" sz="3000" dirty="0">
                  <a:solidFill>
                    <a:srgbClr val="002060"/>
                  </a:solidFill>
                  <a:latin typeface="Aptos" panose="020B0004020202020204" pitchFamily="34" charset="0"/>
                  <a:cs typeface="Arial" panose="020B0604020202020204" pitchFamily="34" charset="0"/>
                </a:rPr>
                <a:t>, many due to drug contamination.</a:t>
              </a:r>
              <a:r>
                <a:rPr lang="en-US" sz="3000" b="1" dirty="0">
                  <a:solidFill>
                    <a:srgbClr val="002060"/>
                  </a:solidFill>
                  <a:latin typeface="Aptos" panose="020B0004020202020204" pitchFamily="34" charset="0"/>
                  <a:cs typeface="Arial" panose="020B0604020202020204" pitchFamily="34" charset="0"/>
                </a:rPr>
                <a:t> </a:t>
              </a:r>
              <a:r>
                <a:rPr lang="en-US" sz="3000" dirty="0">
                  <a:solidFill>
                    <a:srgbClr val="002060"/>
                  </a:solidFill>
                  <a:latin typeface="Aptos" panose="020B0004020202020204" pitchFamily="34" charset="0"/>
                  <a:cs typeface="Arial" panose="020B0604020202020204" pitchFamily="34" charset="0"/>
                </a:rPr>
                <a:t>In response to the current overdose health crisis, numerous drug-checking centers have been set up, often using test strips to identify compounds and infrared spectroscopy for quantification. Despite governmental efforts, access to advanced methods like high-performance liquid chromatography (HPLC) remains limited. As operations of these technologies require specialized personnel, we can improve accessibility to these systems by integrating automation.</a:t>
              </a:r>
            </a:p>
            <a:p>
              <a:pPr algn="just" defTabSz="552875"/>
              <a:endParaRPr lang="en-US" sz="3000" dirty="0">
                <a:solidFill>
                  <a:srgbClr val="002060"/>
                </a:solidFill>
                <a:latin typeface="Aptos" panose="020B0004020202020204" pitchFamily="34" charset="0"/>
                <a:cs typeface="Arial" panose="020B0604020202020204" pitchFamily="34" charset="0"/>
              </a:endParaRPr>
            </a:p>
            <a:p>
              <a:pPr algn="just" defTabSz="552875"/>
              <a:r>
                <a:rPr lang="en-US" sz="3000" dirty="0">
                  <a:solidFill>
                    <a:srgbClr val="002060"/>
                  </a:solidFill>
                  <a:latin typeface="Aptos" panose="020B0004020202020204" pitchFamily="34" charset="0"/>
                  <a:cs typeface="Arial" panose="020B0604020202020204" pitchFamily="34" charset="0"/>
                </a:rPr>
                <a:t>We are developing a robotic arm system to </a:t>
              </a:r>
              <a:r>
                <a:rPr lang="en-US" sz="3000" b="1" dirty="0">
                  <a:solidFill>
                    <a:srgbClr val="002060"/>
                  </a:solidFill>
                  <a:latin typeface="Aptos" panose="020B0004020202020204" pitchFamily="34" charset="0"/>
                  <a:cs typeface="Arial" panose="020B0604020202020204" pitchFamily="34" charset="0"/>
                </a:rPr>
                <a:t>prepare, analyze, quantify, and upload </a:t>
              </a:r>
              <a:r>
                <a:rPr lang="en-US" sz="3000" dirty="0">
                  <a:solidFill>
                    <a:srgbClr val="002060"/>
                  </a:solidFill>
                  <a:latin typeface="Aptos" panose="020B0004020202020204" pitchFamily="34" charset="0"/>
                  <a:cs typeface="Arial" panose="020B0604020202020204" pitchFamily="34" charset="0"/>
                </a:rPr>
                <a:t>the data of a sample </a:t>
              </a:r>
              <a:r>
                <a:rPr lang="en-US" sz="3000" b="1" dirty="0">
                  <a:solidFill>
                    <a:srgbClr val="002060"/>
                  </a:solidFill>
                  <a:latin typeface="Aptos" panose="020B0004020202020204" pitchFamily="34" charset="0"/>
                  <a:cs typeface="Arial" panose="020B0604020202020204" pitchFamily="34" charset="0"/>
                </a:rPr>
                <a:t>within 15 minutes </a:t>
              </a:r>
              <a:r>
                <a:rPr lang="en-US" sz="3000" dirty="0">
                  <a:solidFill>
                    <a:srgbClr val="002060"/>
                  </a:solidFill>
                  <a:latin typeface="Aptos" panose="020B0004020202020204" pitchFamily="34" charset="0"/>
                  <a:cs typeface="Arial" panose="020B0604020202020204" pitchFamily="34" charset="0"/>
                </a:rPr>
                <a:t>to inform users, ultimately reducing overdose risk.</a:t>
              </a:r>
            </a:p>
          </p:txBody>
        </p:sp>
        <p:pic>
          <p:nvPicPr>
            <p:cNvPr id="51" name="Picture 50" descr="A black background with a black square&#10;&#10;Description automatically generated with medium confidence">
              <a:extLst>
                <a:ext uri="{FF2B5EF4-FFF2-40B4-BE49-F238E27FC236}">
                  <a16:creationId xmlns:a16="http://schemas.microsoft.com/office/drawing/2014/main" id="{485189A3-2F5A-742E-E833-87563633B5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50274" y="29533121"/>
              <a:ext cx="3542783" cy="3542785"/>
            </a:xfrm>
            <a:prstGeom prst="rect">
              <a:avLst/>
            </a:prstGeom>
          </p:spPr>
        </p:pic>
        <p:grpSp>
          <p:nvGrpSpPr>
            <p:cNvPr id="63" name="Group 62">
              <a:extLst>
                <a:ext uri="{FF2B5EF4-FFF2-40B4-BE49-F238E27FC236}">
                  <a16:creationId xmlns:a16="http://schemas.microsoft.com/office/drawing/2014/main" id="{F2981B64-DA3B-C308-5EE0-1A56C06D12B8}"/>
                </a:ext>
              </a:extLst>
            </p:cNvPr>
            <p:cNvGrpSpPr/>
            <p:nvPr/>
          </p:nvGrpSpPr>
          <p:grpSpPr>
            <a:xfrm>
              <a:off x="712599" y="29753631"/>
              <a:ext cx="6428127" cy="2882667"/>
              <a:chOff x="1851084" y="24685809"/>
              <a:chExt cx="7124673" cy="2570998"/>
            </a:xfrm>
          </p:grpSpPr>
          <p:sp>
            <p:nvSpPr>
              <p:cNvPr id="54" name="TextBox 53">
                <a:extLst>
                  <a:ext uri="{FF2B5EF4-FFF2-40B4-BE49-F238E27FC236}">
                    <a16:creationId xmlns:a16="http://schemas.microsoft.com/office/drawing/2014/main" id="{BBB85ED8-E07D-0900-D038-4C18B69D35B7}"/>
                  </a:ext>
                </a:extLst>
              </p:cNvPr>
              <p:cNvSpPr txBox="1"/>
              <p:nvPr/>
            </p:nvSpPr>
            <p:spPr>
              <a:xfrm>
                <a:off x="1851084" y="25837126"/>
                <a:ext cx="6566405" cy="1419681"/>
              </a:xfrm>
              <a:prstGeom prst="rect">
                <a:avLst/>
              </a:prstGeom>
              <a:noFill/>
            </p:spPr>
            <p:txBody>
              <a:bodyPr wrap="square">
                <a:spAutoFit/>
              </a:bodyPr>
              <a:lstStyle/>
              <a:p>
                <a:pPr algn="r" defTabSz="552875"/>
                <a:r>
                  <a:rPr lang="en-US" sz="3248" dirty="0">
                    <a:solidFill>
                      <a:srgbClr val="002060"/>
                    </a:solidFill>
                    <a:latin typeface="Aptos" panose="020B0004020202020204" pitchFamily="34" charset="0"/>
                    <a:cs typeface="Arial" panose="020B0604020202020204" pitchFamily="34" charset="0"/>
                  </a:rPr>
                  <a:t>Scan the QR code </a:t>
                </a:r>
              </a:p>
              <a:p>
                <a:pPr algn="r" defTabSz="552875"/>
                <a:r>
                  <a:rPr lang="en-US" sz="3248" dirty="0">
                    <a:solidFill>
                      <a:srgbClr val="002060"/>
                    </a:solidFill>
                    <a:latin typeface="Aptos" panose="020B0004020202020204" pitchFamily="34" charset="0"/>
                    <a:cs typeface="Arial" panose="020B0604020202020204" pitchFamily="34" charset="0"/>
                  </a:rPr>
                  <a:t>for an annotated </a:t>
                </a:r>
              </a:p>
              <a:p>
                <a:pPr algn="r" defTabSz="552875"/>
                <a:r>
                  <a:rPr lang="en-US" sz="3248" dirty="0">
                    <a:solidFill>
                      <a:srgbClr val="002060"/>
                    </a:solidFill>
                    <a:latin typeface="Aptos" panose="020B0004020202020204" pitchFamily="34" charset="0"/>
                    <a:cs typeface="Arial" panose="020B0604020202020204" pitchFamily="34" charset="0"/>
                  </a:rPr>
                  <a:t>demonstration video</a:t>
                </a:r>
              </a:p>
            </p:txBody>
          </p:sp>
          <p:sp>
            <p:nvSpPr>
              <p:cNvPr id="56" name="Text Box 42">
                <a:extLst>
                  <a:ext uri="{FF2B5EF4-FFF2-40B4-BE49-F238E27FC236}">
                    <a16:creationId xmlns:a16="http://schemas.microsoft.com/office/drawing/2014/main" id="{2E053EEC-1DA0-8B70-2DED-BEBCC57C9FBC}"/>
                  </a:ext>
                </a:extLst>
              </p:cNvPr>
              <p:cNvSpPr txBox="1">
                <a:spLocks noChangeArrowheads="1"/>
              </p:cNvSpPr>
              <p:nvPr/>
            </p:nvSpPr>
            <p:spPr bwMode="auto">
              <a:xfrm>
                <a:off x="3676087" y="24685809"/>
                <a:ext cx="5299670" cy="742994"/>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4872" b="1" dirty="0">
                    <a:solidFill>
                      <a:srgbClr val="002060"/>
                    </a:solidFill>
                    <a:latin typeface="Aptos" panose="020B0004020202020204" pitchFamily="34" charset="0"/>
                    <a:cs typeface="Arial" panose="020B0604020202020204" pitchFamily="34" charset="0"/>
                  </a:rPr>
                  <a:t>A Deeper Look</a:t>
                </a:r>
                <a:endParaRPr lang="en-US" sz="1624" dirty="0">
                  <a:solidFill>
                    <a:srgbClr val="002060"/>
                  </a:solidFill>
                  <a:latin typeface="Aptos" panose="020B0004020202020204" pitchFamily="34" charset="0"/>
                  <a:cs typeface="Arial" panose="020B0604020202020204" pitchFamily="34" charset="0"/>
                </a:endParaRPr>
              </a:p>
            </p:txBody>
          </p:sp>
          <p:cxnSp>
            <p:nvCxnSpPr>
              <p:cNvPr id="59" name="Straight Connector 58">
                <a:extLst>
                  <a:ext uri="{FF2B5EF4-FFF2-40B4-BE49-F238E27FC236}">
                    <a16:creationId xmlns:a16="http://schemas.microsoft.com/office/drawing/2014/main" id="{A86018BC-9D97-862E-C817-81AB28E87E05}"/>
                  </a:ext>
                </a:extLst>
              </p:cNvPr>
              <p:cNvCxnSpPr>
                <a:cxnSpLocks/>
              </p:cNvCxnSpPr>
              <p:nvPr/>
            </p:nvCxnSpPr>
            <p:spPr>
              <a:xfrm>
                <a:off x="6372813" y="25692038"/>
                <a:ext cx="187634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29" name="Group 328">
              <a:extLst>
                <a:ext uri="{FF2B5EF4-FFF2-40B4-BE49-F238E27FC236}">
                  <a16:creationId xmlns:a16="http://schemas.microsoft.com/office/drawing/2014/main" id="{97C08020-BC39-1DFD-F6F5-1319BD78377F}"/>
                </a:ext>
              </a:extLst>
            </p:cNvPr>
            <p:cNvGrpSpPr/>
            <p:nvPr/>
          </p:nvGrpSpPr>
          <p:grpSpPr>
            <a:xfrm>
              <a:off x="29895145" y="10414611"/>
              <a:ext cx="8526274" cy="3641210"/>
              <a:chOff x="33103848" y="7486892"/>
              <a:chExt cx="9255828" cy="4035761"/>
            </a:xfrm>
          </p:grpSpPr>
          <p:sp>
            <p:nvSpPr>
              <p:cNvPr id="66" name="TextBox 65">
                <a:extLst>
                  <a:ext uri="{FF2B5EF4-FFF2-40B4-BE49-F238E27FC236}">
                    <a16:creationId xmlns:a16="http://schemas.microsoft.com/office/drawing/2014/main" id="{55D60711-C04D-210E-3B00-32F1F6229795}"/>
                  </a:ext>
                </a:extLst>
              </p:cNvPr>
              <p:cNvSpPr txBox="1"/>
              <p:nvPr/>
            </p:nvSpPr>
            <p:spPr>
              <a:xfrm>
                <a:off x="33103848" y="8360178"/>
                <a:ext cx="9255828" cy="3162475"/>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just"/>
                <a:r>
                  <a:rPr lang="en-US" sz="3000" dirty="0">
                    <a:solidFill>
                      <a:srgbClr val="1B3972"/>
                    </a:solidFill>
                    <a:latin typeface="Grandview"/>
                    <a:cs typeface="Microsoft New Tai Lue"/>
                  </a:rPr>
                  <a:t>All functions required for operation are coded in Python. Relevant code can be found on the Hein Lab GitHub. </a:t>
                </a:r>
              </a:p>
              <a:p>
                <a:pPr algn="just"/>
                <a:endParaRPr lang="en-US" sz="3000" dirty="0">
                  <a:solidFill>
                    <a:srgbClr val="1B3972"/>
                  </a:solidFill>
                  <a:latin typeface="Grandview"/>
                  <a:cs typeface="Microsoft New Tai Lue"/>
                </a:endParaRPr>
              </a:p>
              <a:p>
                <a:pPr algn="just"/>
                <a:br>
                  <a:rPr lang="en-US" sz="3000" dirty="0">
                    <a:solidFill>
                      <a:srgbClr val="1B3972"/>
                    </a:solidFill>
                    <a:latin typeface="Grandview"/>
                  </a:rPr>
                </a:br>
                <a:endParaRPr lang="en-US" sz="3000" dirty="0">
                  <a:solidFill>
                    <a:srgbClr val="1B3972"/>
                  </a:solidFill>
                  <a:latin typeface="Grandview"/>
                </a:endParaRPr>
              </a:p>
            </p:txBody>
          </p:sp>
          <p:sp>
            <p:nvSpPr>
              <p:cNvPr id="68" name="Text Box 42">
                <a:extLst>
                  <a:ext uri="{FF2B5EF4-FFF2-40B4-BE49-F238E27FC236}">
                    <a16:creationId xmlns:a16="http://schemas.microsoft.com/office/drawing/2014/main" id="{1F6C0727-FBD8-1A2C-B921-A53C788C0EB4}"/>
                  </a:ext>
                </a:extLst>
              </p:cNvPr>
              <p:cNvSpPr txBox="1">
                <a:spLocks noChangeArrowheads="1"/>
              </p:cNvSpPr>
              <p:nvPr/>
            </p:nvSpPr>
            <p:spPr bwMode="auto">
              <a:xfrm>
                <a:off x="33108787" y="7486892"/>
                <a:ext cx="6566404" cy="923332"/>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4872" b="1" dirty="0">
                    <a:solidFill>
                      <a:srgbClr val="002060"/>
                    </a:solidFill>
                    <a:latin typeface="Aptos" panose="020B0004020202020204" pitchFamily="34" charset="0"/>
                    <a:cs typeface="Arial" panose="020B0604020202020204" pitchFamily="34" charset="0"/>
                  </a:rPr>
                  <a:t>Software</a:t>
                </a:r>
                <a:endParaRPr lang="en-US" sz="1624" dirty="0">
                  <a:solidFill>
                    <a:srgbClr val="002060"/>
                  </a:solidFill>
                  <a:latin typeface="Aptos" panose="020B0004020202020204" pitchFamily="34" charset="0"/>
                  <a:cs typeface="Arial" panose="020B0604020202020204" pitchFamily="34" charset="0"/>
                </a:endParaRPr>
              </a:p>
            </p:txBody>
          </p:sp>
        </p:grpSp>
        <p:grpSp>
          <p:nvGrpSpPr>
            <p:cNvPr id="75" name="Group 74">
              <a:extLst>
                <a:ext uri="{FF2B5EF4-FFF2-40B4-BE49-F238E27FC236}">
                  <a16:creationId xmlns:a16="http://schemas.microsoft.com/office/drawing/2014/main" id="{E7091146-A7F4-F2AE-589B-204A07C72A7A}"/>
                </a:ext>
              </a:extLst>
            </p:cNvPr>
            <p:cNvGrpSpPr/>
            <p:nvPr/>
          </p:nvGrpSpPr>
          <p:grpSpPr>
            <a:xfrm>
              <a:off x="29878206" y="13218631"/>
              <a:ext cx="8466516" cy="2352159"/>
              <a:chOff x="33199219" y="7772799"/>
              <a:chExt cx="9276800" cy="2607030"/>
            </a:xfrm>
          </p:grpSpPr>
          <p:sp>
            <p:nvSpPr>
              <p:cNvPr id="72" name="TextBox 71">
                <a:extLst>
                  <a:ext uri="{FF2B5EF4-FFF2-40B4-BE49-F238E27FC236}">
                    <a16:creationId xmlns:a16="http://schemas.microsoft.com/office/drawing/2014/main" id="{EB696F77-9CF7-E59F-B2A4-A09556726FF9}"/>
                  </a:ext>
                </a:extLst>
              </p:cNvPr>
              <p:cNvSpPr txBox="1"/>
              <p:nvPr/>
            </p:nvSpPr>
            <p:spPr>
              <a:xfrm>
                <a:off x="33220191" y="8752426"/>
                <a:ext cx="9255828" cy="1627403"/>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just"/>
                <a:r>
                  <a:rPr lang="en-US" sz="3000" dirty="0">
                    <a:solidFill>
                      <a:srgbClr val="002060"/>
                    </a:solidFill>
                    <a:latin typeface="Aptos" panose="020B0004020202020204" pitchFamily="34" charset="0"/>
                    <a:cs typeface="Arial" panose="020B0604020202020204" pitchFamily="34" charset="0"/>
                  </a:rPr>
                  <a:t>Calibration curves were autonomously generated by the robot. Shown below are the curves for caffeine and acetaminophen. </a:t>
                </a:r>
              </a:p>
            </p:txBody>
          </p:sp>
          <p:sp>
            <p:nvSpPr>
              <p:cNvPr id="73" name="Text Box 42">
                <a:extLst>
                  <a:ext uri="{FF2B5EF4-FFF2-40B4-BE49-F238E27FC236}">
                    <a16:creationId xmlns:a16="http://schemas.microsoft.com/office/drawing/2014/main" id="{52FBCA27-B50E-E10E-0EDB-6A1C04EE7A70}"/>
                  </a:ext>
                </a:extLst>
              </p:cNvPr>
              <p:cNvSpPr txBox="1">
                <a:spLocks noChangeArrowheads="1"/>
              </p:cNvSpPr>
              <p:nvPr/>
            </p:nvSpPr>
            <p:spPr bwMode="auto">
              <a:xfrm>
                <a:off x="33199219" y="7772799"/>
                <a:ext cx="6566404" cy="923331"/>
              </a:xfrm>
              <a:prstGeom prst="rect">
                <a:avLst/>
              </a:prstGeom>
              <a:noFill/>
              <a:ln w="9525">
                <a:noFill/>
                <a:miter lim="800000"/>
                <a:headEnd/>
                <a:tailEnd/>
              </a:ln>
              <a:effectLst/>
            </p:spPr>
            <p:txBody>
              <a:bodyPr wrap="square" lIns="82500" tIns="41250" rIns="82500" bIns="41250" anchor="t">
                <a:spAutoFit/>
              </a:bodyPr>
              <a:lstStyle/>
              <a:p>
                <a:pPr algn="just" defTabSz="3960365">
                  <a:spcBef>
                    <a:spcPct val="50000"/>
                  </a:spcBef>
                </a:pPr>
                <a:r>
                  <a:rPr lang="en-US" sz="4872" b="1" dirty="0">
                    <a:solidFill>
                      <a:srgbClr val="002060"/>
                    </a:solidFill>
                    <a:latin typeface="Aptos" panose="020B0004020202020204" pitchFamily="34" charset="0"/>
                    <a:cs typeface="Arial" panose="020B0604020202020204" pitchFamily="34" charset="0"/>
                  </a:rPr>
                  <a:t>Design Verification</a:t>
                </a:r>
                <a:endParaRPr lang="en-US" sz="1624" dirty="0">
                  <a:solidFill>
                    <a:srgbClr val="002060"/>
                  </a:solidFill>
                  <a:latin typeface="Aptos" panose="020B0004020202020204" pitchFamily="34" charset="0"/>
                  <a:cs typeface="Arial" panose="020B0604020202020204" pitchFamily="34" charset="0"/>
                </a:endParaRPr>
              </a:p>
            </p:txBody>
          </p:sp>
        </p:grpSp>
        <p:grpSp>
          <p:nvGrpSpPr>
            <p:cNvPr id="78" name="Group 77">
              <a:extLst>
                <a:ext uri="{FF2B5EF4-FFF2-40B4-BE49-F238E27FC236}">
                  <a16:creationId xmlns:a16="http://schemas.microsoft.com/office/drawing/2014/main" id="{3AE24D53-580B-4D16-F6A7-74424E664D6E}"/>
                </a:ext>
              </a:extLst>
            </p:cNvPr>
            <p:cNvGrpSpPr/>
            <p:nvPr/>
          </p:nvGrpSpPr>
          <p:grpSpPr>
            <a:xfrm>
              <a:off x="30092328" y="16301609"/>
              <a:ext cx="8350929" cy="4866489"/>
              <a:chOff x="32779367" y="13987623"/>
              <a:chExt cx="9255828" cy="5393814"/>
            </a:xfrm>
          </p:grpSpPr>
          <p:graphicFrame>
            <p:nvGraphicFramePr>
              <p:cNvPr id="28" name="Chart 27">
                <a:extLst>
                  <a:ext uri="{FF2B5EF4-FFF2-40B4-BE49-F238E27FC236}">
                    <a16:creationId xmlns:a16="http://schemas.microsoft.com/office/drawing/2014/main" id="{7A897EBA-E2C7-BB0B-68F9-07A6CF3E92C1}"/>
                  </a:ext>
                </a:extLst>
              </p:cNvPr>
              <p:cNvGraphicFramePr>
                <a:graphicFrameLocks/>
              </p:cNvGraphicFramePr>
              <p:nvPr>
                <p:extLst>
                  <p:ext uri="{D42A27DB-BD31-4B8C-83A1-F6EECF244321}">
                    <p14:modId xmlns:p14="http://schemas.microsoft.com/office/powerpoint/2010/main" val="2089758732"/>
                  </p:ext>
                </p:extLst>
              </p:nvPr>
            </p:nvGraphicFramePr>
            <p:xfrm>
              <a:off x="32779367" y="13987623"/>
              <a:ext cx="9255828" cy="5393814"/>
            </p:xfrm>
            <a:graphic>
              <a:graphicData uri="http://schemas.openxmlformats.org/drawingml/2006/chart">
                <c:chart xmlns:c="http://schemas.openxmlformats.org/drawingml/2006/chart" xmlns:r="http://schemas.openxmlformats.org/officeDocument/2006/relationships" r:id="rId7"/>
              </a:graphicData>
            </a:graphic>
          </p:graphicFrame>
          <p:sp>
            <p:nvSpPr>
              <p:cNvPr id="76" name="Text Box 11">
                <a:extLst>
                  <a:ext uri="{FF2B5EF4-FFF2-40B4-BE49-F238E27FC236}">
                    <a16:creationId xmlns:a16="http://schemas.microsoft.com/office/drawing/2014/main" id="{909BB977-91AA-3679-C758-AC3724E9BA74}"/>
                  </a:ext>
                </a:extLst>
              </p:cNvPr>
              <p:cNvSpPr txBox="1">
                <a:spLocks noChangeArrowheads="1"/>
              </p:cNvSpPr>
              <p:nvPr/>
            </p:nvSpPr>
            <p:spPr bwMode="auto">
              <a:xfrm>
                <a:off x="34045833" y="14157276"/>
                <a:ext cx="5632338" cy="554063"/>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2707" b="1" i="1" dirty="0">
                    <a:solidFill>
                      <a:srgbClr val="002060"/>
                    </a:solidFill>
                    <a:latin typeface="Aptos" panose="020B0004020202020204" pitchFamily="34" charset="0"/>
                    <a:cs typeface="Arial" panose="020B0604020202020204" pitchFamily="34" charset="0"/>
                  </a:rPr>
                  <a:t>Caffeine calibration curve</a:t>
                </a:r>
              </a:p>
            </p:txBody>
          </p:sp>
        </p:grpSp>
        <p:cxnSp>
          <p:nvCxnSpPr>
            <p:cNvPr id="79" name="Straight Connector 78">
              <a:extLst>
                <a:ext uri="{FF2B5EF4-FFF2-40B4-BE49-F238E27FC236}">
                  <a16:creationId xmlns:a16="http://schemas.microsoft.com/office/drawing/2014/main" id="{6C07AD5F-DFE2-B8FE-DDC1-4E5CB951FCA2}"/>
                </a:ext>
              </a:extLst>
            </p:cNvPr>
            <p:cNvCxnSpPr>
              <a:cxnSpLocks/>
            </p:cNvCxnSpPr>
            <p:nvPr/>
          </p:nvCxnSpPr>
          <p:spPr>
            <a:xfrm>
              <a:off x="30005468" y="16124384"/>
              <a:ext cx="1692906"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AE435512-2EAE-056F-268E-C399926B5023}"/>
                </a:ext>
              </a:extLst>
            </p:cNvPr>
            <p:cNvGrpSpPr/>
            <p:nvPr/>
          </p:nvGrpSpPr>
          <p:grpSpPr>
            <a:xfrm>
              <a:off x="30054369" y="21249246"/>
              <a:ext cx="8350929" cy="5554571"/>
              <a:chOff x="33161241" y="19578415"/>
              <a:chExt cx="9255828" cy="6156455"/>
            </a:xfrm>
          </p:grpSpPr>
          <p:graphicFrame>
            <p:nvGraphicFramePr>
              <p:cNvPr id="80" name="Chart 79">
                <a:extLst>
                  <a:ext uri="{FF2B5EF4-FFF2-40B4-BE49-F238E27FC236}">
                    <a16:creationId xmlns:a16="http://schemas.microsoft.com/office/drawing/2014/main" id="{DB522FA5-3ADE-ADA9-07F2-555A8BC3935D}"/>
                  </a:ext>
                </a:extLst>
              </p:cNvPr>
              <p:cNvGraphicFramePr>
                <a:graphicFrameLocks/>
              </p:cNvGraphicFramePr>
              <p:nvPr>
                <p:extLst>
                  <p:ext uri="{D42A27DB-BD31-4B8C-83A1-F6EECF244321}">
                    <p14:modId xmlns:p14="http://schemas.microsoft.com/office/powerpoint/2010/main" val="1037449542"/>
                  </p:ext>
                </p:extLst>
              </p:nvPr>
            </p:nvGraphicFramePr>
            <p:xfrm>
              <a:off x="33161241" y="19578415"/>
              <a:ext cx="9255828" cy="6156455"/>
            </p:xfrm>
            <a:graphic>
              <a:graphicData uri="http://schemas.openxmlformats.org/drawingml/2006/chart">
                <c:chart xmlns:c="http://schemas.openxmlformats.org/drawingml/2006/chart" xmlns:r="http://schemas.openxmlformats.org/officeDocument/2006/relationships" r:id="rId8"/>
              </a:graphicData>
            </a:graphic>
          </p:graphicFrame>
          <p:sp>
            <p:nvSpPr>
              <p:cNvPr id="81" name="Text Box 11">
                <a:extLst>
                  <a:ext uri="{FF2B5EF4-FFF2-40B4-BE49-F238E27FC236}">
                    <a16:creationId xmlns:a16="http://schemas.microsoft.com/office/drawing/2014/main" id="{4CCF0DD2-1CAE-416C-7189-E5411FFE714C}"/>
                  </a:ext>
                </a:extLst>
              </p:cNvPr>
              <p:cNvSpPr txBox="1">
                <a:spLocks noChangeArrowheads="1"/>
              </p:cNvSpPr>
              <p:nvPr/>
            </p:nvSpPr>
            <p:spPr bwMode="auto">
              <a:xfrm>
                <a:off x="34581577" y="20249183"/>
                <a:ext cx="6163198" cy="554063"/>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2707" b="1" i="1" dirty="0">
                    <a:solidFill>
                      <a:srgbClr val="002060"/>
                    </a:solidFill>
                    <a:latin typeface="Aptos" panose="020B0004020202020204" pitchFamily="34" charset="0"/>
                    <a:cs typeface="Arial" panose="020B0604020202020204" pitchFamily="34" charset="0"/>
                  </a:rPr>
                  <a:t>Acetaminophen calibration curve</a:t>
                </a:r>
              </a:p>
            </p:txBody>
          </p:sp>
        </p:grpSp>
        <p:grpSp>
          <p:nvGrpSpPr>
            <p:cNvPr id="84" name="Group 83">
              <a:extLst>
                <a:ext uri="{FF2B5EF4-FFF2-40B4-BE49-F238E27FC236}">
                  <a16:creationId xmlns:a16="http://schemas.microsoft.com/office/drawing/2014/main" id="{B2D44DEA-8388-9063-2CE2-A05CD95DFCF8}"/>
                </a:ext>
              </a:extLst>
            </p:cNvPr>
            <p:cNvGrpSpPr/>
            <p:nvPr/>
          </p:nvGrpSpPr>
          <p:grpSpPr>
            <a:xfrm>
              <a:off x="30009565" y="27692890"/>
              <a:ext cx="8447376" cy="5724877"/>
              <a:chOff x="32616886" y="7114032"/>
              <a:chExt cx="9859134" cy="6345216"/>
            </a:xfrm>
          </p:grpSpPr>
          <p:sp>
            <p:nvSpPr>
              <p:cNvPr id="85" name="TextBox 84">
                <a:extLst>
                  <a:ext uri="{FF2B5EF4-FFF2-40B4-BE49-F238E27FC236}">
                    <a16:creationId xmlns:a16="http://schemas.microsoft.com/office/drawing/2014/main" id="{6613E284-0524-6690-06E0-8450DC1577DA}"/>
                  </a:ext>
                </a:extLst>
              </p:cNvPr>
              <p:cNvSpPr txBox="1"/>
              <p:nvPr/>
            </p:nvSpPr>
            <p:spPr>
              <a:xfrm>
                <a:off x="32616886" y="8093664"/>
                <a:ext cx="9859134" cy="5365584"/>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just">
                  <a:spcAft>
                    <a:spcPts val="1083"/>
                  </a:spcAft>
                </a:pPr>
                <a:r>
                  <a:rPr lang="en-US" sz="3000" dirty="0">
                    <a:solidFill>
                      <a:srgbClr val="002060"/>
                    </a:solidFill>
                    <a:latin typeface="Aptos" panose="020B0004020202020204" pitchFamily="34" charset="0"/>
                    <a:cs typeface="Arial" panose="020B0604020202020204" pitchFamily="34" charset="0"/>
                  </a:rPr>
                  <a:t>In the next phase of our project, we will expand our analytical library to include a wider range of substances, including methamphetamine, heroin, cocaine, and fentanyl. </a:t>
                </a:r>
              </a:p>
              <a:p>
                <a:pPr algn="just"/>
                <a:r>
                  <a:rPr lang="en-US" sz="3000" dirty="0">
                    <a:solidFill>
                      <a:srgbClr val="002060"/>
                    </a:solidFill>
                    <a:latin typeface="Aptos" panose="020B0004020202020204" pitchFamily="34" charset="0"/>
                    <a:cs typeface="Arial" panose="020B0604020202020204" pitchFamily="34" charset="0"/>
                  </a:rPr>
                  <a:t>Additionally, we will develop a program to automatically upload results to our website where individuals can access their analysis data by entering their vial ID. This feature will provide timely and accurate information, further enhancing the safety and awareness of drug users.</a:t>
                </a:r>
              </a:p>
            </p:txBody>
          </p:sp>
          <p:sp>
            <p:nvSpPr>
              <p:cNvPr id="86" name="Text Box 42">
                <a:extLst>
                  <a:ext uri="{FF2B5EF4-FFF2-40B4-BE49-F238E27FC236}">
                    <a16:creationId xmlns:a16="http://schemas.microsoft.com/office/drawing/2014/main" id="{F05CEFF7-0A3A-90DA-73EC-DA479FAD5101}"/>
                  </a:ext>
                </a:extLst>
              </p:cNvPr>
              <p:cNvSpPr txBox="1">
                <a:spLocks noChangeArrowheads="1"/>
              </p:cNvSpPr>
              <p:nvPr/>
            </p:nvSpPr>
            <p:spPr bwMode="auto">
              <a:xfrm>
                <a:off x="32616887" y="7114032"/>
                <a:ext cx="7148737" cy="923332"/>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4872" b="1" dirty="0">
                    <a:solidFill>
                      <a:srgbClr val="002060"/>
                    </a:solidFill>
                    <a:latin typeface="Aptos" panose="020B0004020202020204" pitchFamily="34" charset="0"/>
                    <a:cs typeface="Arial" panose="020B0604020202020204" pitchFamily="34" charset="0"/>
                  </a:rPr>
                  <a:t>Future Work</a:t>
                </a:r>
                <a:endParaRPr lang="en-US" sz="1624" dirty="0">
                  <a:solidFill>
                    <a:srgbClr val="002060"/>
                  </a:solidFill>
                  <a:latin typeface="Aptos" panose="020B0004020202020204" pitchFamily="34" charset="0"/>
                  <a:cs typeface="Arial" panose="020B0604020202020204" pitchFamily="34" charset="0"/>
                </a:endParaRPr>
              </a:p>
            </p:txBody>
          </p:sp>
        </p:grpSp>
        <p:sp>
          <p:nvSpPr>
            <p:cNvPr id="117" name="Oval 116">
              <a:extLst>
                <a:ext uri="{FF2B5EF4-FFF2-40B4-BE49-F238E27FC236}">
                  <a16:creationId xmlns:a16="http://schemas.microsoft.com/office/drawing/2014/main" id="{8151D036-8E58-6BEA-2156-0FCBBA06CA91}"/>
                </a:ext>
              </a:extLst>
            </p:cNvPr>
            <p:cNvSpPr>
              <a:spLocks noChangeAspect="1"/>
            </p:cNvSpPr>
            <p:nvPr/>
          </p:nvSpPr>
          <p:spPr>
            <a:xfrm>
              <a:off x="13882156" y="18719649"/>
              <a:ext cx="265397" cy="26539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grpSp>
          <p:nvGrpSpPr>
            <p:cNvPr id="198" name="Group 197">
              <a:extLst>
                <a:ext uri="{FF2B5EF4-FFF2-40B4-BE49-F238E27FC236}">
                  <a16:creationId xmlns:a16="http://schemas.microsoft.com/office/drawing/2014/main" id="{6611BFC9-5466-05D7-D3FC-887F1947071F}"/>
                </a:ext>
              </a:extLst>
            </p:cNvPr>
            <p:cNvGrpSpPr/>
            <p:nvPr/>
          </p:nvGrpSpPr>
          <p:grpSpPr>
            <a:xfrm>
              <a:off x="10827151" y="10584636"/>
              <a:ext cx="6357210" cy="4180101"/>
              <a:chOff x="12423217" y="7386598"/>
              <a:chExt cx="7046071" cy="4633050"/>
            </a:xfrm>
          </p:grpSpPr>
          <p:sp>
            <p:nvSpPr>
              <p:cNvPr id="131" name="Freeform 130">
                <a:extLst>
                  <a:ext uri="{FF2B5EF4-FFF2-40B4-BE49-F238E27FC236}">
                    <a16:creationId xmlns:a16="http://schemas.microsoft.com/office/drawing/2014/main" id="{2DE3CE2B-A8D7-98C1-CDEB-F1B595CE7CF3}"/>
                  </a:ext>
                </a:extLst>
              </p:cNvPr>
              <p:cNvSpPr/>
              <p:nvPr/>
            </p:nvSpPr>
            <p:spPr>
              <a:xfrm>
                <a:off x="12423217" y="7386598"/>
                <a:ext cx="7046071" cy="4633050"/>
              </a:xfrm>
              <a:custGeom>
                <a:avLst/>
                <a:gdLst>
                  <a:gd name="connsiteX0" fmla="*/ 443710 w 7046071"/>
                  <a:gd name="connsiteY0" fmla="*/ 0 h 4633050"/>
                  <a:gd name="connsiteX1" fmla="*/ 3285262 w 7046071"/>
                  <a:gd name="connsiteY1" fmla="*/ 0 h 4633050"/>
                  <a:gd name="connsiteX2" fmla="*/ 3728972 w 7046071"/>
                  <a:gd name="connsiteY2" fmla="*/ 443710 h 4633050"/>
                  <a:gd name="connsiteX3" fmla="*/ 3728972 w 7046071"/>
                  <a:gd name="connsiteY3" fmla="*/ 2766836 h 4633050"/>
                  <a:gd name="connsiteX4" fmla="*/ 6681213 w 7046071"/>
                  <a:gd name="connsiteY4" fmla="*/ 2766836 h 4633050"/>
                  <a:gd name="connsiteX5" fmla="*/ 7046071 w 7046071"/>
                  <a:gd name="connsiteY5" fmla="*/ 3131693 h 4633050"/>
                  <a:gd name="connsiteX6" fmla="*/ 7046071 w 7046071"/>
                  <a:gd name="connsiteY6" fmla="*/ 3859891 h 4633050"/>
                  <a:gd name="connsiteX7" fmla="*/ 6681213 w 7046071"/>
                  <a:gd name="connsiteY7" fmla="*/ 4224748 h 4633050"/>
                  <a:gd name="connsiteX8" fmla="*/ 3725403 w 7046071"/>
                  <a:gd name="connsiteY8" fmla="*/ 4224748 h 4633050"/>
                  <a:gd name="connsiteX9" fmla="*/ 3719957 w 7046071"/>
                  <a:gd name="connsiteY9" fmla="*/ 4278763 h 4633050"/>
                  <a:gd name="connsiteX10" fmla="*/ 3285262 w 7046071"/>
                  <a:gd name="connsiteY10" fmla="*/ 4633050 h 4633050"/>
                  <a:gd name="connsiteX11" fmla="*/ 443710 w 7046071"/>
                  <a:gd name="connsiteY11" fmla="*/ 4633050 h 4633050"/>
                  <a:gd name="connsiteX12" fmla="*/ 0 w 7046071"/>
                  <a:gd name="connsiteY12" fmla="*/ 4189340 h 4633050"/>
                  <a:gd name="connsiteX13" fmla="*/ 0 w 7046071"/>
                  <a:gd name="connsiteY13" fmla="*/ 443710 h 4633050"/>
                  <a:gd name="connsiteX14" fmla="*/ 443710 w 7046071"/>
                  <a:gd name="connsiteY14" fmla="*/ 0 h 463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46071" h="4633050">
                    <a:moveTo>
                      <a:pt x="443710" y="0"/>
                    </a:moveTo>
                    <a:lnTo>
                      <a:pt x="3285262" y="0"/>
                    </a:lnTo>
                    <a:cubicBezTo>
                      <a:pt x="3530316" y="0"/>
                      <a:pt x="3728972" y="198656"/>
                      <a:pt x="3728972" y="443710"/>
                    </a:cubicBezTo>
                    <a:lnTo>
                      <a:pt x="3728972" y="2766836"/>
                    </a:lnTo>
                    <a:lnTo>
                      <a:pt x="6681213" y="2766836"/>
                    </a:lnTo>
                    <a:cubicBezTo>
                      <a:pt x="6882719" y="2766836"/>
                      <a:pt x="7046071" y="2930188"/>
                      <a:pt x="7046071" y="3131693"/>
                    </a:cubicBezTo>
                    <a:lnTo>
                      <a:pt x="7046071" y="3859891"/>
                    </a:lnTo>
                    <a:cubicBezTo>
                      <a:pt x="7046071" y="4061396"/>
                      <a:pt x="6882719" y="4224748"/>
                      <a:pt x="6681213" y="4224748"/>
                    </a:cubicBezTo>
                    <a:lnTo>
                      <a:pt x="3725403" y="4224748"/>
                    </a:lnTo>
                    <a:lnTo>
                      <a:pt x="3719957" y="4278763"/>
                    </a:lnTo>
                    <a:cubicBezTo>
                      <a:pt x="3678583" y="4480954"/>
                      <a:pt x="3499684" y="4633050"/>
                      <a:pt x="3285262" y="4633050"/>
                    </a:cubicBezTo>
                    <a:lnTo>
                      <a:pt x="443710" y="4633050"/>
                    </a:lnTo>
                    <a:cubicBezTo>
                      <a:pt x="198656" y="4633050"/>
                      <a:pt x="0" y="4434394"/>
                      <a:pt x="0" y="4189340"/>
                    </a:cubicBezTo>
                    <a:lnTo>
                      <a:pt x="0" y="443710"/>
                    </a:lnTo>
                    <a:cubicBezTo>
                      <a:pt x="0" y="198656"/>
                      <a:pt x="198656" y="0"/>
                      <a:pt x="443710" y="0"/>
                    </a:cubicBezTo>
                    <a:close/>
                  </a:path>
                </a:pathLst>
              </a:cu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24"/>
              </a:p>
            </p:txBody>
          </p:sp>
          <p:pic>
            <p:nvPicPr>
              <p:cNvPr id="91" name="Picture 4" descr="UR3e Ultra-lightweight, compact cobot">
                <a:extLst>
                  <a:ext uri="{FF2B5EF4-FFF2-40B4-BE49-F238E27FC236}">
                    <a16:creationId xmlns:a16="http://schemas.microsoft.com/office/drawing/2014/main" id="{58985DC3-E98A-1D0B-87E3-7C108A6D4E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59201" y="7512320"/>
                <a:ext cx="3267075" cy="4352925"/>
              </a:xfrm>
              <a:prstGeom prst="rect">
                <a:avLst/>
              </a:prstGeom>
              <a:noFill/>
              <a:extLst>
                <a:ext uri="{909E8E84-426E-40DD-AFC4-6F175D3DCCD1}">
                  <a14:hiddenFill xmlns:a14="http://schemas.microsoft.com/office/drawing/2010/main">
                    <a:solidFill>
                      <a:srgbClr val="FFFFFF"/>
                    </a:solidFill>
                  </a14:hiddenFill>
                </a:ext>
              </a:extLst>
            </p:spPr>
          </p:pic>
          <p:sp>
            <p:nvSpPr>
              <p:cNvPr id="112" name="TextBox 111">
                <a:extLst>
                  <a:ext uri="{FF2B5EF4-FFF2-40B4-BE49-F238E27FC236}">
                    <a16:creationId xmlns:a16="http://schemas.microsoft.com/office/drawing/2014/main" id="{9CCE81E0-256A-5B78-EE68-D8C8852FA464}"/>
                  </a:ext>
                </a:extLst>
              </p:cNvPr>
              <p:cNvSpPr txBox="1"/>
              <p:nvPr/>
            </p:nvSpPr>
            <p:spPr>
              <a:xfrm>
                <a:off x="16179035" y="10319474"/>
                <a:ext cx="3290253"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UR3e robot </a:t>
                </a:r>
                <a:r>
                  <a:rPr lang="en-US" sz="1985" i="1" dirty="0">
                    <a:solidFill>
                      <a:srgbClr val="002060"/>
                    </a:solidFill>
                    <a:latin typeface="Aptos" panose="020B0004020202020204" pitchFamily="34" charset="0"/>
                    <a:cs typeface="Arial" panose="020B0604020202020204" pitchFamily="34" charset="0"/>
                  </a:rPr>
                  <a:t>with grippers to operate vial transfers between components</a:t>
                </a:r>
              </a:p>
            </p:txBody>
          </p:sp>
          <p:cxnSp>
            <p:nvCxnSpPr>
              <p:cNvPr id="132" name="Straight Connector 131">
                <a:extLst>
                  <a:ext uri="{FF2B5EF4-FFF2-40B4-BE49-F238E27FC236}">
                    <a16:creationId xmlns:a16="http://schemas.microsoft.com/office/drawing/2014/main" id="{2CF5129D-9350-8913-AF1C-E7E7EF20DA0F}"/>
                  </a:ext>
                </a:extLst>
              </p:cNvPr>
              <p:cNvCxnSpPr>
                <a:cxnSpLocks/>
              </p:cNvCxnSpPr>
              <p:nvPr/>
            </p:nvCxnSpPr>
            <p:spPr>
              <a:xfrm>
                <a:off x="16065186" y="10461934"/>
                <a:ext cx="0" cy="866004"/>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19371922-B9E4-35A8-959E-9349785ECABF}"/>
                </a:ext>
              </a:extLst>
            </p:cNvPr>
            <p:cNvGrpSpPr/>
            <p:nvPr/>
          </p:nvGrpSpPr>
          <p:grpSpPr>
            <a:xfrm>
              <a:off x="17510987" y="10593102"/>
              <a:ext cx="4428265" cy="4233129"/>
              <a:chOff x="20668096" y="7548848"/>
              <a:chExt cx="5660616" cy="5411173"/>
            </a:xfrm>
          </p:grpSpPr>
          <p:sp>
            <p:nvSpPr>
              <p:cNvPr id="136" name="Freeform 135">
                <a:extLst>
                  <a:ext uri="{FF2B5EF4-FFF2-40B4-BE49-F238E27FC236}">
                    <a16:creationId xmlns:a16="http://schemas.microsoft.com/office/drawing/2014/main" id="{82997447-491F-8002-5132-8AAF7E57FE78}"/>
                  </a:ext>
                </a:extLst>
              </p:cNvPr>
              <p:cNvSpPr/>
              <p:nvPr/>
            </p:nvSpPr>
            <p:spPr>
              <a:xfrm>
                <a:off x="20668096" y="7548848"/>
                <a:ext cx="5660616" cy="5411173"/>
              </a:xfrm>
              <a:custGeom>
                <a:avLst/>
                <a:gdLst>
                  <a:gd name="connsiteX0" fmla="*/ 596400 w 5660616"/>
                  <a:gd name="connsiteY0" fmla="*/ 0 h 5830316"/>
                  <a:gd name="connsiteX1" fmla="*/ 5064216 w 5660616"/>
                  <a:gd name="connsiteY1" fmla="*/ 0 h 5830316"/>
                  <a:gd name="connsiteX2" fmla="*/ 5660616 w 5660616"/>
                  <a:gd name="connsiteY2" fmla="*/ 596398 h 5830316"/>
                  <a:gd name="connsiteX3" fmla="*/ 5660616 w 5660616"/>
                  <a:gd name="connsiteY3" fmla="*/ 4002597 h 5830316"/>
                  <a:gd name="connsiteX4" fmla="*/ 5064216 w 5660616"/>
                  <a:gd name="connsiteY4" fmla="*/ 4598995 h 5830316"/>
                  <a:gd name="connsiteX5" fmla="*/ 4559594 w 5660616"/>
                  <a:gd name="connsiteY5" fmla="*/ 4598995 h 5830316"/>
                  <a:gd name="connsiteX6" fmla="*/ 4559594 w 5660616"/>
                  <a:gd name="connsiteY6" fmla="*/ 5425815 h 5830316"/>
                  <a:gd name="connsiteX7" fmla="*/ 4155092 w 5660616"/>
                  <a:gd name="connsiteY7" fmla="*/ 5830316 h 5830316"/>
                  <a:gd name="connsiteX8" fmla="*/ 622116 w 5660616"/>
                  <a:gd name="connsiteY8" fmla="*/ 5830316 h 5830316"/>
                  <a:gd name="connsiteX9" fmla="*/ 217614 w 5660616"/>
                  <a:gd name="connsiteY9" fmla="*/ 5425815 h 5830316"/>
                  <a:gd name="connsiteX10" fmla="*/ 217614 w 5660616"/>
                  <a:gd name="connsiteY10" fmla="*/ 4459737 h 5830316"/>
                  <a:gd name="connsiteX11" fmla="*/ 174682 w 5660616"/>
                  <a:gd name="connsiteY11" fmla="*/ 4424314 h 5830316"/>
                  <a:gd name="connsiteX12" fmla="*/ 0 w 5660616"/>
                  <a:gd name="connsiteY12" fmla="*/ 4002597 h 5830316"/>
                  <a:gd name="connsiteX13" fmla="*/ 0 w 5660616"/>
                  <a:gd name="connsiteY13" fmla="*/ 596398 h 5830316"/>
                  <a:gd name="connsiteX14" fmla="*/ 596400 w 5660616"/>
                  <a:gd name="connsiteY14" fmla="*/ 0 h 583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60616" h="5830316">
                    <a:moveTo>
                      <a:pt x="596400" y="0"/>
                    </a:moveTo>
                    <a:lnTo>
                      <a:pt x="5064216" y="0"/>
                    </a:lnTo>
                    <a:cubicBezTo>
                      <a:pt x="5393600" y="0"/>
                      <a:pt x="5660616" y="267016"/>
                      <a:pt x="5660616" y="596398"/>
                    </a:cubicBezTo>
                    <a:lnTo>
                      <a:pt x="5660616" y="4002597"/>
                    </a:lnTo>
                    <a:cubicBezTo>
                      <a:pt x="5660616" y="4331979"/>
                      <a:pt x="5393600" y="4598995"/>
                      <a:pt x="5064216" y="4598995"/>
                    </a:cubicBezTo>
                    <a:lnTo>
                      <a:pt x="4559594" y="4598995"/>
                    </a:lnTo>
                    <a:lnTo>
                      <a:pt x="4559594" y="5425815"/>
                    </a:lnTo>
                    <a:cubicBezTo>
                      <a:pt x="4559594" y="5649215"/>
                      <a:pt x="4378492" y="5830316"/>
                      <a:pt x="4155092" y="5830316"/>
                    </a:cubicBezTo>
                    <a:lnTo>
                      <a:pt x="622116" y="5830316"/>
                    </a:lnTo>
                    <a:cubicBezTo>
                      <a:pt x="398716" y="5830316"/>
                      <a:pt x="217614" y="5649215"/>
                      <a:pt x="217614" y="5425815"/>
                    </a:cubicBezTo>
                    <a:lnTo>
                      <a:pt x="217614" y="4459737"/>
                    </a:lnTo>
                    <a:lnTo>
                      <a:pt x="174682" y="4424314"/>
                    </a:lnTo>
                    <a:cubicBezTo>
                      <a:pt x="66754" y="4316387"/>
                      <a:pt x="0" y="4167288"/>
                      <a:pt x="0" y="4002597"/>
                    </a:cubicBezTo>
                    <a:lnTo>
                      <a:pt x="0" y="596398"/>
                    </a:lnTo>
                    <a:cubicBezTo>
                      <a:pt x="0" y="267016"/>
                      <a:pt x="267016" y="0"/>
                      <a:pt x="596400" y="0"/>
                    </a:cubicBezTo>
                    <a:close/>
                  </a:path>
                </a:pathLst>
              </a:cu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24" dirty="0"/>
              </a:p>
            </p:txBody>
          </p:sp>
          <p:sp>
            <p:nvSpPr>
              <p:cNvPr id="126" name="TextBox 125">
                <a:extLst>
                  <a:ext uri="{FF2B5EF4-FFF2-40B4-BE49-F238E27FC236}">
                    <a16:creationId xmlns:a16="http://schemas.microsoft.com/office/drawing/2014/main" id="{120FF36A-32FB-81E6-3584-45D41E8356FD}"/>
                  </a:ext>
                </a:extLst>
              </p:cNvPr>
              <p:cNvSpPr txBox="1"/>
              <p:nvPr/>
            </p:nvSpPr>
            <p:spPr>
              <a:xfrm>
                <a:off x="21287785" y="11900142"/>
                <a:ext cx="3943611" cy="887444"/>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i="1" dirty="0">
                    <a:solidFill>
                      <a:srgbClr val="002060"/>
                    </a:solidFill>
                    <a:latin typeface="Aptos" panose="020B0004020202020204" pitchFamily="34" charset="0"/>
                    <a:cs typeface="Arial" panose="020B0604020202020204" pitchFamily="34" charset="0"/>
                  </a:rPr>
                  <a:t>3/8” aluminum </a:t>
                </a:r>
                <a:r>
                  <a:rPr lang="en-US" sz="1985" b="1" i="1" dirty="0">
                    <a:solidFill>
                      <a:srgbClr val="002060"/>
                    </a:solidFill>
                    <a:latin typeface="Aptos" panose="020B0004020202020204" pitchFamily="34" charset="0"/>
                    <a:cs typeface="Arial" panose="020B0604020202020204" pitchFamily="34" charset="0"/>
                  </a:rPr>
                  <a:t>platform </a:t>
                </a:r>
                <a:r>
                  <a:rPr lang="en-US" sz="1985" i="1" dirty="0">
                    <a:solidFill>
                      <a:srgbClr val="002060"/>
                    </a:solidFill>
                    <a:latin typeface="Aptos" panose="020B0004020202020204" pitchFamily="34" charset="0"/>
                    <a:cs typeface="Arial" panose="020B0604020202020204" pitchFamily="34" charset="0"/>
                  </a:rPr>
                  <a:t>with machined M4 holes</a:t>
                </a:r>
                <a:endParaRPr lang="en-US" sz="1985" b="1" i="1" dirty="0">
                  <a:solidFill>
                    <a:srgbClr val="002060"/>
                  </a:solidFill>
                  <a:latin typeface="Aptos" panose="020B0004020202020204" pitchFamily="34" charset="0"/>
                  <a:cs typeface="Arial" panose="020B0604020202020204" pitchFamily="34" charset="0"/>
                </a:endParaRPr>
              </a:p>
            </p:txBody>
          </p:sp>
          <p:pic>
            <p:nvPicPr>
              <p:cNvPr id="92" name="Picture 91" descr="A black board with small dots&#10;&#10;Description automatically generated">
                <a:extLst>
                  <a:ext uri="{FF2B5EF4-FFF2-40B4-BE49-F238E27FC236}">
                    <a16:creationId xmlns:a16="http://schemas.microsoft.com/office/drawing/2014/main" id="{C7508948-80DA-FDA1-815D-D9DB01F7F8D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22092" y="7837920"/>
                <a:ext cx="4646308" cy="3737066"/>
              </a:xfrm>
              <a:prstGeom prst="rect">
                <a:avLst/>
              </a:prstGeom>
            </p:spPr>
          </p:pic>
          <p:cxnSp>
            <p:nvCxnSpPr>
              <p:cNvPr id="138" name="Straight Connector 137">
                <a:extLst>
                  <a:ext uri="{FF2B5EF4-FFF2-40B4-BE49-F238E27FC236}">
                    <a16:creationId xmlns:a16="http://schemas.microsoft.com/office/drawing/2014/main" id="{78C177F5-B3E1-52BD-7334-A9B171D6760E}"/>
                  </a:ext>
                </a:extLst>
              </p:cNvPr>
              <p:cNvCxnSpPr>
                <a:cxnSpLocks/>
              </p:cNvCxnSpPr>
              <p:nvPr/>
            </p:nvCxnSpPr>
            <p:spPr>
              <a:xfrm flipH="1">
                <a:off x="21498033" y="11755961"/>
                <a:ext cx="1079967"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cxnSp>
          <p:nvCxnSpPr>
            <p:cNvPr id="143" name="Straight Connector 142">
              <a:extLst>
                <a:ext uri="{FF2B5EF4-FFF2-40B4-BE49-F238E27FC236}">
                  <a16:creationId xmlns:a16="http://schemas.microsoft.com/office/drawing/2014/main" id="{08EE1836-63F9-7046-6CF6-650251C48F9A}"/>
                </a:ext>
              </a:extLst>
            </p:cNvPr>
            <p:cNvCxnSpPr>
              <a:cxnSpLocks/>
            </p:cNvCxnSpPr>
            <p:nvPr/>
          </p:nvCxnSpPr>
          <p:spPr>
            <a:xfrm>
              <a:off x="11409994" y="14954362"/>
              <a:ext cx="2595761" cy="3880346"/>
            </a:xfrm>
            <a:prstGeom prst="line">
              <a:avLst/>
            </a:prstGeom>
            <a:ln w="76200" cap="rnd">
              <a:solidFill>
                <a:srgbClr val="92D050"/>
              </a:solidFill>
              <a:prstDash val="sysDot"/>
              <a:round/>
            </a:ln>
          </p:spPr>
          <p:style>
            <a:lnRef idx="1">
              <a:schemeClr val="accent1"/>
            </a:lnRef>
            <a:fillRef idx="0">
              <a:schemeClr val="accent1"/>
            </a:fillRef>
            <a:effectRef idx="0">
              <a:schemeClr val="accent1"/>
            </a:effectRef>
            <a:fontRef idx="minor">
              <a:schemeClr val="tx1"/>
            </a:fontRef>
          </p:style>
        </p:cxnSp>
        <p:sp>
          <p:nvSpPr>
            <p:cNvPr id="146" name="Oval 145">
              <a:extLst>
                <a:ext uri="{FF2B5EF4-FFF2-40B4-BE49-F238E27FC236}">
                  <a16:creationId xmlns:a16="http://schemas.microsoft.com/office/drawing/2014/main" id="{4D933A9E-CAA2-8E41-DF5F-5525A0D5FAB6}"/>
                </a:ext>
              </a:extLst>
            </p:cNvPr>
            <p:cNvSpPr>
              <a:spLocks noChangeAspect="1"/>
            </p:cNvSpPr>
            <p:nvPr/>
          </p:nvSpPr>
          <p:spPr>
            <a:xfrm>
              <a:off x="20550894" y="17787959"/>
              <a:ext cx="265397" cy="265397"/>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147" name="Straight Connector 146">
              <a:extLst>
                <a:ext uri="{FF2B5EF4-FFF2-40B4-BE49-F238E27FC236}">
                  <a16:creationId xmlns:a16="http://schemas.microsoft.com/office/drawing/2014/main" id="{B39DE21B-CBFC-1C75-E531-BB951547E072}"/>
                </a:ext>
              </a:extLst>
            </p:cNvPr>
            <p:cNvCxnSpPr>
              <a:cxnSpLocks/>
              <a:stCxn id="122" idx="2"/>
              <a:endCxn id="146" idx="7"/>
            </p:cNvCxnSpPr>
            <p:nvPr/>
          </p:nvCxnSpPr>
          <p:spPr>
            <a:xfrm flipH="1">
              <a:off x="20777425" y="15112830"/>
              <a:ext cx="203362" cy="2713995"/>
            </a:xfrm>
            <a:prstGeom prst="line">
              <a:avLst/>
            </a:prstGeom>
            <a:ln w="76200" cap="rnd">
              <a:solidFill>
                <a:srgbClr val="7030A0"/>
              </a:solidFill>
              <a:prstDash val="sysDot"/>
              <a:round/>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9E534662-99F4-2267-C42A-FE6C006C7E74}"/>
                </a:ext>
              </a:extLst>
            </p:cNvPr>
            <p:cNvSpPr>
              <a:spLocks noChangeAspect="1"/>
            </p:cNvSpPr>
            <p:nvPr/>
          </p:nvSpPr>
          <p:spPr>
            <a:xfrm>
              <a:off x="22039309" y="17770830"/>
              <a:ext cx="265397" cy="26539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62" name="Straight Connector 61">
              <a:extLst>
                <a:ext uri="{FF2B5EF4-FFF2-40B4-BE49-F238E27FC236}">
                  <a16:creationId xmlns:a16="http://schemas.microsoft.com/office/drawing/2014/main" id="{69AEB4FF-B597-3654-DCA3-551E668D313E}"/>
                </a:ext>
              </a:extLst>
            </p:cNvPr>
            <p:cNvCxnSpPr>
              <a:cxnSpLocks/>
              <a:stCxn id="58" idx="2"/>
              <a:endCxn id="60" idx="7"/>
            </p:cNvCxnSpPr>
            <p:nvPr/>
          </p:nvCxnSpPr>
          <p:spPr>
            <a:xfrm flipH="1">
              <a:off x="22265840" y="15546514"/>
              <a:ext cx="542993" cy="2263182"/>
            </a:xfrm>
            <a:prstGeom prst="line">
              <a:avLst/>
            </a:prstGeom>
            <a:ln w="76200" cap="rnd">
              <a:solidFill>
                <a:srgbClr val="FF0000"/>
              </a:solidFill>
              <a:prstDash val="sysDot"/>
              <a:roun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EDC3327C-060A-AD22-1C93-65B08A7FEC1F}"/>
                </a:ext>
              </a:extLst>
            </p:cNvPr>
            <p:cNvCxnSpPr>
              <a:cxnSpLocks/>
              <a:endCxn id="130" idx="6"/>
            </p:cNvCxnSpPr>
            <p:nvPr/>
          </p:nvCxnSpPr>
          <p:spPr>
            <a:xfrm flipH="1">
              <a:off x="19658457" y="18708165"/>
              <a:ext cx="3898630" cy="574809"/>
            </a:xfrm>
            <a:prstGeom prst="line">
              <a:avLst/>
            </a:prstGeom>
            <a:ln w="76200" cap="rnd">
              <a:solidFill>
                <a:srgbClr val="FF9300"/>
              </a:solidFill>
              <a:prstDash val="sysDot"/>
              <a:round/>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32D35DD3-84C7-894A-7E6C-4FFA6DE4EBFE}"/>
                </a:ext>
              </a:extLst>
            </p:cNvPr>
            <p:cNvSpPr>
              <a:spLocks noChangeAspect="1"/>
            </p:cNvSpPr>
            <p:nvPr/>
          </p:nvSpPr>
          <p:spPr>
            <a:xfrm>
              <a:off x="19393061" y="19150276"/>
              <a:ext cx="265397" cy="265397"/>
            </a:xfrm>
            <a:prstGeom prst="ellipse">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grpSp>
          <p:nvGrpSpPr>
            <p:cNvPr id="161" name="Group 160">
              <a:extLst>
                <a:ext uri="{FF2B5EF4-FFF2-40B4-BE49-F238E27FC236}">
                  <a16:creationId xmlns:a16="http://schemas.microsoft.com/office/drawing/2014/main" id="{BD1D7A87-8B78-4407-2800-EC85DAE057A1}"/>
                </a:ext>
              </a:extLst>
            </p:cNvPr>
            <p:cNvGrpSpPr/>
            <p:nvPr/>
          </p:nvGrpSpPr>
          <p:grpSpPr>
            <a:xfrm>
              <a:off x="23627509" y="15637138"/>
              <a:ext cx="5329740" cy="2865264"/>
              <a:chOff x="25575996" y="17725812"/>
              <a:chExt cx="5907268" cy="3175740"/>
            </a:xfrm>
          </p:grpSpPr>
          <p:sp>
            <p:nvSpPr>
              <p:cNvPr id="145" name="Freeform: Shape 144">
                <a:extLst>
                  <a:ext uri="{FF2B5EF4-FFF2-40B4-BE49-F238E27FC236}">
                    <a16:creationId xmlns:a16="http://schemas.microsoft.com/office/drawing/2014/main" id="{D58280AC-B78E-9439-2377-0468CB18AAEC}"/>
                  </a:ext>
                </a:extLst>
              </p:cNvPr>
              <p:cNvSpPr/>
              <p:nvPr/>
            </p:nvSpPr>
            <p:spPr>
              <a:xfrm>
                <a:off x="25575996" y="17725812"/>
                <a:ext cx="5863520" cy="3175740"/>
              </a:xfrm>
              <a:custGeom>
                <a:avLst/>
                <a:gdLst>
                  <a:gd name="connsiteX0" fmla="*/ 320764 w 5863520"/>
                  <a:gd name="connsiteY0" fmla="*/ 0 h 3175740"/>
                  <a:gd name="connsiteX1" fmla="*/ 1603774 w 5863520"/>
                  <a:gd name="connsiteY1" fmla="*/ 0 h 3175740"/>
                  <a:gd name="connsiteX2" fmla="*/ 1924536 w 5863520"/>
                  <a:gd name="connsiteY2" fmla="*/ 320764 h 3175740"/>
                  <a:gd name="connsiteX3" fmla="*/ 1924536 w 5863520"/>
                  <a:gd name="connsiteY3" fmla="*/ 1425978 h 3175740"/>
                  <a:gd name="connsiteX4" fmla="*/ 1944610 w 5863520"/>
                  <a:gd name="connsiteY4" fmla="*/ 1419746 h 3175740"/>
                  <a:gd name="connsiteX5" fmla="*/ 1998898 w 5863520"/>
                  <a:gd name="connsiteY5" fmla="*/ 1414274 h 3175740"/>
                  <a:gd name="connsiteX6" fmla="*/ 5594144 w 5863520"/>
                  <a:gd name="connsiteY6" fmla="*/ 1414274 h 3175740"/>
                  <a:gd name="connsiteX7" fmla="*/ 5863520 w 5863520"/>
                  <a:gd name="connsiteY7" fmla="*/ 1683648 h 3175740"/>
                  <a:gd name="connsiteX8" fmla="*/ 5863520 w 5863520"/>
                  <a:gd name="connsiteY8" fmla="*/ 2761116 h 3175740"/>
                  <a:gd name="connsiteX9" fmla="*/ 5594144 w 5863520"/>
                  <a:gd name="connsiteY9" fmla="*/ 3030492 h 3175740"/>
                  <a:gd name="connsiteX10" fmla="*/ 1998898 w 5863520"/>
                  <a:gd name="connsiteY10" fmla="*/ 3030492 h 3175740"/>
                  <a:gd name="connsiteX11" fmla="*/ 1894046 w 5863520"/>
                  <a:gd name="connsiteY11" fmla="*/ 3009324 h 3175740"/>
                  <a:gd name="connsiteX12" fmla="*/ 1885762 w 5863520"/>
                  <a:gd name="connsiteY12" fmla="*/ 3004828 h 3175740"/>
                  <a:gd name="connsiteX13" fmla="*/ 1869756 w 5863520"/>
                  <a:gd name="connsiteY13" fmla="*/ 3034318 h 3175740"/>
                  <a:gd name="connsiteX14" fmla="*/ 1603774 w 5863520"/>
                  <a:gd name="connsiteY14" fmla="*/ 3175740 h 3175740"/>
                  <a:gd name="connsiteX15" fmla="*/ 320764 w 5863520"/>
                  <a:gd name="connsiteY15" fmla="*/ 3175740 h 3175740"/>
                  <a:gd name="connsiteX16" fmla="*/ 0 w 5863520"/>
                  <a:gd name="connsiteY16" fmla="*/ 2854976 h 3175740"/>
                  <a:gd name="connsiteX17" fmla="*/ 0 w 5863520"/>
                  <a:gd name="connsiteY17" fmla="*/ 320764 h 3175740"/>
                  <a:gd name="connsiteX18" fmla="*/ 320764 w 5863520"/>
                  <a:gd name="connsiteY18" fmla="*/ 0 h 317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3520" h="3175740">
                    <a:moveTo>
                      <a:pt x="320764" y="0"/>
                    </a:moveTo>
                    <a:lnTo>
                      <a:pt x="1603774" y="0"/>
                    </a:lnTo>
                    <a:cubicBezTo>
                      <a:pt x="1780928" y="0"/>
                      <a:pt x="1924536" y="143610"/>
                      <a:pt x="1924536" y="320764"/>
                    </a:cubicBezTo>
                    <a:lnTo>
                      <a:pt x="1924536" y="1425978"/>
                    </a:lnTo>
                    <a:lnTo>
                      <a:pt x="1944610" y="1419746"/>
                    </a:lnTo>
                    <a:cubicBezTo>
                      <a:pt x="1962146" y="1416158"/>
                      <a:pt x="1980302" y="1414274"/>
                      <a:pt x="1998898" y="1414274"/>
                    </a:cubicBezTo>
                    <a:lnTo>
                      <a:pt x="5594144" y="1414274"/>
                    </a:lnTo>
                    <a:cubicBezTo>
                      <a:pt x="5742916" y="1414274"/>
                      <a:pt x="5863520" y="1534876"/>
                      <a:pt x="5863520" y="1683648"/>
                    </a:cubicBezTo>
                    <a:lnTo>
                      <a:pt x="5863520" y="2761116"/>
                    </a:lnTo>
                    <a:cubicBezTo>
                      <a:pt x="5863520" y="2909888"/>
                      <a:pt x="5742916" y="3030492"/>
                      <a:pt x="5594144" y="3030492"/>
                    </a:cubicBezTo>
                    <a:lnTo>
                      <a:pt x="1998898" y="3030492"/>
                    </a:lnTo>
                    <a:cubicBezTo>
                      <a:pt x="1961706" y="3030492"/>
                      <a:pt x="1926272" y="3022954"/>
                      <a:pt x="1894046" y="3009324"/>
                    </a:cubicBezTo>
                    <a:lnTo>
                      <a:pt x="1885762" y="3004828"/>
                    </a:lnTo>
                    <a:lnTo>
                      <a:pt x="1869756" y="3034318"/>
                    </a:lnTo>
                    <a:cubicBezTo>
                      <a:pt x="1812112" y="3119642"/>
                      <a:pt x="1714496" y="3175740"/>
                      <a:pt x="1603774" y="3175740"/>
                    </a:cubicBezTo>
                    <a:lnTo>
                      <a:pt x="320764" y="3175740"/>
                    </a:lnTo>
                    <a:cubicBezTo>
                      <a:pt x="143610" y="3175740"/>
                      <a:pt x="0" y="3032128"/>
                      <a:pt x="0" y="2854976"/>
                    </a:cubicBezTo>
                    <a:lnTo>
                      <a:pt x="0" y="320764"/>
                    </a:lnTo>
                    <a:cubicBezTo>
                      <a:pt x="0" y="143610"/>
                      <a:pt x="143610" y="0"/>
                      <a:pt x="320764" y="0"/>
                    </a:cubicBezTo>
                    <a:close/>
                  </a:path>
                </a:pathLst>
              </a:custGeom>
              <a:solidFill>
                <a:srgbClr val="9DC3E6"/>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sz="1624" dirty="0"/>
              </a:p>
            </p:txBody>
          </p:sp>
          <p:sp>
            <p:nvSpPr>
              <p:cNvPr id="144" name="TextBox 143">
                <a:extLst>
                  <a:ext uri="{FF2B5EF4-FFF2-40B4-BE49-F238E27FC236}">
                    <a16:creationId xmlns:a16="http://schemas.microsoft.com/office/drawing/2014/main" id="{11078D01-2DEC-7A5D-5FCE-3D730500498D}"/>
                  </a:ext>
                </a:extLst>
              </p:cNvPr>
              <p:cNvSpPr txBox="1"/>
              <p:nvPr/>
            </p:nvSpPr>
            <p:spPr>
              <a:xfrm>
                <a:off x="27690636" y="19239854"/>
                <a:ext cx="3792628" cy="131858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Liquid Handler </a:t>
                </a:r>
                <a:r>
                  <a:rPr lang="en-US" sz="1985" i="1" dirty="0">
                    <a:solidFill>
                      <a:srgbClr val="002060"/>
                    </a:solidFill>
                    <a:latin typeface="Aptos" panose="020B0004020202020204" pitchFamily="34" charset="0"/>
                    <a:cs typeface="Arial" panose="020B0604020202020204" pitchFamily="34" charset="0"/>
                  </a:rPr>
                  <a:t>made with chemical-resistant plastic designed to precisely dispense and aspirate samples</a:t>
                </a:r>
              </a:p>
            </p:txBody>
          </p:sp>
          <p:cxnSp>
            <p:nvCxnSpPr>
              <p:cNvPr id="150" name="Straight Connector 149">
                <a:extLst>
                  <a:ext uri="{FF2B5EF4-FFF2-40B4-BE49-F238E27FC236}">
                    <a16:creationId xmlns:a16="http://schemas.microsoft.com/office/drawing/2014/main" id="{B06AB55C-3A73-E9DC-5384-7129A192B89E}"/>
                  </a:ext>
                </a:extLst>
              </p:cNvPr>
              <p:cNvCxnSpPr>
                <a:cxnSpLocks/>
              </p:cNvCxnSpPr>
              <p:nvPr/>
            </p:nvCxnSpPr>
            <p:spPr>
              <a:xfrm flipV="1">
                <a:off x="27550351" y="19341988"/>
                <a:ext cx="0" cy="116647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168" name="Oval 167" hidden="1">
              <a:extLst>
                <a:ext uri="{FF2B5EF4-FFF2-40B4-BE49-F238E27FC236}">
                  <a16:creationId xmlns:a16="http://schemas.microsoft.com/office/drawing/2014/main" id="{0B02EA9D-C8C5-52D0-31FD-2B215F7EF9C2}"/>
                </a:ext>
              </a:extLst>
            </p:cNvPr>
            <p:cNvSpPr>
              <a:spLocks noChangeAspect="1"/>
            </p:cNvSpPr>
            <p:nvPr/>
          </p:nvSpPr>
          <p:spPr>
            <a:xfrm>
              <a:off x="21050502" y="22566808"/>
              <a:ext cx="265397" cy="265397"/>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76" name="Oval 175">
              <a:extLst>
                <a:ext uri="{FF2B5EF4-FFF2-40B4-BE49-F238E27FC236}">
                  <a16:creationId xmlns:a16="http://schemas.microsoft.com/office/drawing/2014/main" id="{D5EF9705-2FD0-ACD4-F57B-2C81FA251E85}"/>
                </a:ext>
              </a:extLst>
            </p:cNvPr>
            <p:cNvSpPr>
              <a:spLocks noChangeAspect="1"/>
            </p:cNvSpPr>
            <p:nvPr/>
          </p:nvSpPr>
          <p:spPr>
            <a:xfrm>
              <a:off x="21173723" y="23532320"/>
              <a:ext cx="265397" cy="26539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177" name="Straight Connector 176">
              <a:extLst>
                <a:ext uri="{FF2B5EF4-FFF2-40B4-BE49-F238E27FC236}">
                  <a16:creationId xmlns:a16="http://schemas.microsoft.com/office/drawing/2014/main" id="{0E627258-CEB2-DF1E-FA17-E5995F655A19}"/>
                </a:ext>
              </a:extLst>
            </p:cNvPr>
            <p:cNvCxnSpPr>
              <a:cxnSpLocks/>
              <a:stCxn id="174" idx="2"/>
              <a:endCxn id="176" idx="6"/>
            </p:cNvCxnSpPr>
            <p:nvPr/>
          </p:nvCxnSpPr>
          <p:spPr>
            <a:xfrm flipH="1">
              <a:off x="21439120" y="22521948"/>
              <a:ext cx="2495770" cy="1143072"/>
            </a:xfrm>
            <a:prstGeom prst="line">
              <a:avLst/>
            </a:prstGeom>
            <a:ln w="76200" cap="rnd">
              <a:solidFill>
                <a:srgbClr val="00B050"/>
              </a:solidFill>
              <a:prstDash val="sysDot"/>
              <a:round/>
            </a:ln>
          </p:spPr>
          <p:style>
            <a:lnRef idx="1">
              <a:schemeClr val="accent1"/>
            </a:lnRef>
            <a:fillRef idx="0">
              <a:schemeClr val="accent1"/>
            </a:fillRef>
            <a:effectRef idx="0">
              <a:schemeClr val="accent1"/>
            </a:effectRef>
            <a:fontRef idx="minor">
              <a:schemeClr val="tx1"/>
            </a:fontRef>
          </p:style>
        </p:cxnSp>
        <p:grpSp>
          <p:nvGrpSpPr>
            <p:cNvPr id="204" name="Group 203">
              <a:extLst>
                <a:ext uri="{FF2B5EF4-FFF2-40B4-BE49-F238E27FC236}">
                  <a16:creationId xmlns:a16="http://schemas.microsoft.com/office/drawing/2014/main" id="{145C220F-CB95-9160-5715-22F5CE5CD1B5}"/>
                </a:ext>
              </a:extLst>
            </p:cNvPr>
            <p:cNvGrpSpPr/>
            <p:nvPr/>
          </p:nvGrpSpPr>
          <p:grpSpPr>
            <a:xfrm flipV="1">
              <a:off x="16663880" y="25265080"/>
              <a:ext cx="4958614" cy="2735716"/>
              <a:chOff x="18625442" y="23891470"/>
              <a:chExt cx="5495925" cy="3032154"/>
            </a:xfrm>
          </p:grpSpPr>
          <p:sp>
            <p:nvSpPr>
              <p:cNvPr id="187" name="Freeform: Shape 186">
                <a:extLst>
                  <a:ext uri="{FF2B5EF4-FFF2-40B4-BE49-F238E27FC236}">
                    <a16:creationId xmlns:a16="http://schemas.microsoft.com/office/drawing/2014/main" id="{A0736578-1A0E-A94E-BB8D-DCF17A56F190}"/>
                  </a:ext>
                </a:extLst>
              </p:cNvPr>
              <p:cNvSpPr/>
              <p:nvPr/>
            </p:nvSpPr>
            <p:spPr>
              <a:xfrm>
                <a:off x="18644508" y="23891470"/>
                <a:ext cx="5457794" cy="3032154"/>
              </a:xfrm>
              <a:custGeom>
                <a:avLst/>
                <a:gdLst>
                  <a:gd name="connsiteX0" fmla="*/ 272986 w 5457794"/>
                  <a:gd name="connsiteY0" fmla="*/ 0 h 3032154"/>
                  <a:gd name="connsiteX1" fmla="*/ 5184808 w 5457794"/>
                  <a:gd name="connsiteY1" fmla="*/ 0 h 3032154"/>
                  <a:gd name="connsiteX2" fmla="*/ 5457794 w 5457794"/>
                  <a:gd name="connsiteY2" fmla="*/ 272986 h 3032154"/>
                  <a:gd name="connsiteX3" fmla="*/ 5457794 w 5457794"/>
                  <a:gd name="connsiteY3" fmla="*/ 1364902 h 3032154"/>
                  <a:gd name="connsiteX4" fmla="*/ 5377838 w 5457794"/>
                  <a:gd name="connsiteY4" fmla="*/ 1557932 h 3032154"/>
                  <a:gd name="connsiteX5" fmla="*/ 5370708 w 5457794"/>
                  <a:gd name="connsiteY5" fmla="*/ 1563814 h 3032154"/>
                  <a:gd name="connsiteX6" fmla="*/ 5391592 w 5457794"/>
                  <a:gd name="connsiteY6" fmla="*/ 1667254 h 3032154"/>
                  <a:gd name="connsiteX7" fmla="*/ 5391592 w 5457794"/>
                  <a:gd name="connsiteY7" fmla="*/ 2759168 h 3032154"/>
                  <a:gd name="connsiteX8" fmla="*/ 5118604 w 5457794"/>
                  <a:gd name="connsiteY8" fmla="*/ 3032154 h 3032154"/>
                  <a:gd name="connsiteX9" fmla="*/ 1540252 w 5457794"/>
                  <a:gd name="connsiteY9" fmla="*/ 3032154 h 3032154"/>
                  <a:gd name="connsiteX10" fmla="*/ 1267266 w 5457794"/>
                  <a:gd name="connsiteY10" fmla="*/ 2759168 h 3032154"/>
                  <a:gd name="connsiteX11" fmla="*/ 1267266 w 5457794"/>
                  <a:gd name="connsiteY11" fmla="*/ 1667254 h 3032154"/>
                  <a:gd name="connsiteX12" fmla="*/ 1273194 w 5457794"/>
                  <a:gd name="connsiteY12" fmla="*/ 1637888 h 3032154"/>
                  <a:gd name="connsiteX13" fmla="*/ 272986 w 5457794"/>
                  <a:gd name="connsiteY13" fmla="*/ 1637888 h 3032154"/>
                  <a:gd name="connsiteX14" fmla="*/ 0 w 5457794"/>
                  <a:gd name="connsiteY14" fmla="*/ 1364902 h 3032154"/>
                  <a:gd name="connsiteX15" fmla="*/ 0 w 5457794"/>
                  <a:gd name="connsiteY15" fmla="*/ 272986 h 3032154"/>
                  <a:gd name="connsiteX16" fmla="*/ 272986 w 5457794"/>
                  <a:gd name="connsiteY16" fmla="*/ 0 h 303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57794" h="3032154">
                    <a:moveTo>
                      <a:pt x="272986" y="0"/>
                    </a:moveTo>
                    <a:lnTo>
                      <a:pt x="5184808" y="0"/>
                    </a:lnTo>
                    <a:cubicBezTo>
                      <a:pt x="5335574" y="0"/>
                      <a:pt x="5457794" y="122220"/>
                      <a:pt x="5457794" y="272986"/>
                    </a:cubicBezTo>
                    <a:lnTo>
                      <a:pt x="5457794" y="1364902"/>
                    </a:lnTo>
                    <a:cubicBezTo>
                      <a:pt x="5457794" y="1440286"/>
                      <a:pt x="5427238" y="1508532"/>
                      <a:pt x="5377838" y="1557932"/>
                    </a:cubicBezTo>
                    <a:lnTo>
                      <a:pt x="5370708" y="1563814"/>
                    </a:lnTo>
                    <a:lnTo>
                      <a:pt x="5391592" y="1667254"/>
                    </a:lnTo>
                    <a:lnTo>
                      <a:pt x="5391592" y="2759168"/>
                    </a:lnTo>
                    <a:cubicBezTo>
                      <a:pt x="5391592" y="2909934"/>
                      <a:pt x="5269372" y="3032154"/>
                      <a:pt x="5118604" y="3032154"/>
                    </a:cubicBezTo>
                    <a:lnTo>
                      <a:pt x="1540252" y="3032154"/>
                    </a:lnTo>
                    <a:cubicBezTo>
                      <a:pt x="1389486" y="3032154"/>
                      <a:pt x="1267266" y="2909934"/>
                      <a:pt x="1267266" y="2759168"/>
                    </a:cubicBezTo>
                    <a:lnTo>
                      <a:pt x="1267266" y="1667254"/>
                    </a:lnTo>
                    <a:lnTo>
                      <a:pt x="1273194" y="1637888"/>
                    </a:lnTo>
                    <a:lnTo>
                      <a:pt x="272986" y="1637888"/>
                    </a:lnTo>
                    <a:cubicBezTo>
                      <a:pt x="122220" y="1637888"/>
                      <a:pt x="0" y="1515668"/>
                      <a:pt x="0" y="1364902"/>
                    </a:cubicBezTo>
                    <a:lnTo>
                      <a:pt x="0" y="272986"/>
                    </a:lnTo>
                    <a:cubicBezTo>
                      <a:pt x="0" y="122220"/>
                      <a:pt x="122220" y="0"/>
                      <a:pt x="272986" y="0"/>
                    </a:cubicBezTo>
                    <a:close/>
                  </a:path>
                </a:pathLst>
              </a:custGeom>
              <a:solidFill>
                <a:srgbClr val="9DC3E6"/>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sz="1624"/>
              </a:p>
            </p:txBody>
          </p:sp>
          <p:pic>
            <p:nvPicPr>
              <p:cNvPr id="102" name="Picture 101" descr="A group of test tubes&#10;&#10;Description automatically generated">
                <a:extLst>
                  <a:ext uri="{FF2B5EF4-FFF2-40B4-BE49-F238E27FC236}">
                    <a16:creationId xmlns:a16="http://schemas.microsoft.com/office/drawing/2014/main" id="{9B50F29D-EFE2-3F6E-EE23-2C2DF37655FA}"/>
                  </a:ext>
                </a:extLst>
              </p:cNvPr>
              <p:cNvPicPr>
                <a:picLocks noChangeAspect="1"/>
              </p:cNvPicPr>
              <p:nvPr/>
            </p:nvPicPr>
            <p:blipFill rotWithShape="1">
              <a:blip r:embed="rId11">
                <a:extLst>
                  <a:ext uri="{28A0092B-C50C-407E-A947-70E740481C1C}">
                    <a14:useLocalDpi xmlns:a14="http://schemas.microsoft.com/office/drawing/2010/main" val="0"/>
                  </a:ext>
                </a:extLst>
              </a:blip>
              <a:srcRect t="40246" b="22341"/>
              <a:stretch/>
            </p:blipFill>
            <p:spPr>
              <a:xfrm flipV="1">
                <a:off x="18625442" y="23968657"/>
                <a:ext cx="5495925" cy="1543014"/>
              </a:xfrm>
              <a:prstGeom prst="rect">
                <a:avLst/>
              </a:prstGeom>
            </p:spPr>
          </p:pic>
          <p:sp>
            <p:nvSpPr>
              <p:cNvPr id="185" name="TextBox 184">
                <a:extLst>
                  <a:ext uri="{FF2B5EF4-FFF2-40B4-BE49-F238E27FC236}">
                    <a16:creationId xmlns:a16="http://schemas.microsoft.com/office/drawing/2014/main" id="{5D875472-9581-FA02-3226-EA5CE54B612B}"/>
                  </a:ext>
                </a:extLst>
              </p:cNvPr>
              <p:cNvSpPr txBox="1"/>
              <p:nvPr/>
            </p:nvSpPr>
            <p:spPr>
              <a:xfrm flipV="1">
                <a:off x="20232709" y="25695359"/>
                <a:ext cx="3810005"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3D-printed vial trays </a:t>
                </a:r>
                <a:r>
                  <a:rPr lang="en-US" sz="1985" i="1" dirty="0">
                    <a:solidFill>
                      <a:srgbClr val="002060"/>
                    </a:solidFill>
                    <a:latin typeface="Aptos" panose="020B0004020202020204" pitchFamily="34" charset="0"/>
                    <a:cs typeface="Arial" panose="020B0604020202020204" pitchFamily="34" charset="0"/>
                  </a:rPr>
                  <a:t>designed to house 15 HPLC vials and centrifuge vials</a:t>
                </a:r>
              </a:p>
            </p:txBody>
          </p:sp>
          <p:cxnSp>
            <p:nvCxnSpPr>
              <p:cNvPr id="188" name="Straight Connector 187">
                <a:extLst>
                  <a:ext uri="{FF2B5EF4-FFF2-40B4-BE49-F238E27FC236}">
                    <a16:creationId xmlns:a16="http://schemas.microsoft.com/office/drawing/2014/main" id="{962F700E-6BED-C743-51FB-8245B4A5BFC8}"/>
                  </a:ext>
                </a:extLst>
              </p:cNvPr>
              <p:cNvCxnSpPr>
                <a:cxnSpLocks/>
              </p:cNvCxnSpPr>
              <p:nvPr/>
            </p:nvCxnSpPr>
            <p:spPr>
              <a:xfrm flipV="1">
                <a:off x="20292980" y="25624429"/>
                <a:ext cx="2953915"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922ABC2C-5DA6-B0AE-14AF-4380A9E7951F}"/>
                </a:ext>
              </a:extLst>
            </p:cNvPr>
            <p:cNvCxnSpPr>
              <a:cxnSpLocks/>
            </p:cNvCxnSpPr>
            <p:nvPr/>
          </p:nvCxnSpPr>
          <p:spPr>
            <a:xfrm flipH="1" flipV="1">
              <a:off x="18396909" y="22877797"/>
              <a:ext cx="3958597" cy="2329990"/>
            </a:xfrm>
            <a:prstGeom prst="line">
              <a:avLst/>
            </a:prstGeom>
            <a:ln w="76200" cap="rnd">
              <a:solidFill>
                <a:srgbClr val="FFC000"/>
              </a:solidFill>
              <a:prstDash val="sysDot"/>
              <a:round/>
            </a:ln>
          </p:spPr>
          <p:style>
            <a:lnRef idx="1">
              <a:schemeClr val="accent1"/>
            </a:lnRef>
            <a:fillRef idx="0">
              <a:schemeClr val="accent1"/>
            </a:fillRef>
            <a:effectRef idx="0">
              <a:schemeClr val="accent1"/>
            </a:effectRef>
            <a:fontRef idx="minor">
              <a:schemeClr val="tx1"/>
            </a:fontRef>
          </p:style>
        </p:cxnSp>
        <p:sp>
          <p:nvSpPr>
            <p:cNvPr id="197" name="Oval 196">
              <a:extLst>
                <a:ext uri="{FF2B5EF4-FFF2-40B4-BE49-F238E27FC236}">
                  <a16:creationId xmlns:a16="http://schemas.microsoft.com/office/drawing/2014/main" id="{CB02D618-0227-7480-3737-B554638A2CA3}"/>
                </a:ext>
              </a:extLst>
            </p:cNvPr>
            <p:cNvSpPr>
              <a:spLocks noChangeAspect="1"/>
            </p:cNvSpPr>
            <p:nvPr/>
          </p:nvSpPr>
          <p:spPr>
            <a:xfrm>
              <a:off x="18183581" y="22695085"/>
              <a:ext cx="265397" cy="26539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17" name="Oval 216">
              <a:extLst>
                <a:ext uri="{FF2B5EF4-FFF2-40B4-BE49-F238E27FC236}">
                  <a16:creationId xmlns:a16="http://schemas.microsoft.com/office/drawing/2014/main" id="{BC92BF68-6172-3419-92AC-5894C7F54481}"/>
                </a:ext>
              </a:extLst>
            </p:cNvPr>
            <p:cNvSpPr>
              <a:spLocks noChangeAspect="1"/>
            </p:cNvSpPr>
            <p:nvPr/>
          </p:nvSpPr>
          <p:spPr>
            <a:xfrm>
              <a:off x="17364394" y="23652358"/>
              <a:ext cx="265397" cy="265397"/>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218" name="Straight Connector 217">
              <a:extLst>
                <a:ext uri="{FF2B5EF4-FFF2-40B4-BE49-F238E27FC236}">
                  <a16:creationId xmlns:a16="http://schemas.microsoft.com/office/drawing/2014/main" id="{8295A7E4-4836-A6A1-042D-6C722C689204}"/>
                </a:ext>
              </a:extLst>
            </p:cNvPr>
            <p:cNvCxnSpPr>
              <a:cxnSpLocks/>
              <a:stCxn id="215" idx="0"/>
              <a:endCxn id="217" idx="4"/>
            </p:cNvCxnSpPr>
            <p:nvPr/>
          </p:nvCxnSpPr>
          <p:spPr>
            <a:xfrm flipH="1" flipV="1">
              <a:off x="17497091" y="23917755"/>
              <a:ext cx="391363" cy="963034"/>
            </a:xfrm>
            <a:prstGeom prst="line">
              <a:avLst/>
            </a:prstGeom>
            <a:ln w="76200" cap="rnd">
              <a:solidFill>
                <a:srgbClr val="00B0F0"/>
              </a:solidFill>
              <a:prstDash val="sysDot"/>
              <a:round/>
            </a:ln>
          </p:spPr>
          <p:style>
            <a:lnRef idx="1">
              <a:schemeClr val="accent1"/>
            </a:lnRef>
            <a:fillRef idx="0">
              <a:schemeClr val="accent1"/>
            </a:fillRef>
            <a:effectRef idx="0">
              <a:schemeClr val="accent1"/>
            </a:effectRef>
            <a:fontRef idx="minor">
              <a:schemeClr val="tx1"/>
            </a:fontRef>
          </p:style>
        </p:cxnSp>
        <p:grpSp>
          <p:nvGrpSpPr>
            <p:cNvPr id="119" name="Group 118">
              <a:extLst>
                <a:ext uri="{FF2B5EF4-FFF2-40B4-BE49-F238E27FC236}">
                  <a16:creationId xmlns:a16="http://schemas.microsoft.com/office/drawing/2014/main" id="{82EE78F3-AE1A-2914-8816-886A1485CF38}"/>
                </a:ext>
              </a:extLst>
            </p:cNvPr>
            <p:cNvGrpSpPr/>
            <p:nvPr/>
          </p:nvGrpSpPr>
          <p:grpSpPr>
            <a:xfrm>
              <a:off x="20664905" y="14487447"/>
              <a:ext cx="649609" cy="649608"/>
              <a:chOff x="12131209" y="11563837"/>
              <a:chExt cx="720000" cy="720000"/>
            </a:xfrm>
          </p:grpSpPr>
          <p:sp>
            <p:nvSpPr>
              <p:cNvPr id="120" name="Oval 119">
                <a:extLst>
                  <a:ext uri="{FF2B5EF4-FFF2-40B4-BE49-F238E27FC236}">
                    <a16:creationId xmlns:a16="http://schemas.microsoft.com/office/drawing/2014/main" id="{84399658-9839-0D12-F287-25E4EE9A781F}"/>
                  </a:ext>
                </a:extLst>
              </p:cNvPr>
              <p:cNvSpPr>
                <a:spLocks noChangeAspect="1"/>
              </p:cNvSpPr>
              <p:nvPr/>
            </p:nvSpPr>
            <p:spPr>
              <a:xfrm>
                <a:off x="12131209" y="11563837"/>
                <a:ext cx="720000" cy="720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22" name="TextBox 121">
                <a:extLst>
                  <a:ext uri="{FF2B5EF4-FFF2-40B4-BE49-F238E27FC236}">
                    <a16:creationId xmlns:a16="http://schemas.microsoft.com/office/drawing/2014/main" id="{26BDBD36-5F32-FA23-CE24-585228F1A756}"/>
                  </a:ext>
                </a:extLst>
              </p:cNvPr>
              <p:cNvSpPr txBox="1"/>
              <p:nvPr/>
            </p:nvSpPr>
            <p:spPr>
              <a:xfrm>
                <a:off x="12211423" y="11600671"/>
                <a:ext cx="539795" cy="656316"/>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2</a:t>
                </a:r>
              </a:p>
            </p:txBody>
          </p:sp>
        </p:grpSp>
        <p:grpSp>
          <p:nvGrpSpPr>
            <p:cNvPr id="199" name="Group 198">
              <a:extLst>
                <a:ext uri="{FF2B5EF4-FFF2-40B4-BE49-F238E27FC236}">
                  <a16:creationId xmlns:a16="http://schemas.microsoft.com/office/drawing/2014/main" id="{E487CDE3-927B-4716-7F5A-ED736CF40164}"/>
                </a:ext>
              </a:extLst>
            </p:cNvPr>
            <p:cNvGrpSpPr/>
            <p:nvPr/>
          </p:nvGrpSpPr>
          <p:grpSpPr>
            <a:xfrm>
              <a:off x="21982975" y="10539539"/>
              <a:ext cx="5864518" cy="4781882"/>
              <a:chOff x="25303376" y="8326824"/>
              <a:chExt cx="6499991" cy="5300039"/>
            </a:xfrm>
          </p:grpSpPr>
          <p:sp>
            <p:nvSpPr>
              <p:cNvPr id="82" name="Freeform 81">
                <a:extLst>
                  <a:ext uri="{FF2B5EF4-FFF2-40B4-BE49-F238E27FC236}">
                    <a16:creationId xmlns:a16="http://schemas.microsoft.com/office/drawing/2014/main" id="{0C22CB4F-8AF2-D02F-35E6-AEF7D25A39AB}"/>
                  </a:ext>
                </a:extLst>
              </p:cNvPr>
              <p:cNvSpPr/>
              <p:nvPr/>
            </p:nvSpPr>
            <p:spPr>
              <a:xfrm>
                <a:off x="26065167" y="8421492"/>
                <a:ext cx="5648454" cy="5205371"/>
              </a:xfrm>
              <a:custGeom>
                <a:avLst/>
                <a:gdLst>
                  <a:gd name="connsiteX0" fmla="*/ 503508 w 5648454"/>
                  <a:gd name="connsiteY0" fmla="*/ 0 h 5205371"/>
                  <a:gd name="connsiteX1" fmla="*/ 2517480 w 5648454"/>
                  <a:gd name="connsiteY1" fmla="*/ 0 h 5205371"/>
                  <a:gd name="connsiteX2" fmla="*/ 3020988 w 5648454"/>
                  <a:gd name="connsiteY2" fmla="*/ 503508 h 5205371"/>
                  <a:gd name="connsiteX3" fmla="*/ 3020988 w 5648454"/>
                  <a:gd name="connsiteY3" fmla="*/ 3549467 h 5205371"/>
                  <a:gd name="connsiteX4" fmla="*/ 5373040 w 5648454"/>
                  <a:gd name="connsiteY4" fmla="*/ 3549467 h 5205371"/>
                  <a:gd name="connsiteX5" fmla="*/ 5648454 w 5648454"/>
                  <a:gd name="connsiteY5" fmla="*/ 3824881 h 5205371"/>
                  <a:gd name="connsiteX6" fmla="*/ 5648454 w 5648454"/>
                  <a:gd name="connsiteY6" fmla="*/ 4926502 h 5205371"/>
                  <a:gd name="connsiteX7" fmla="*/ 5373040 w 5648454"/>
                  <a:gd name="connsiteY7" fmla="*/ 5201916 h 5205371"/>
                  <a:gd name="connsiteX8" fmla="*/ 2551754 w 5648454"/>
                  <a:gd name="connsiteY8" fmla="*/ 5201916 h 5205371"/>
                  <a:gd name="connsiteX9" fmla="*/ 2517480 w 5648454"/>
                  <a:gd name="connsiteY9" fmla="*/ 5205371 h 5205371"/>
                  <a:gd name="connsiteX10" fmla="*/ 503508 w 5648454"/>
                  <a:gd name="connsiteY10" fmla="*/ 5205371 h 5205371"/>
                  <a:gd name="connsiteX11" fmla="*/ 0 w 5648454"/>
                  <a:gd name="connsiteY11" fmla="*/ 4701863 h 5205371"/>
                  <a:gd name="connsiteX12" fmla="*/ 0 w 5648454"/>
                  <a:gd name="connsiteY12" fmla="*/ 503508 h 5205371"/>
                  <a:gd name="connsiteX13" fmla="*/ 503508 w 5648454"/>
                  <a:gd name="connsiteY13" fmla="*/ 0 h 5205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48454" h="5205371">
                    <a:moveTo>
                      <a:pt x="503508" y="0"/>
                    </a:moveTo>
                    <a:lnTo>
                      <a:pt x="2517480" y="0"/>
                    </a:lnTo>
                    <a:cubicBezTo>
                      <a:pt x="2795560" y="0"/>
                      <a:pt x="3020988" y="225428"/>
                      <a:pt x="3020988" y="503508"/>
                    </a:cubicBezTo>
                    <a:lnTo>
                      <a:pt x="3020988" y="3549467"/>
                    </a:lnTo>
                    <a:lnTo>
                      <a:pt x="5373040" y="3549467"/>
                    </a:lnTo>
                    <a:cubicBezTo>
                      <a:pt x="5525148" y="3549467"/>
                      <a:pt x="5648454" y="3672774"/>
                      <a:pt x="5648454" y="3824881"/>
                    </a:cubicBezTo>
                    <a:lnTo>
                      <a:pt x="5648454" y="4926502"/>
                    </a:lnTo>
                    <a:cubicBezTo>
                      <a:pt x="5648454" y="5078609"/>
                      <a:pt x="5525148" y="5201916"/>
                      <a:pt x="5373040" y="5201916"/>
                    </a:cubicBezTo>
                    <a:lnTo>
                      <a:pt x="2551754" y="5201916"/>
                    </a:lnTo>
                    <a:lnTo>
                      <a:pt x="2517480" y="5205371"/>
                    </a:lnTo>
                    <a:lnTo>
                      <a:pt x="503508" y="5205371"/>
                    </a:lnTo>
                    <a:cubicBezTo>
                      <a:pt x="225428" y="5205371"/>
                      <a:pt x="0" y="4979943"/>
                      <a:pt x="0" y="4701863"/>
                    </a:cubicBezTo>
                    <a:lnTo>
                      <a:pt x="0" y="503508"/>
                    </a:lnTo>
                    <a:cubicBezTo>
                      <a:pt x="0" y="225428"/>
                      <a:pt x="225428" y="0"/>
                      <a:pt x="503508" y="0"/>
                    </a:cubicBezTo>
                    <a:close/>
                  </a:path>
                </a:pathLst>
              </a:cu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24"/>
              </a:p>
            </p:txBody>
          </p:sp>
          <p:grpSp>
            <p:nvGrpSpPr>
              <p:cNvPr id="88" name="Group 87">
                <a:extLst>
                  <a:ext uri="{FF2B5EF4-FFF2-40B4-BE49-F238E27FC236}">
                    <a16:creationId xmlns:a16="http://schemas.microsoft.com/office/drawing/2014/main" id="{32B6981D-B40B-DA75-1F30-439B2B6DB9DE}"/>
                  </a:ext>
                </a:extLst>
              </p:cNvPr>
              <p:cNvGrpSpPr/>
              <p:nvPr/>
            </p:nvGrpSpPr>
            <p:grpSpPr>
              <a:xfrm>
                <a:off x="28204427" y="12254819"/>
                <a:ext cx="3598940" cy="1108037"/>
                <a:chOff x="29017441" y="11502918"/>
                <a:chExt cx="3598940" cy="1108037"/>
              </a:xfrm>
            </p:grpSpPr>
            <p:cxnSp>
              <p:nvCxnSpPr>
                <p:cNvPr id="38" name="Straight Connector 37">
                  <a:extLst>
                    <a:ext uri="{FF2B5EF4-FFF2-40B4-BE49-F238E27FC236}">
                      <a16:creationId xmlns:a16="http://schemas.microsoft.com/office/drawing/2014/main" id="{917696D9-7FE1-235F-E801-7CB52643044E}"/>
                    </a:ext>
                  </a:extLst>
                </p:cNvPr>
                <p:cNvCxnSpPr>
                  <a:cxnSpLocks/>
                </p:cNvCxnSpPr>
                <p:nvPr/>
              </p:nvCxnSpPr>
              <p:spPr>
                <a:xfrm flipV="1">
                  <a:off x="29017441" y="11630649"/>
                  <a:ext cx="0" cy="82207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448059F-1DB5-3097-062D-F307BCB74EC6}"/>
                    </a:ext>
                  </a:extLst>
                </p:cNvPr>
                <p:cNvSpPr txBox="1"/>
                <p:nvPr/>
              </p:nvSpPr>
              <p:spPr>
                <a:xfrm>
                  <a:off x="29162770" y="11502918"/>
                  <a:ext cx="3453611"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3D-printed housing </a:t>
                  </a:r>
                  <a:r>
                    <a:rPr lang="en-US" sz="1985" i="1" dirty="0">
                      <a:solidFill>
                        <a:srgbClr val="002060"/>
                      </a:solidFill>
                      <a:latin typeface="Aptos" panose="020B0004020202020204" pitchFamily="34" charset="0"/>
                      <a:cs typeface="Arial" panose="020B0604020202020204" pitchFamily="34" charset="0"/>
                    </a:rPr>
                    <a:t>for a stepper motor-activated  Fisher </a:t>
                  </a:r>
                  <a:r>
                    <a:rPr lang="en-US" sz="1985" b="1" i="1" dirty="0">
                      <a:solidFill>
                        <a:srgbClr val="002060"/>
                      </a:solidFill>
                      <a:latin typeface="Aptos" panose="020B0004020202020204" pitchFamily="34" charset="0"/>
                      <a:cs typeface="Arial" panose="020B0604020202020204" pitchFamily="34" charset="0"/>
                    </a:rPr>
                    <a:t>vortexer</a:t>
                  </a:r>
                  <a:endParaRPr lang="en-US" sz="1985" i="1" dirty="0">
                    <a:solidFill>
                      <a:srgbClr val="002060"/>
                    </a:solidFill>
                    <a:latin typeface="Aptos" panose="020B0004020202020204" pitchFamily="34" charset="0"/>
                    <a:cs typeface="Arial" panose="020B0604020202020204" pitchFamily="34" charset="0"/>
                  </a:endParaRPr>
                </a:p>
              </p:txBody>
            </p:sp>
          </p:grpSp>
          <p:pic>
            <p:nvPicPr>
              <p:cNvPr id="94" name="Picture 93">
                <a:extLst>
                  <a:ext uri="{FF2B5EF4-FFF2-40B4-BE49-F238E27FC236}">
                    <a16:creationId xmlns:a16="http://schemas.microsoft.com/office/drawing/2014/main" id="{DA390687-F5A9-86A7-545D-279467B96A4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5303376" y="8326824"/>
                <a:ext cx="3720447" cy="4957732"/>
              </a:xfrm>
              <a:prstGeom prst="rect">
                <a:avLst/>
              </a:prstGeom>
            </p:spPr>
          </p:pic>
        </p:grpSp>
        <p:grpSp>
          <p:nvGrpSpPr>
            <p:cNvPr id="50" name="Group 49">
              <a:extLst>
                <a:ext uri="{FF2B5EF4-FFF2-40B4-BE49-F238E27FC236}">
                  <a16:creationId xmlns:a16="http://schemas.microsoft.com/office/drawing/2014/main" id="{A2922D97-4A70-CA83-8A09-A7FF9873B965}"/>
                </a:ext>
              </a:extLst>
            </p:cNvPr>
            <p:cNvGrpSpPr/>
            <p:nvPr/>
          </p:nvGrpSpPr>
          <p:grpSpPr>
            <a:xfrm>
              <a:off x="22481932" y="14916106"/>
              <a:ext cx="649609" cy="649609"/>
              <a:chOff x="12131209" y="11563837"/>
              <a:chExt cx="720000" cy="720000"/>
            </a:xfrm>
            <a:solidFill>
              <a:srgbClr val="FF0000"/>
            </a:solidFill>
          </p:grpSpPr>
          <p:sp>
            <p:nvSpPr>
              <p:cNvPr id="52" name="Oval 51">
                <a:extLst>
                  <a:ext uri="{FF2B5EF4-FFF2-40B4-BE49-F238E27FC236}">
                    <a16:creationId xmlns:a16="http://schemas.microsoft.com/office/drawing/2014/main" id="{7AE3C133-863F-D36F-7299-5B755270BA1B}"/>
                  </a:ext>
                </a:extLst>
              </p:cNvPr>
              <p:cNvSpPr>
                <a:spLocks noChangeAspect="1"/>
              </p:cNvSpPr>
              <p:nvPr/>
            </p:nvSpPr>
            <p:spPr>
              <a:xfrm>
                <a:off x="12131209" y="11563837"/>
                <a:ext cx="720000" cy="720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58" name="TextBox 57">
                <a:extLst>
                  <a:ext uri="{FF2B5EF4-FFF2-40B4-BE49-F238E27FC236}">
                    <a16:creationId xmlns:a16="http://schemas.microsoft.com/office/drawing/2014/main" id="{FF3474B2-367F-7E1B-F0E8-3947BF72A6A1}"/>
                  </a:ext>
                </a:extLst>
              </p:cNvPr>
              <p:cNvSpPr txBox="1"/>
              <p:nvPr/>
            </p:nvSpPr>
            <p:spPr>
              <a:xfrm>
                <a:off x="12223634" y="11606241"/>
                <a:ext cx="539795" cy="656315"/>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3</a:t>
                </a:r>
              </a:p>
            </p:txBody>
          </p:sp>
        </p:grpSp>
        <p:grpSp>
          <p:nvGrpSpPr>
            <p:cNvPr id="123" name="Group 122">
              <a:extLst>
                <a:ext uri="{FF2B5EF4-FFF2-40B4-BE49-F238E27FC236}">
                  <a16:creationId xmlns:a16="http://schemas.microsoft.com/office/drawing/2014/main" id="{AA643B8F-5A61-C8F4-2BB4-A1EC5CE7E5C1}"/>
                </a:ext>
              </a:extLst>
            </p:cNvPr>
            <p:cNvGrpSpPr/>
            <p:nvPr/>
          </p:nvGrpSpPr>
          <p:grpSpPr>
            <a:xfrm>
              <a:off x="23414197" y="18186640"/>
              <a:ext cx="649609" cy="649609"/>
              <a:chOff x="12131209" y="11563837"/>
              <a:chExt cx="720000" cy="720000"/>
            </a:xfrm>
            <a:solidFill>
              <a:srgbClr val="FF0000"/>
            </a:solidFill>
          </p:grpSpPr>
          <p:sp>
            <p:nvSpPr>
              <p:cNvPr id="124" name="Oval 123">
                <a:extLst>
                  <a:ext uri="{FF2B5EF4-FFF2-40B4-BE49-F238E27FC236}">
                    <a16:creationId xmlns:a16="http://schemas.microsoft.com/office/drawing/2014/main" id="{F1506E60-AC68-45C4-9FB5-F720FC463C0D}"/>
                  </a:ext>
                </a:extLst>
              </p:cNvPr>
              <p:cNvSpPr>
                <a:spLocks noChangeAspect="1"/>
              </p:cNvSpPr>
              <p:nvPr/>
            </p:nvSpPr>
            <p:spPr>
              <a:xfrm>
                <a:off x="12131209" y="11563837"/>
                <a:ext cx="720000" cy="720000"/>
              </a:xfrm>
              <a:prstGeom prst="ellipse">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25" name="TextBox 124">
                <a:extLst>
                  <a:ext uri="{FF2B5EF4-FFF2-40B4-BE49-F238E27FC236}">
                    <a16:creationId xmlns:a16="http://schemas.microsoft.com/office/drawing/2014/main" id="{97D55B3E-6442-36F4-3143-E2B7640BF086}"/>
                  </a:ext>
                </a:extLst>
              </p:cNvPr>
              <p:cNvSpPr txBox="1"/>
              <p:nvPr/>
            </p:nvSpPr>
            <p:spPr>
              <a:xfrm>
                <a:off x="12221311" y="11605301"/>
                <a:ext cx="539795" cy="656315"/>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4</a:t>
                </a:r>
              </a:p>
            </p:txBody>
          </p:sp>
        </p:grpSp>
        <p:grpSp>
          <p:nvGrpSpPr>
            <p:cNvPr id="220" name="Group 219">
              <a:extLst>
                <a:ext uri="{FF2B5EF4-FFF2-40B4-BE49-F238E27FC236}">
                  <a16:creationId xmlns:a16="http://schemas.microsoft.com/office/drawing/2014/main" id="{CB5BD147-D78E-94C9-D1E4-81DBCAFD6B03}"/>
                </a:ext>
              </a:extLst>
            </p:cNvPr>
            <p:cNvGrpSpPr/>
            <p:nvPr/>
          </p:nvGrpSpPr>
          <p:grpSpPr>
            <a:xfrm flipH="1">
              <a:off x="12397517" y="25056793"/>
              <a:ext cx="3817209" cy="2813704"/>
              <a:chOff x="12812633" y="23616340"/>
              <a:chExt cx="4230838" cy="3118592"/>
            </a:xfrm>
          </p:grpSpPr>
          <p:sp>
            <p:nvSpPr>
              <p:cNvPr id="181" name="Freeform 180">
                <a:extLst>
                  <a:ext uri="{FF2B5EF4-FFF2-40B4-BE49-F238E27FC236}">
                    <a16:creationId xmlns:a16="http://schemas.microsoft.com/office/drawing/2014/main" id="{C079544A-8A20-A35F-E31A-CC2ED0A74591}"/>
                  </a:ext>
                </a:extLst>
              </p:cNvPr>
              <p:cNvSpPr/>
              <p:nvPr/>
            </p:nvSpPr>
            <p:spPr>
              <a:xfrm flipH="1">
                <a:off x="12812633" y="23616340"/>
                <a:ext cx="4230838" cy="3118592"/>
              </a:xfrm>
              <a:custGeom>
                <a:avLst/>
                <a:gdLst>
                  <a:gd name="connsiteX0" fmla="*/ 227707 w 4230838"/>
                  <a:gd name="connsiteY0" fmla="*/ 0 h 3118592"/>
                  <a:gd name="connsiteX1" fmla="*/ 1769196 w 4230838"/>
                  <a:gd name="connsiteY1" fmla="*/ 0 h 3118592"/>
                  <a:gd name="connsiteX2" fmla="*/ 1979009 w 4230838"/>
                  <a:gd name="connsiteY2" fmla="*/ 139074 h 3118592"/>
                  <a:gd name="connsiteX3" fmla="*/ 1979956 w 4230838"/>
                  <a:gd name="connsiteY3" fmla="*/ 143764 h 3118592"/>
                  <a:gd name="connsiteX4" fmla="*/ 3976847 w 4230838"/>
                  <a:gd name="connsiteY4" fmla="*/ 143764 h 3118592"/>
                  <a:gd name="connsiteX5" fmla="*/ 4230838 w 4230838"/>
                  <a:gd name="connsiteY5" fmla="*/ 397754 h 3118592"/>
                  <a:gd name="connsiteX6" fmla="*/ 4230838 w 4230838"/>
                  <a:gd name="connsiteY6" fmla="*/ 1413684 h 3118592"/>
                  <a:gd name="connsiteX7" fmla="*/ 3976847 w 4230838"/>
                  <a:gd name="connsiteY7" fmla="*/ 1667676 h 3118592"/>
                  <a:gd name="connsiteX8" fmla="*/ 1996903 w 4230838"/>
                  <a:gd name="connsiteY8" fmla="*/ 1667676 h 3118592"/>
                  <a:gd name="connsiteX9" fmla="*/ 1996903 w 4230838"/>
                  <a:gd name="connsiteY9" fmla="*/ 2890884 h 3118592"/>
                  <a:gd name="connsiteX10" fmla="*/ 1769196 w 4230838"/>
                  <a:gd name="connsiteY10" fmla="*/ 3118592 h 3118592"/>
                  <a:gd name="connsiteX11" fmla="*/ 227707 w 4230838"/>
                  <a:gd name="connsiteY11" fmla="*/ 3118592 h 3118592"/>
                  <a:gd name="connsiteX12" fmla="*/ 0 w 4230838"/>
                  <a:gd name="connsiteY12" fmla="*/ 2890884 h 3118592"/>
                  <a:gd name="connsiteX13" fmla="*/ 0 w 4230838"/>
                  <a:gd name="connsiteY13" fmla="*/ 227708 h 3118592"/>
                  <a:gd name="connsiteX14" fmla="*/ 227707 w 4230838"/>
                  <a:gd name="connsiteY14" fmla="*/ 0 h 311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30838" h="3118592">
                    <a:moveTo>
                      <a:pt x="227707" y="0"/>
                    </a:moveTo>
                    <a:lnTo>
                      <a:pt x="1769196" y="0"/>
                    </a:lnTo>
                    <a:cubicBezTo>
                      <a:pt x="1863515" y="0"/>
                      <a:pt x="1944441" y="57346"/>
                      <a:pt x="1979009" y="139074"/>
                    </a:cubicBezTo>
                    <a:lnTo>
                      <a:pt x="1979956" y="143764"/>
                    </a:lnTo>
                    <a:lnTo>
                      <a:pt x="3976847" y="143764"/>
                    </a:lnTo>
                    <a:cubicBezTo>
                      <a:pt x="4117122" y="143764"/>
                      <a:pt x="4230838" y="257480"/>
                      <a:pt x="4230838" y="397754"/>
                    </a:cubicBezTo>
                    <a:lnTo>
                      <a:pt x="4230838" y="1413684"/>
                    </a:lnTo>
                    <a:cubicBezTo>
                      <a:pt x="4230838" y="1553960"/>
                      <a:pt x="4117122" y="1667676"/>
                      <a:pt x="3976847" y="1667676"/>
                    </a:cubicBezTo>
                    <a:lnTo>
                      <a:pt x="1996903" y="1667676"/>
                    </a:lnTo>
                    <a:lnTo>
                      <a:pt x="1996903" y="2890884"/>
                    </a:lnTo>
                    <a:cubicBezTo>
                      <a:pt x="1996903" y="3016644"/>
                      <a:pt x="1894955" y="3118592"/>
                      <a:pt x="1769196" y="3118592"/>
                    </a:cubicBezTo>
                    <a:lnTo>
                      <a:pt x="227707" y="3118592"/>
                    </a:lnTo>
                    <a:cubicBezTo>
                      <a:pt x="101948" y="3118592"/>
                      <a:pt x="0" y="3016644"/>
                      <a:pt x="0" y="2890884"/>
                    </a:cubicBezTo>
                    <a:lnTo>
                      <a:pt x="0" y="227708"/>
                    </a:lnTo>
                    <a:cubicBezTo>
                      <a:pt x="0" y="101948"/>
                      <a:pt x="101948" y="0"/>
                      <a:pt x="227707" y="0"/>
                    </a:cubicBezTo>
                    <a:close/>
                  </a:path>
                </a:pathLst>
              </a:cu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24"/>
              </a:p>
            </p:txBody>
          </p:sp>
          <p:grpSp>
            <p:nvGrpSpPr>
              <p:cNvPr id="180" name="Group 179">
                <a:extLst>
                  <a:ext uri="{FF2B5EF4-FFF2-40B4-BE49-F238E27FC236}">
                    <a16:creationId xmlns:a16="http://schemas.microsoft.com/office/drawing/2014/main" id="{27BFBE06-8B1C-02FD-268E-10E81E75195D}"/>
                  </a:ext>
                </a:extLst>
              </p:cNvPr>
              <p:cNvGrpSpPr/>
              <p:nvPr/>
            </p:nvGrpSpPr>
            <p:grpSpPr>
              <a:xfrm>
                <a:off x="12812633" y="23981828"/>
                <a:ext cx="2204627" cy="1038160"/>
                <a:chOff x="12611606" y="23848161"/>
                <a:chExt cx="2204627" cy="1038160"/>
              </a:xfrm>
            </p:grpSpPr>
            <p:sp>
              <p:nvSpPr>
                <p:cNvPr id="208" name="TextBox 207">
                  <a:extLst>
                    <a:ext uri="{FF2B5EF4-FFF2-40B4-BE49-F238E27FC236}">
                      <a16:creationId xmlns:a16="http://schemas.microsoft.com/office/drawing/2014/main" id="{44CD5BD3-C45F-A028-8C28-851515C7D96F}"/>
                    </a:ext>
                  </a:extLst>
                </p:cNvPr>
                <p:cNvSpPr txBox="1"/>
                <p:nvPr/>
              </p:nvSpPr>
              <p:spPr>
                <a:xfrm>
                  <a:off x="12611606" y="23848161"/>
                  <a:ext cx="2059620" cy="1009976"/>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Agilent HPLC </a:t>
                  </a:r>
                  <a:r>
                    <a:rPr lang="en-US" sz="1985" i="1" dirty="0">
                      <a:solidFill>
                        <a:srgbClr val="002060"/>
                      </a:solidFill>
                      <a:latin typeface="Aptos" panose="020B0004020202020204" pitchFamily="34" charset="0"/>
                      <a:cs typeface="Arial" panose="020B0604020202020204" pitchFamily="34" charset="0"/>
                    </a:rPr>
                    <a:t>for substance analysis</a:t>
                  </a:r>
                </a:p>
              </p:txBody>
            </p:sp>
            <p:cxnSp>
              <p:nvCxnSpPr>
                <p:cNvPr id="210" name="Straight Connector 209">
                  <a:extLst>
                    <a:ext uri="{FF2B5EF4-FFF2-40B4-BE49-F238E27FC236}">
                      <a16:creationId xmlns:a16="http://schemas.microsoft.com/office/drawing/2014/main" id="{C8F726A4-8259-ED58-17C1-795656057EC8}"/>
                    </a:ext>
                  </a:extLst>
                </p:cNvPr>
                <p:cNvCxnSpPr>
                  <a:cxnSpLocks/>
                </p:cNvCxnSpPr>
                <p:nvPr/>
              </p:nvCxnSpPr>
              <p:spPr>
                <a:xfrm>
                  <a:off x="14816233" y="23917997"/>
                  <a:ext cx="0" cy="968324"/>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grpSp>
          <p:nvGrpSpPr>
            <p:cNvPr id="214" name="Group 213">
              <a:extLst>
                <a:ext uri="{FF2B5EF4-FFF2-40B4-BE49-F238E27FC236}">
                  <a16:creationId xmlns:a16="http://schemas.microsoft.com/office/drawing/2014/main" id="{A2EA3FB9-C23E-B942-987D-5C38D57E6CBB}"/>
                </a:ext>
              </a:extLst>
            </p:cNvPr>
            <p:cNvGrpSpPr/>
            <p:nvPr/>
          </p:nvGrpSpPr>
          <p:grpSpPr>
            <a:xfrm>
              <a:off x="17563650" y="24880784"/>
              <a:ext cx="649609" cy="649608"/>
              <a:chOff x="12131209" y="11563837"/>
              <a:chExt cx="720000" cy="720000"/>
            </a:xfrm>
            <a:solidFill>
              <a:srgbClr val="00B050"/>
            </a:solidFill>
          </p:grpSpPr>
          <p:sp>
            <p:nvSpPr>
              <p:cNvPr id="215" name="Oval 214">
                <a:extLst>
                  <a:ext uri="{FF2B5EF4-FFF2-40B4-BE49-F238E27FC236}">
                    <a16:creationId xmlns:a16="http://schemas.microsoft.com/office/drawing/2014/main" id="{9FA1B57B-0C0D-6EAA-83B1-14E34F6FBF24}"/>
                  </a:ext>
                </a:extLst>
              </p:cNvPr>
              <p:cNvSpPr>
                <a:spLocks noChangeAspect="1"/>
              </p:cNvSpPr>
              <p:nvPr/>
            </p:nvSpPr>
            <p:spPr>
              <a:xfrm>
                <a:off x="12131209" y="11563837"/>
                <a:ext cx="720000" cy="720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16" name="TextBox 215">
                <a:extLst>
                  <a:ext uri="{FF2B5EF4-FFF2-40B4-BE49-F238E27FC236}">
                    <a16:creationId xmlns:a16="http://schemas.microsoft.com/office/drawing/2014/main" id="{88138E89-AF40-4F0D-0584-65CECA720D31}"/>
                  </a:ext>
                </a:extLst>
              </p:cNvPr>
              <p:cNvSpPr txBox="1"/>
              <p:nvPr/>
            </p:nvSpPr>
            <p:spPr>
              <a:xfrm>
                <a:off x="12221311" y="11600671"/>
                <a:ext cx="539795" cy="656316"/>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8</a:t>
                </a:r>
              </a:p>
            </p:txBody>
          </p:sp>
        </p:grpSp>
        <p:grpSp>
          <p:nvGrpSpPr>
            <p:cNvPr id="206" name="Group 205">
              <a:extLst>
                <a:ext uri="{FF2B5EF4-FFF2-40B4-BE49-F238E27FC236}">
                  <a16:creationId xmlns:a16="http://schemas.microsoft.com/office/drawing/2014/main" id="{1435073F-7D3F-71F6-C0D2-2A46AB47BE2A}"/>
                </a:ext>
              </a:extLst>
            </p:cNvPr>
            <p:cNvGrpSpPr/>
            <p:nvPr/>
          </p:nvGrpSpPr>
          <p:grpSpPr>
            <a:xfrm>
              <a:off x="24221306" y="22178046"/>
              <a:ext cx="5262599" cy="3625300"/>
              <a:chOff x="26788764" y="19864297"/>
              <a:chExt cx="5832849" cy="4018132"/>
            </a:xfrm>
          </p:grpSpPr>
          <p:grpSp>
            <p:nvGrpSpPr>
              <p:cNvPr id="169" name="Group 168">
                <a:extLst>
                  <a:ext uri="{FF2B5EF4-FFF2-40B4-BE49-F238E27FC236}">
                    <a16:creationId xmlns:a16="http://schemas.microsoft.com/office/drawing/2014/main" id="{6772AC23-46FF-4024-958B-F47B14BF8103}"/>
                  </a:ext>
                </a:extLst>
              </p:cNvPr>
              <p:cNvGrpSpPr/>
              <p:nvPr/>
            </p:nvGrpSpPr>
            <p:grpSpPr>
              <a:xfrm flipH="1">
                <a:off x="26788764" y="19864297"/>
                <a:ext cx="5832849" cy="4018132"/>
                <a:chOff x="26821341" y="24934012"/>
                <a:chExt cx="5832849" cy="4018132"/>
              </a:xfrm>
            </p:grpSpPr>
            <p:sp>
              <p:nvSpPr>
                <p:cNvPr id="149" name="Freeform: Shape 148">
                  <a:extLst>
                    <a:ext uri="{FF2B5EF4-FFF2-40B4-BE49-F238E27FC236}">
                      <a16:creationId xmlns:a16="http://schemas.microsoft.com/office/drawing/2014/main" id="{38054EF5-B6B2-0F5E-63CC-CEF145729166}"/>
                    </a:ext>
                  </a:extLst>
                </p:cNvPr>
                <p:cNvSpPr/>
                <p:nvPr/>
              </p:nvSpPr>
              <p:spPr>
                <a:xfrm flipV="1">
                  <a:off x="26821341" y="24934012"/>
                  <a:ext cx="5806091" cy="4018132"/>
                </a:xfrm>
                <a:custGeom>
                  <a:avLst/>
                  <a:gdLst>
                    <a:gd name="connsiteX0" fmla="*/ 445856 w 5210360"/>
                    <a:gd name="connsiteY0" fmla="*/ 0 h 4018132"/>
                    <a:gd name="connsiteX1" fmla="*/ 2229236 w 5210360"/>
                    <a:gd name="connsiteY1" fmla="*/ 0 h 4018132"/>
                    <a:gd name="connsiteX2" fmla="*/ 2675092 w 5210360"/>
                    <a:gd name="connsiteY2" fmla="*/ 445858 h 4018132"/>
                    <a:gd name="connsiteX3" fmla="*/ 2675092 w 5210360"/>
                    <a:gd name="connsiteY3" fmla="*/ 1939556 h 4018132"/>
                    <a:gd name="connsiteX4" fmla="*/ 4917966 w 5210360"/>
                    <a:gd name="connsiteY4" fmla="*/ 1939556 h 4018132"/>
                    <a:gd name="connsiteX5" fmla="*/ 5210360 w 5210360"/>
                    <a:gd name="connsiteY5" fmla="*/ 2231950 h 4018132"/>
                    <a:gd name="connsiteX6" fmla="*/ 5210360 w 5210360"/>
                    <a:gd name="connsiteY6" fmla="*/ 3401488 h 4018132"/>
                    <a:gd name="connsiteX7" fmla="*/ 4917966 w 5210360"/>
                    <a:gd name="connsiteY7" fmla="*/ 3693882 h 4018132"/>
                    <a:gd name="connsiteX8" fmla="*/ 2656178 w 5210360"/>
                    <a:gd name="connsiteY8" fmla="*/ 3693882 h 4018132"/>
                    <a:gd name="connsiteX9" fmla="*/ 2640054 w 5210360"/>
                    <a:gd name="connsiteY9" fmla="*/ 3745822 h 4018132"/>
                    <a:gd name="connsiteX10" fmla="*/ 2229236 w 5210360"/>
                    <a:gd name="connsiteY10" fmla="*/ 4018132 h 4018132"/>
                    <a:gd name="connsiteX11" fmla="*/ 445856 w 5210360"/>
                    <a:gd name="connsiteY11" fmla="*/ 4018132 h 4018132"/>
                    <a:gd name="connsiteX12" fmla="*/ 0 w 5210360"/>
                    <a:gd name="connsiteY12" fmla="*/ 3572274 h 4018132"/>
                    <a:gd name="connsiteX13" fmla="*/ 0 w 5210360"/>
                    <a:gd name="connsiteY13" fmla="*/ 445858 h 4018132"/>
                    <a:gd name="connsiteX14" fmla="*/ 445856 w 5210360"/>
                    <a:gd name="connsiteY14" fmla="*/ 0 h 4018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10360" h="4018132">
                      <a:moveTo>
                        <a:pt x="445856" y="0"/>
                      </a:moveTo>
                      <a:lnTo>
                        <a:pt x="2229236" y="0"/>
                      </a:lnTo>
                      <a:cubicBezTo>
                        <a:pt x="2475476" y="0"/>
                        <a:pt x="2675092" y="199616"/>
                        <a:pt x="2675092" y="445858"/>
                      </a:cubicBezTo>
                      <a:lnTo>
                        <a:pt x="2675092" y="1939556"/>
                      </a:lnTo>
                      <a:lnTo>
                        <a:pt x="4917966" y="1939556"/>
                      </a:lnTo>
                      <a:cubicBezTo>
                        <a:pt x="5079452" y="1939556"/>
                        <a:pt x="5210360" y="2070464"/>
                        <a:pt x="5210360" y="2231950"/>
                      </a:cubicBezTo>
                      <a:lnTo>
                        <a:pt x="5210360" y="3401488"/>
                      </a:lnTo>
                      <a:cubicBezTo>
                        <a:pt x="5210360" y="3562972"/>
                        <a:pt x="5079452" y="3693882"/>
                        <a:pt x="4917966" y="3693882"/>
                      </a:cubicBezTo>
                      <a:lnTo>
                        <a:pt x="2656178" y="3693882"/>
                      </a:lnTo>
                      <a:lnTo>
                        <a:pt x="2640054" y="3745822"/>
                      </a:lnTo>
                      <a:cubicBezTo>
                        <a:pt x="2572370" y="3905848"/>
                        <a:pt x="2413916" y="4018132"/>
                        <a:pt x="2229236" y="4018132"/>
                      </a:cubicBezTo>
                      <a:lnTo>
                        <a:pt x="445856" y="4018132"/>
                      </a:lnTo>
                      <a:cubicBezTo>
                        <a:pt x="199616" y="4018132"/>
                        <a:pt x="0" y="3818516"/>
                        <a:pt x="0" y="3572274"/>
                      </a:cubicBezTo>
                      <a:lnTo>
                        <a:pt x="0" y="445858"/>
                      </a:lnTo>
                      <a:cubicBezTo>
                        <a:pt x="0" y="199616"/>
                        <a:pt x="199616" y="0"/>
                        <a:pt x="445856" y="0"/>
                      </a:cubicBezTo>
                      <a:close/>
                    </a:path>
                  </a:pathLst>
                </a:custGeom>
                <a:solidFill>
                  <a:srgbClr val="9DC3E6"/>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sz="1624"/>
                </a:p>
              </p:txBody>
            </p:sp>
            <p:pic>
              <p:nvPicPr>
                <p:cNvPr id="99" name="Picture 98" descr="A white and black round object&#10;&#10;Description automatically generated">
                  <a:extLst>
                    <a:ext uri="{FF2B5EF4-FFF2-40B4-BE49-F238E27FC236}">
                      <a16:creationId xmlns:a16="http://schemas.microsoft.com/office/drawing/2014/main" id="{6FD538CA-3DC6-4041-9EF0-1145FFBDC2E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flipH="1">
                  <a:off x="27189403" y="25181665"/>
                  <a:ext cx="1988147" cy="3403791"/>
                </a:xfrm>
                <a:prstGeom prst="rect">
                  <a:avLst/>
                </a:prstGeom>
              </p:spPr>
            </p:pic>
            <p:sp>
              <p:nvSpPr>
                <p:cNvPr id="148" name="TextBox 147">
                  <a:extLst>
                    <a:ext uri="{FF2B5EF4-FFF2-40B4-BE49-F238E27FC236}">
                      <a16:creationId xmlns:a16="http://schemas.microsoft.com/office/drawing/2014/main" id="{96C10AF9-17C2-DBF9-FA38-19F37F16B5AF}"/>
                    </a:ext>
                  </a:extLst>
                </p:cNvPr>
                <p:cNvSpPr txBox="1"/>
                <p:nvPr/>
              </p:nvSpPr>
              <p:spPr>
                <a:xfrm>
                  <a:off x="30026129" y="25441105"/>
                  <a:ext cx="2628061" cy="131858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r"/>
                  <a:r>
                    <a:rPr lang="en-US" sz="1985" b="1" i="1" dirty="0">
                      <a:solidFill>
                        <a:srgbClr val="002060"/>
                      </a:solidFill>
                      <a:latin typeface="Aptos" panose="020B0004020202020204" pitchFamily="34" charset="0"/>
                      <a:cs typeface="Arial" panose="020B0604020202020204" pitchFamily="34" charset="0"/>
                    </a:rPr>
                    <a:t>Barcode reader </a:t>
                  </a:r>
                  <a:r>
                    <a:rPr lang="en-US" sz="1985" i="1" dirty="0">
                      <a:solidFill>
                        <a:srgbClr val="002060"/>
                      </a:solidFill>
                      <a:latin typeface="Aptos" panose="020B0004020202020204" pitchFamily="34" charset="0"/>
                      <a:cs typeface="Arial" panose="020B0604020202020204" pitchFamily="34" charset="0"/>
                    </a:rPr>
                    <a:t>designed with  a Razer webcam and </a:t>
                  </a:r>
                  <a:r>
                    <a:rPr lang="en-US" sz="1985" b="1" i="1" dirty="0">
                      <a:solidFill>
                        <a:srgbClr val="002060"/>
                      </a:solidFill>
                      <a:latin typeface="Aptos" panose="020B0004020202020204" pitchFamily="34" charset="0"/>
                      <a:cs typeface="Arial" panose="020B0604020202020204" pitchFamily="34" charset="0"/>
                    </a:rPr>
                    <a:t>3D-printed mount</a:t>
                  </a:r>
                </a:p>
              </p:txBody>
            </p:sp>
            <p:cxnSp>
              <p:nvCxnSpPr>
                <p:cNvPr id="156" name="Straight Connector 155">
                  <a:extLst>
                    <a:ext uri="{FF2B5EF4-FFF2-40B4-BE49-F238E27FC236}">
                      <a16:creationId xmlns:a16="http://schemas.microsoft.com/office/drawing/2014/main" id="{0D76DD3A-7EA7-C92F-14E1-35ACE34E3A19}"/>
                    </a:ext>
                  </a:extLst>
                </p:cNvPr>
                <p:cNvCxnSpPr>
                  <a:cxnSpLocks/>
                </p:cNvCxnSpPr>
                <p:nvPr/>
              </p:nvCxnSpPr>
              <p:spPr>
                <a:xfrm flipH="1" flipV="1">
                  <a:off x="29793350" y="27067411"/>
                  <a:ext cx="3001" cy="138944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cxnSp>
            <p:nvCxnSpPr>
              <p:cNvPr id="203" name="Straight Connector 202">
                <a:extLst>
                  <a:ext uri="{FF2B5EF4-FFF2-40B4-BE49-F238E27FC236}">
                    <a16:creationId xmlns:a16="http://schemas.microsoft.com/office/drawing/2014/main" id="{0EAD8E94-FD2A-E3CA-B963-CD1F9CEE0085}"/>
                  </a:ext>
                </a:extLst>
              </p:cNvPr>
              <p:cNvCxnSpPr>
                <a:cxnSpLocks/>
              </p:cNvCxnSpPr>
              <p:nvPr/>
            </p:nvCxnSpPr>
            <p:spPr>
              <a:xfrm flipV="1">
                <a:off x="29646603" y="20493369"/>
                <a:ext cx="0" cy="116647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173" name="Group 172">
              <a:extLst>
                <a:ext uri="{FF2B5EF4-FFF2-40B4-BE49-F238E27FC236}">
                  <a16:creationId xmlns:a16="http://schemas.microsoft.com/office/drawing/2014/main" id="{08012085-1838-AF85-8B73-8E56D190DC32}"/>
                </a:ext>
              </a:extLst>
            </p:cNvPr>
            <p:cNvGrpSpPr/>
            <p:nvPr/>
          </p:nvGrpSpPr>
          <p:grpSpPr>
            <a:xfrm>
              <a:off x="23934889" y="22197143"/>
              <a:ext cx="649609" cy="649608"/>
              <a:chOff x="12131209" y="11563837"/>
              <a:chExt cx="720000" cy="720000"/>
            </a:xfrm>
            <a:solidFill>
              <a:srgbClr val="00B050"/>
            </a:solidFill>
          </p:grpSpPr>
          <p:sp>
            <p:nvSpPr>
              <p:cNvPr id="174" name="Oval 173">
                <a:extLst>
                  <a:ext uri="{FF2B5EF4-FFF2-40B4-BE49-F238E27FC236}">
                    <a16:creationId xmlns:a16="http://schemas.microsoft.com/office/drawing/2014/main" id="{F45E48FC-D01D-80AD-577D-409ABF3A9029}"/>
                  </a:ext>
                </a:extLst>
              </p:cNvPr>
              <p:cNvSpPr>
                <a:spLocks noChangeAspect="1"/>
              </p:cNvSpPr>
              <p:nvPr/>
            </p:nvSpPr>
            <p:spPr>
              <a:xfrm>
                <a:off x="12131209" y="11563837"/>
                <a:ext cx="720000" cy="720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75" name="TextBox 174">
                <a:extLst>
                  <a:ext uri="{FF2B5EF4-FFF2-40B4-BE49-F238E27FC236}">
                    <a16:creationId xmlns:a16="http://schemas.microsoft.com/office/drawing/2014/main" id="{9A2C2BC1-877A-34B1-3D34-8F04A453175C}"/>
                  </a:ext>
                </a:extLst>
              </p:cNvPr>
              <p:cNvSpPr txBox="1"/>
              <p:nvPr/>
            </p:nvSpPr>
            <p:spPr>
              <a:xfrm>
                <a:off x="12213165" y="11600671"/>
                <a:ext cx="539795" cy="656316"/>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6</a:t>
                </a:r>
              </a:p>
            </p:txBody>
          </p:sp>
        </p:grpSp>
        <p:grpSp>
          <p:nvGrpSpPr>
            <p:cNvPr id="111" name="Group 110">
              <a:extLst>
                <a:ext uri="{FF2B5EF4-FFF2-40B4-BE49-F238E27FC236}">
                  <a16:creationId xmlns:a16="http://schemas.microsoft.com/office/drawing/2014/main" id="{55551F62-3A96-169F-41A6-7A799FA39C8C}"/>
                </a:ext>
              </a:extLst>
            </p:cNvPr>
            <p:cNvGrpSpPr/>
            <p:nvPr/>
          </p:nvGrpSpPr>
          <p:grpSpPr>
            <a:xfrm>
              <a:off x="10884907" y="14425857"/>
              <a:ext cx="649609" cy="649609"/>
              <a:chOff x="12131209" y="11563837"/>
              <a:chExt cx="720000" cy="720000"/>
            </a:xfrm>
          </p:grpSpPr>
          <p:sp>
            <p:nvSpPr>
              <p:cNvPr id="108" name="Oval 107">
                <a:extLst>
                  <a:ext uri="{FF2B5EF4-FFF2-40B4-BE49-F238E27FC236}">
                    <a16:creationId xmlns:a16="http://schemas.microsoft.com/office/drawing/2014/main" id="{24530891-AEB0-399C-EABC-81E4D3B4A9BD}"/>
                  </a:ext>
                </a:extLst>
              </p:cNvPr>
              <p:cNvSpPr>
                <a:spLocks noChangeAspect="1"/>
              </p:cNvSpPr>
              <p:nvPr/>
            </p:nvSpPr>
            <p:spPr>
              <a:xfrm>
                <a:off x="12131209" y="11563837"/>
                <a:ext cx="720000" cy="72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09" name="TextBox 108">
                <a:extLst>
                  <a:ext uri="{FF2B5EF4-FFF2-40B4-BE49-F238E27FC236}">
                    <a16:creationId xmlns:a16="http://schemas.microsoft.com/office/drawing/2014/main" id="{28DB1DE7-4567-3A7B-0DEB-F27579CBFB4D}"/>
                  </a:ext>
                </a:extLst>
              </p:cNvPr>
              <p:cNvSpPr txBox="1"/>
              <p:nvPr/>
            </p:nvSpPr>
            <p:spPr>
              <a:xfrm>
                <a:off x="12217896" y="11610954"/>
                <a:ext cx="539795" cy="656315"/>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1</a:t>
                </a:r>
              </a:p>
            </p:txBody>
          </p:sp>
        </p:grpSp>
        <p:grpSp>
          <p:nvGrpSpPr>
            <p:cNvPr id="269" name="Group 268">
              <a:extLst>
                <a:ext uri="{FF2B5EF4-FFF2-40B4-BE49-F238E27FC236}">
                  <a16:creationId xmlns:a16="http://schemas.microsoft.com/office/drawing/2014/main" id="{A732412A-CE36-DB2C-AAEA-C6C2D9FBB2EE}"/>
                </a:ext>
              </a:extLst>
            </p:cNvPr>
            <p:cNvGrpSpPr/>
            <p:nvPr/>
          </p:nvGrpSpPr>
          <p:grpSpPr>
            <a:xfrm>
              <a:off x="22431230" y="25059818"/>
              <a:ext cx="4036439" cy="2989738"/>
              <a:chOff x="24422350" y="23077157"/>
              <a:chExt cx="4473823" cy="3313701"/>
            </a:xfrm>
          </p:grpSpPr>
          <p:sp>
            <p:nvSpPr>
              <p:cNvPr id="258" name="Rounded Rectangle 257">
                <a:extLst>
                  <a:ext uri="{FF2B5EF4-FFF2-40B4-BE49-F238E27FC236}">
                    <a16:creationId xmlns:a16="http://schemas.microsoft.com/office/drawing/2014/main" id="{67DDE2BB-DE2D-F584-FB56-5A25B0D56087}"/>
                  </a:ext>
                </a:extLst>
              </p:cNvPr>
              <p:cNvSpPr/>
              <p:nvPr/>
            </p:nvSpPr>
            <p:spPr>
              <a:xfrm>
                <a:off x="24422350" y="23123874"/>
                <a:ext cx="4473823" cy="3266984"/>
              </a:xfrm>
              <a:prstGeom prst="roundRect">
                <a:avLst>
                  <a:gd name="adj" fmla="val 13437"/>
                </a:avLst>
              </a:pr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grpSp>
            <p:nvGrpSpPr>
              <p:cNvPr id="244" name="Group 243">
                <a:extLst>
                  <a:ext uri="{FF2B5EF4-FFF2-40B4-BE49-F238E27FC236}">
                    <a16:creationId xmlns:a16="http://schemas.microsoft.com/office/drawing/2014/main" id="{FE8136A5-4F6C-F694-789A-401900D2A953}"/>
                  </a:ext>
                </a:extLst>
              </p:cNvPr>
              <p:cNvGrpSpPr/>
              <p:nvPr/>
            </p:nvGrpSpPr>
            <p:grpSpPr>
              <a:xfrm>
                <a:off x="24656836" y="23077157"/>
                <a:ext cx="4014251" cy="3030052"/>
                <a:chOff x="16724541" y="25212237"/>
                <a:chExt cx="4014251" cy="3030052"/>
              </a:xfrm>
            </p:grpSpPr>
            <p:pic>
              <p:nvPicPr>
                <p:cNvPr id="101" name="Picture 100" descr="A metal object with text on it&#10;&#10;Description automatically generated">
                  <a:extLst>
                    <a:ext uri="{FF2B5EF4-FFF2-40B4-BE49-F238E27FC236}">
                      <a16:creationId xmlns:a16="http://schemas.microsoft.com/office/drawing/2014/main" id="{B15D7A58-3E70-01D3-43EA-6F0558C2D0B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6724541" y="25212237"/>
                  <a:ext cx="3934563" cy="2952627"/>
                </a:xfrm>
                <a:prstGeom prst="rect">
                  <a:avLst/>
                </a:prstGeom>
              </p:spPr>
            </p:pic>
            <p:sp>
              <p:nvSpPr>
                <p:cNvPr id="234" name="TextBox 233">
                  <a:extLst>
                    <a:ext uri="{FF2B5EF4-FFF2-40B4-BE49-F238E27FC236}">
                      <a16:creationId xmlns:a16="http://schemas.microsoft.com/office/drawing/2014/main" id="{CEC91D5B-E0BA-BDC0-6DED-6F96CB0B6E2A}"/>
                    </a:ext>
                  </a:extLst>
                </p:cNvPr>
                <p:cNvSpPr txBox="1"/>
                <p:nvPr/>
              </p:nvSpPr>
              <p:spPr>
                <a:xfrm>
                  <a:off x="16880579" y="27134252"/>
                  <a:ext cx="3858213"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Mettler-Toledo balance </a:t>
                  </a:r>
                  <a:r>
                    <a:rPr lang="en-US" sz="1985" i="1" dirty="0">
                      <a:solidFill>
                        <a:srgbClr val="002060"/>
                      </a:solidFill>
                      <a:latin typeface="Aptos" panose="020B0004020202020204" pitchFamily="34" charset="0"/>
                      <a:cs typeface="Arial" panose="020B0604020202020204" pitchFamily="34" charset="0"/>
                    </a:rPr>
                    <a:t>mounted underneath platform using 3D-printed legs</a:t>
                  </a:r>
                </a:p>
              </p:txBody>
            </p:sp>
          </p:grpSp>
        </p:grpSp>
        <p:cxnSp>
          <p:nvCxnSpPr>
            <p:cNvPr id="264" name="Straight Connector 263">
              <a:extLst>
                <a:ext uri="{FF2B5EF4-FFF2-40B4-BE49-F238E27FC236}">
                  <a16:creationId xmlns:a16="http://schemas.microsoft.com/office/drawing/2014/main" id="{5A29EFC8-91E2-2CB6-3D4C-DD33ED24EC50}"/>
                </a:ext>
              </a:extLst>
            </p:cNvPr>
            <p:cNvCxnSpPr>
              <a:cxnSpLocks/>
            </p:cNvCxnSpPr>
            <p:nvPr/>
          </p:nvCxnSpPr>
          <p:spPr>
            <a:xfrm>
              <a:off x="22812782" y="26723547"/>
              <a:ext cx="2665124"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00C96BDF-0D5A-BBDF-C0A9-8401E2D32344}"/>
                </a:ext>
              </a:extLst>
            </p:cNvPr>
            <p:cNvGrpSpPr/>
            <p:nvPr/>
          </p:nvGrpSpPr>
          <p:grpSpPr>
            <a:xfrm>
              <a:off x="22158585" y="24917892"/>
              <a:ext cx="649609" cy="649609"/>
              <a:chOff x="12131209" y="11563837"/>
              <a:chExt cx="720000" cy="720000"/>
            </a:xfrm>
            <a:solidFill>
              <a:srgbClr val="00B050"/>
            </a:solidFill>
          </p:grpSpPr>
          <p:sp>
            <p:nvSpPr>
              <p:cNvPr id="191" name="Oval 190">
                <a:extLst>
                  <a:ext uri="{FF2B5EF4-FFF2-40B4-BE49-F238E27FC236}">
                    <a16:creationId xmlns:a16="http://schemas.microsoft.com/office/drawing/2014/main" id="{46DC8330-3F28-70F6-72E6-C5652E02E75A}"/>
                  </a:ext>
                </a:extLst>
              </p:cNvPr>
              <p:cNvSpPr>
                <a:spLocks noChangeAspect="1"/>
              </p:cNvSpPr>
              <p:nvPr/>
            </p:nvSpPr>
            <p:spPr>
              <a:xfrm>
                <a:off x="12131209" y="11563837"/>
                <a:ext cx="720000" cy="7200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92" name="TextBox 191">
                <a:extLst>
                  <a:ext uri="{FF2B5EF4-FFF2-40B4-BE49-F238E27FC236}">
                    <a16:creationId xmlns:a16="http://schemas.microsoft.com/office/drawing/2014/main" id="{09F5D456-4237-9088-9D1B-CE9C1A38EE4C}"/>
                  </a:ext>
                </a:extLst>
              </p:cNvPr>
              <p:cNvSpPr txBox="1"/>
              <p:nvPr/>
            </p:nvSpPr>
            <p:spPr>
              <a:xfrm>
                <a:off x="12221311" y="11599920"/>
                <a:ext cx="539795" cy="656315"/>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7</a:t>
                </a:r>
              </a:p>
            </p:txBody>
          </p:sp>
        </p:grpSp>
        <p:grpSp>
          <p:nvGrpSpPr>
            <p:cNvPr id="275" name="Group 274">
              <a:extLst>
                <a:ext uri="{FF2B5EF4-FFF2-40B4-BE49-F238E27FC236}">
                  <a16:creationId xmlns:a16="http://schemas.microsoft.com/office/drawing/2014/main" id="{BC861829-719E-3B0A-69F4-597D707A2809}"/>
                </a:ext>
              </a:extLst>
            </p:cNvPr>
            <p:cNvGrpSpPr/>
            <p:nvPr/>
          </p:nvGrpSpPr>
          <p:grpSpPr>
            <a:xfrm>
              <a:off x="12146437" y="24810473"/>
              <a:ext cx="649609" cy="649608"/>
              <a:chOff x="12131209" y="11563837"/>
              <a:chExt cx="720000" cy="720000"/>
            </a:xfrm>
            <a:solidFill>
              <a:srgbClr val="00B050"/>
            </a:solidFill>
          </p:grpSpPr>
          <p:sp>
            <p:nvSpPr>
              <p:cNvPr id="276" name="Oval 275">
                <a:extLst>
                  <a:ext uri="{FF2B5EF4-FFF2-40B4-BE49-F238E27FC236}">
                    <a16:creationId xmlns:a16="http://schemas.microsoft.com/office/drawing/2014/main" id="{31A16D6B-269D-BBB7-2901-EA89B95F5621}"/>
                  </a:ext>
                </a:extLst>
              </p:cNvPr>
              <p:cNvSpPr>
                <a:spLocks noChangeAspect="1"/>
              </p:cNvSpPr>
              <p:nvPr/>
            </p:nvSpPr>
            <p:spPr>
              <a:xfrm>
                <a:off x="12131209" y="11563837"/>
                <a:ext cx="720000" cy="720000"/>
              </a:xfrm>
              <a:prstGeom prst="ellipse">
                <a:avLst/>
              </a:prstGeom>
              <a:solidFill>
                <a:srgbClr val="AB79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303" name="TextBox 302">
                <a:extLst>
                  <a:ext uri="{FF2B5EF4-FFF2-40B4-BE49-F238E27FC236}">
                    <a16:creationId xmlns:a16="http://schemas.microsoft.com/office/drawing/2014/main" id="{258618CD-F4E8-D115-3227-AC96339D320F}"/>
                  </a:ext>
                </a:extLst>
              </p:cNvPr>
              <p:cNvSpPr txBox="1"/>
              <p:nvPr/>
            </p:nvSpPr>
            <p:spPr>
              <a:xfrm>
                <a:off x="12221311" y="11600671"/>
                <a:ext cx="539795" cy="656316"/>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9</a:t>
                </a:r>
              </a:p>
            </p:txBody>
          </p:sp>
        </p:grpSp>
        <p:sp>
          <p:nvSpPr>
            <p:cNvPr id="304" name="Oval 303">
              <a:extLst>
                <a:ext uri="{FF2B5EF4-FFF2-40B4-BE49-F238E27FC236}">
                  <a16:creationId xmlns:a16="http://schemas.microsoft.com/office/drawing/2014/main" id="{23A23BA1-5C42-21C1-E7AA-9FAF8595471A}"/>
                </a:ext>
              </a:extLst>
            </p:cNvPr>
            <p:cNvSpPr>
              <a:spLocks noChangeAspect="1"/>
            </p:cNvSpPr>
            <p:nvPr/>
          </p:nvSpPr>
          <p:spPr>
            <a:xfrm>
              <a:off x="12894828" y="23729755"/>
              <a:ext cx="265397" cy="265397"/>
            </a:xfrm>
            <a:prstGeom prst="ellipse">
              <a:avLst/>
            </a:prstGeom>
            <a:solidFill>
              <a:srgbClr val="AB79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306" name="Straight Connector 305">
              <a:extLst>
                <a:ext uri="{FF2B5EF4-FFF2-40B4-BE49-F238E27FC236}">
                  <a16:creationId xmlns:a16="http://schemas.microsoft.com/office/drawing/2014/main" id="{C342A90F-2EBA-CE6F-15B7-BE3A5550BF82}"/>
                </a:ext>
              </a:extLst>
            </p:cNvPr>
            <p:cNvCxnSpPr>
              <a:cxnSpLocks/>
            </p:cNvCxnSpPr>
            <p:nvPr/>
          </p:nvCxnSpPr>
          <p:spPr>
            <a:xfrm flipV="1">
              <a:off x="12585425" y="23966087"/>
              <a:ext cx="402825" cy="945903"/>
            </a:xfrm>
            <a:prstGeom prst="line">
              <a:avLst/>
            </a:prstGeom>
            <a:ln w="76200" cap="rnd">
              <a:solidFill>
                <a:srgbClr val="AB7942"/>
              </a:solidFill>
              <a:prstDash val="sysDot"/>
              <a:round/>
            </a:ln>
          </p:spPr>
          <p:style>
            <a:lnRef idx="1">
              <a:schemeClr val="accent1"/>
            </a:lnRef>
            <a:fillRef idx="0">
              <a:schemeClr val="accent1"/>
            </a:fillRef>
            <a:effectRef idx="0">
              <a:schemeClr val="accent1"/>
            </a:effectRef>
            <a:fontRef idx="minor">
              <a:schemeClr val="tx1"/>
            </a:fontRef>
          </p:style>
        </p:cxnSp>
        <p:grpSp>
          <p:nvGrpSpPr>
            <p:cNvPr id="225" name="Group 224">
              <a:extLst>
                <a:ext uri="{FF2B5EF4-FFF2-40B4-BE49-F238E27FC236}">
                  <a16:creationId xmlns:a16="http://schemas.microsoft.com/office/drawing/2014/main" id="{47259FC1-045C-0245-33CA-856C0CD25FAA}"/>
                </a:ext>
              </a:extLst>
            </p:cNvPr>
            <p:cNvGrpSpPr/>
            <p:nvPr/>
          </p:nvGrpSpPr>
          <p:grpSpPr>
            <a:xfrm>
              <a:off x="12368904" y="29387286"/>
              <a:ext cx="7405589" cy="781961"/>
              <a:chOff x="12166951" y="25658381"/>
              <a:chExt cx="8208051" cy="866693"/>
            </a:xfrm>
          </p:grpSpPr>
          <p:sp>
            <p:nvSpPr>
              <p:cNvPr id="162" name="Text Box 42">
                <a:extLst>
                  <a:ext uri="{FF2B5EF4-FFF2-40B4-BE49-F238E27FC236}">
                    <a16:creationId xmlns:a16="http://schemas.microsoft.com/office/drawing/2014/main" id="{865A0169-50CD-8386-B744-1D7E85D9F093}"/>
                  </a:ext>
                </a:extLst>
              </p:cNvPr>
              <p:cNvSpPr txBox="1">
                <a:spLocks noChangeArrowheads="1"/>
              </p:cNvSpPr>
              <p:nvPr/>
            </p:nvSpPr>
            <p:spPr bwMode="auto">
              <a:xfrm>
                <a:off x="12166951" y="25658381"/>
                <a:ext cx="8208051" cy="769469"/>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3970" b="1" i="1" dirty="0">
                    <a:solidFill>
                      <a:srgbClr val="002060"/>
                    </a:solidFill>
                    <a:latin typeface="Aptos" panose="020B0004020202020204" pitchFamily="34" charset="0"/>
                    <a:cs typeface="Arial" panose="020B0604020202020204" pitchFamily="34" charset="0"/>
                  </a:rPr>
                  <a:t>Hidden Components</a:t>
                </a:r>
                <a:endParaRPr lang="en-US" sz="1263" i="1" dirty="0">
                  <a:solidFill>
                    <a:srgbClr val="002060"/>
                  </a:solidFill>
                  <a:latin typeface="Aptos" panose="020B0004020202020204" pitchFamily="34" charset="0"/>
                  <a:cs typeface="Arial" panose="020B0604020202020204" pitchFamily="34" charset="0"/>
                </a:endParaRPr>
              </a:p>
            </p:txBody>
          </p:sp>
          <p:cxnSp>
            <p:nvCxnSpPr>
              <p:cNvPr id="163" name="Straight Connector 162">
                <a:extLst>
                  <a:ext uri="{FF2B5EF4-FFF2-40B4-BE49-F238E27FC236}">
                    <a16:creationId xmlns:a16="http://schemas.microsoft.com/office/drawing/2014/main" id="{30842683-9EA3-4BF2-8D39-007E7B0A03C2}"/>
                  </a:ext>
                </a:extLst>
              </p:cNvPr>
              <p:cNvCxnSpPr>
                <a:cxnSpLocks/>
              </p:cNvCxnSpPr>
              <p:nvPr/>
            </p:nvCxnSpPr>
            <p:spPr>
              <a:xfrm>
                <a:off x="12301980" y="26525074"/>
                <a:ext cx="3083417"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18" name="Group 317">
              <a:extLst>
                <a:ext uri="{FF2B5EF4-FFF2-40B4-BE49-F238E27FC236}">
                  <a16:creationId xmlns:a16="http://schemas.microsoft.com/office/drawing/2014/main" id="{3A531EF4-9CEE-5473-2ACB-85E38CF9E7D7}"/>
                </a:ext>
              </a:extLst>
            </p:cNvPr>
            <p:cNvGrpSpPr/>
            <p:nvPr/>
          </p:nvGrpSpPr>
          <p:grpSpPr>
            <a:xfrm>
              <a:off x="12231100" y="30523767"/>
              <a:ext cx="7805016" cy="2623948"/>
              <a:chOff x="14888347" y="28401132"/>
              <a:chExt cx="8650759" cy="2908274"/>
            </a:xfrm>
          </p:grpSpPr>
          <p:grpSp>
            <p:nvGrpSpPr>
              <p:cNvPr id="250" name="Group 249">
                <a:extLst>
                  <a:ext uri="{FF2B5EF4-FFF2-40B4-BE49-F238E27FC236}">
                    <a16:creationId xmlns:a16="http://schemas.microsoft.com/office/drawing/2014/main" id="{EB7CC09D-44E8-4E4F-434E-A6BD9F7A4E41}"/>
                  </a:ext>
                </a:extLst>
              </p:cNvPr>
              <p:cNvGrpSpPr/>
              <p:nvPr/>
            </p:nvGrpSpPr>
            <p:grpSpPr>
              <a:xfrm>
                <a:off x="14888347" y="28456719"/>
                <a:ext cx="8650759" cy="2852687"/>
                <a:chOff x="16541207" y="25592617"/>
                <a:chExt cx="8650759" cy="2852687"/>
              </a:xfrm>
            </p:grpSpPr>
            <p:pic>
              <p:nvPicPr>
                <p:cNvPr id="103" name="Picture 102" descr="A close-up of a circuit board&#10;&#10;Description automatically generated">
                  <a:extLst>
                    <a:ext uri="{FF2B5EF4-FFF2-40B4-BE49-F238E27FC236}">
                      <a16:creationId xmlns:a16="http://schemas.microsoft.com/office/drawing/2014/main" id="{AD97EA21-2775-2AB0-DDE4-F08D4555042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6541207" y="25592617"/>
                  <a:ext cx="3801387" cy="2852687"/>
                </a:xfrm>
                <a:prstGeom prst="rect">
                  <a:avLst/>
                </a:prstGeom>
              </p:spPr>
            </p:pic>
            <p:sp>
              <p:nvSpPr>
                <p:cNvPr id="239" name="TextBox 238">
                  <a:extLst>
                    <a:ext uri="{FF2B5EF4-FFF2-40B4-BE49-F238E27FC236}">
                      <a16:creationId xmlns:a16="http://schemas.microsoft.com/office/drawing/2014/main" id="{F474FE2F-AB0D-C0F1-5FFA-D9BE52527AB3}"/>
                    </a:ext>
                  </a:extLst>
                </p:cNvPr>
                <p:cNvSpPr txBox="1"/>
                <p:nvPr/>
              </p:nvSpPr>
              <p:spPr>
                <a:xfrm>
                  <a:off x="21530411" y="25648512"/>
                  <a:ext cx="3661555"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3D-printed electronics box </a:t>
                  </a:r>
                  <a:r>
                    <a:rPr lang="en-US" sz="1985" i="1" dirty="0">
                      <a:solidFill>
                        <a:srgbClr val="002060"/>
                      </a:solidFill>
                      <a:latin typeface="Aptos" panose="020B0004020202020204" pitchFamily="34" charset="0"/>
                      <a:cs typeface="Arial" panose="020B0604020202020204" pitchFamily="34" charset="0"/>
                    </a:rPr>
                    <a:t>to house stepper motor and BLDC motor controllers</a:t>
                  </a:r>
                </a:p>
              </p:txBody>
            </p:sp>
          </p:grpSp>
          <p:cxnSp>
            <p:nvCxnSpPr>
              <p:cNvPr id="314" name="Elbow Connector 313">
                <a:extLst>
                  <a:ext uri="{FF2B5EF4-FFF2-40B4-BE49-F238E27FC236}">
                    <a16:creationId xmlns:a16="http://schemas.microsoft.com/office/drawing/2014/main" id="{A960A30B-A88A-C9CF-DBE5-AEACA1D08E6A}"/>
                  </a:ext>
                </a:extLst>
              </p:cNvPr>
              <p:cNvCxnSpPr>
                <a:cxnSpLocks/>
              </p:cNvCxnSpPr>
              <p:nvPr/>
            </p:nvCxnSpPr>
            <p:spPr>
              <a:xfrm flipV="1">
                <a:off x="18242769" y="29052982"/>
                <a:ext cx="1554631" cy="1358221"/>
              </a:xfrm>
              <a:prstGeom prst="bentConnector3">
                <a:avLst/>
              </a:prstGeom>
              <a:ln w="28575">
                <a:solidFill>
                  <a:srgbClr val="002060"/>
                </a:solidFill>
                <a:headEnd type="oval" w="lg" len="lg"/>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D173C86F-062C-8D05-FAF4-6004C9EBDCB5}"/>
                  </a:ext>
                </a:extLst>
              </p:cNvPr>
              <p:cNvCxnSpPr>
                <a:cxnSpLocks/>
              </p:cNvCxnSpPr>
              <p:nvPr/>
            </p:nvCxnSpPr>
            <p:spPr>
              <a:xfrm>
                <a:off x="19797400" y="28401132"/>
                <a:ext cx="0" cy="133096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27" name="Group 326">
              <a:extLst>
                <a:ext uri="{FF2B5EF4-FFF2-40B4-BE49-F238E27FC236}">
                  <a16:creationId xmlns:a16="http://schemas.microsoft.com/office/drawing/2014/main" id="{0CD8EE5A-377C-01C6-B6A5-BB2E73BCF032}"/>
                </a:ext>
              </a:extLst>
            </p:cNvPr>
            <p:cNvGrpSpPr/>
            <p:nvPr/>
          </p:nvGrpSpPr>
          <p:grpSpPr>
            <a:xfrm>
              <a:off x="18851847" y="28510752"/>
              <a:ext cx="7863517" cy="5323064"/>
              <a:chOff x="19492438" y="26370771"/>
              <a:chExt cx="8715601" cy="5899863"/>
            </a:xfrm>
          </p:grpSpPr>
          <p:grpSp>
            <p:nvGrpSpPr>
              <p:cNvPr id="253" name="Group 252">
                <a:extLst>
                  <a:ext uri="{FF2B5EF4-FFF2-40B4-BE49-F238E27FC236}">
                    <a16:creationId xmlns:a16="http://schemas.microsoft.com/office/drawing/2014/main" id="{B3DEECC4-6838-47EC-9D18-E70C95E182CA}"/>
                  </a:ext>
                </a:extLst>
              </p:cNvPr>
              <p:cNvGrpSpPr/>
              <p:nvPr/>
            </p:nvGrpSpPr>
            <p:grpSpPr>
              <a:xfrm>
                <a:off x="19492438" y="26370771"/>
                <a:ext cx="8715601" cy="5899863"/>
                <a:chOff x="8972602" y="23715963"/>
                <a:chExt cx="8715601" cy="5899863"/>
              </a:xfrm>
            </p:grpSpPr>
            <p:pic>
              <p:nvPicPr>
                <p:cNvPr id="105" name="Picture 104" descr="A close-up of a glass bottle&#10;&#10;Description automatically generated">
                  <a:extLst>
                    <a:ext uri="{FF2B5EF4-FFF2-40B4-BE49-F238E27FC236}">
                      <a16:creationId xmlns:a16="http://schemas.microsoft.com/office/drawing/2014/main" id="{0E9A5BA1-3702-50D4-C72E-16F0AB0744C4}"/>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3260749" y="23715963"/>
                  <a:ext cx="4427454" cy="5899863"/>
                </a:xfrm>
                <a:prstGeom prst="rect">
                  <a:avLst/>
                </a:prstGeom>
              </p:spPr>
            </p:pic>
            <p:sp>
              <p:nvSpPr>
                <p:cNvPr id="227" name="TextBox 226">
                  <a:extLst>
                    <a:ext uri="{FF2B5EF4-FFF2-40B4-BE49-F238E27FC236}">
                      <a16:creationId xmlns:a16="http://schemas.microsoft.com/office/drawing/2014/main" id="{1DA70343-E80C-2197-07FB-B1717F95E399}"/>
                    </a:ext>
                  </a:extLst>
                </p:cNvPr>
                <p:cNvSpPr txBox="1"/>
                <p:nvPr/>
              </p:nvSpPr>
              <p:spPr>
                <a:xfrm>
                  <a:off x="8972602" y="27311834"/>
                  <a:ext cx="3382266"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r"/>
                  <a:r>
                    <a:rPr lang="en-US" sz="1985" b="1" i="1" dirty="0">
                      <a:solidFill>
                        <a:srgbClr val="002060"/>
                      </a:solidFill>
                      <a:latin typeface="Aptos" panose="020B0004020202020204" pitchFamily="34" charset="0"/>
                      <a:cs typeface="Arial" panose="020B0604020202020204" pitchFamily="34" charset="0"/>
                    </a:rPr>
                    <a:t>Syringe pump </a:t>
                  </a:r>
                  <a:r>
                    <a:rPr lang="en-US" sz="1985" i="1" dirty="0">
                      <a:solidFill>
                        <a:srgbClr val="002060"/>
                      </a:solidFill>
                      <a:latin typeface="Aptos" panose="020B0004020202020204" pitchFamily="34" charset="0"/>
                      <a:cs typeface="Arial" panose="020B0604020202020204" pitchFamily="34" charset="0"/>
                    </a:rPr>
                    <a:t>and </a:t>
                  </a:r>
                  <a:r>
                    <a:rPr lang="en-US" sz="1985" b="1" i="1" dirty="0">
                      <a:solidFill>
                        <a:srgbClr val="002060"/>
                      </a:solidFill>
                      <a:latin typeface="Aptos" panose="020B0004020202020204" pitchFamily="34" charset="0"/>
                      <a:cs typeface="Arial" panose="020B0604020202020204" pitchFamily="34" charset="0"/>
                    </a:rPr>
                    <a:t>solvent and waste bottle housing </a:t>
                  </a:r>
                  <a:r>
                    <a:rPr lang="en-US" sz="1985" i="1" dirty="0">
                      <a:solidFill>
                        <a:srgbClr val="002060"/>
                      </a:solidFill>
                      <a:latin typeface="Aptos" panose="020B0004020202020204" pitchFamily="34" charset="0"/>
                      <a:cs typeface="Arial" panose="020B0604020202020204" pitchFamily="34" charset="0"/>
                    </a:rPr>
                    <a:t>behind the HPLC</a:t>
                  </a:r>
                </a:p>
              </p:txBody>
            </p:sp>
          </p:grpSp>
          <p:cxnSp>
            <p:nvCxnSpPr>
              <p:cNvPr id="320" name="Elbow Connector 319">
                <a:extLst>
                  <a:ext uri="{FF2B5EF4-FFF2-40B4-BE49-F238E27FC236}">
                    <a16:creationId xmlns:a16="http://schemas.microsoft.com/office/drawing/2014/main" id="{0E57CFB9-7890-C4AE-5E67-D8094D013608}"/>
                  </a:ext>
                </a:extLst>
              </p:cNvPr>
              <p:cNvCxnSpPr>
                <a:cxnSpLocks/>
              </p:cNvCxnSpPr>
              <p:nvPr/>
            </p:nvCxnSpPr>
            <p:spPr>
              <a:xfrm rot="10800000" flipV="1">
                <a:off x="22954918" y="29471672"/>
                <a:ext cx="1288982" cy="1021162"/>
              </a:xfrm>
              <a:prstGeom prst="bentConnector3">
                <a:avLst/>
              </a:prstGeom>
              <a:ln w="28575">
                <a:solidFill>
                  <a:srgbClr val="002060"/>
                </a:solidFill>
                <a:headEnd type="oval" w="lg" len="lg"/>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67FA49CE-6A78-25D7-E5A4-912A640244B3}"/>
                  </a:ext>
                </a:extLst>
              </p:cNvPr>
              <p:cNvCxnSpPr>
                <a:cxnSpLocks/>
              </p:cNvCxnSpPr>
              <p:nvPr/>
            </p:nvCxnSpPr>
            <p:spPr>
              <a:xfrm>
                <a:off x="22954917" y="30026220"/>
                <a:ext cx="0" cy="92984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5B9E3287-CAFF-77FB-CFC3-4C0D103A1558}"/>
                </a:ext>
              </a:extLst>
            </p:cNvPr>
            <p:cNvGrpSpPr/>
            <p:nvPr/>
          </p:nvGrpSpPr>
          <p:grpSpPr>
            <a:xfrm>
              <a:off x="1457172" y="19721221"/>
              <a:ext cx="8758849" cy="7616470"/>
              <a:chOff x="1577104" y="15383836"/>
              <a:chExt cx="9707949" cy="8441779"/>
            </a:xfrm>
          </p:grpSpPr>
          <p:grpSp>
            <p:nvGrpSpPr>
              <p:cNvPr id="153" name="Group 152">
                <a:extLst>
                  <a:ext uri="{FF2B5EF4-FFF2-40B4-BE49-F238E27FC236}">
                    <a16:creationId xmlns:a16="http://schemas.microsoft.com/office/drawing/2014/main" id="{C16D7001-D35E-8EB7-355F-3A00687FBEF2}"/>
                  </a:ext>
                </a:extLst>
              </p:cNvPr>
              <p:cNvGrpSpPr/>
              <p:nvPr/>
            </p:nvGrpSpPr>
            <p:grpSpPr>
              <a:xfrm>
                <a:off x="1596957" y="16448195"/>
                <a:ext cx="9643327" cy="1492723"/>
                <a:chOff x="1608964" y="17025971"/>
                <a:chExt cx="9643327" cy="1492723"/>
              </a:xfrm>
            </p:grpSpPr>
            <p:sp>
              <p:nvSpPr>
                <p:cNvPr id="42" name="Rounded Rectangle 41">
                  <a:extLst>
                    <a:ext uri="{FF2B5EF4-FFF2-40B4-BE49-F238E27FC236}">
                      <a16:creationId xmlns:a16="http://schemas.microsoft.com/office/drawing/2014/main" id="{69C8F4CE-1BDA-3460-2B11-3D6C65F1C394}"/>
                    </a:ext>
                  </a:extLst>
                </p:cNvPr>
                <p:cNvSpPr/>
                <p:nvPr/>
              </p:nvSpPr>
              <p:spPr>
                <a:xfrm>
                  <a:off x="1608964" y="17025971"/>
                  <a:ext cx="3074877" cy="1492723"/>
                </a:xfrm>
                <a:prstGeom prst="roundRect">
                  <a:avLst/>
                </a:prstGeom>
                <a:solidFill>
                  <a:srgbClr val="A2D8BF"/>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43" name="Rounded Rectangle 42">
                  <a:extLst>
                    <a:ext uri="{FF2B5EF4-FFF2-40B4-BE49-F238E27FC236}">
                      <a16:creationId xmlns:a16="http://schemas.microsoft.com/office/drawing/2014/main" id="{145DFCE5-82C4-8DEC-7621-3A287BC84078}"/>
                    </a:ext>
                  </a:extLst>
                </p:cNvPr>
                <p:cNvSpPr/>
                <p:nvPr/>
              </p:nvSpPr>
              <p:spPr>
                <a:xfrm>
                  <a:off x="4840291" y="17025971"/>
                  <a:ext cx="3009969" cy="1492723"/>
                </a:xfrm>
                <a:prstGeom prst="roundRect">
                  <a:avLst/>
                </a:prstGeom>
                <a:solidFill>
                  <a:srgbClr val="A2D7BF"/>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45" name="Rounded Rectangle 44">
                  <a:extLst>
                    <a:ext uri="{FF2B5EF4-FFF2-40B4-BE49-F238E27FC236}">
                      <a16:creationId xmlns:a16="http://schemas.microsoft.com/office/drawing/2014/main" id="{7A3E7D50-6625-1FC8-5D7B-2E6F79704F89}"/>
                    </a:ext>
                  </a:extLst>
                </p:cNvPr>
                <p:cNvSpPr/>
                <p:nvPr/>
              </p:nvSpPr>
              <p:spPr>
                <a:xfrm>
                  <a:off x="8002474" y="17038379"/>
                  <a:ext cx="3249817" cy="1478060"/>
                </a:xfrm>
                <a:prstGeom prst="roundRect">
                  <a:avLst/>
                </a:prstGeom>
                <a:solidFill>
                  <a:srgbClr val="A2D7BF"/>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grpSp>
          <p:grpSp>
            <p:nvGrpSpPr>
              <p:cNvPr id="160" name="Group 159">
                <a:extLst>
                  <a:ext uri="{FF2B5EF4-FFF2-40B4-BE49-F238E27FC236}">
                    <a16:creationId xmlns:a16="http://schemas.microsoft.com/office/drawing/2014/main" id="{5ACEA7C1-5BA2-5934-8CB4-AF0C2F9FD947}"/>
                  </a:ext>
                </a:extLst>
              </p:cNvPr>
              <p:cNvGrpSpPr/>
              <p:nvPr/>
            </p:nvGrpSpPr>
            <p:grpSpPr>
              <a:xfrm>
                <a:off x="7309394" y="15780107"/>
                <a:ext cx="1040224" cy="647118"/>
                <a:chOff x="8016607" y="16195201"/>
                <a:chExt cx="2626425" cy="795037"/>
              </a:xfrm>
              <a:solidFill>
                <a:srgbClr val="00B050"/>
              </a:solidFill>
            </p:grpSpPr>
            <p:cxnSp>
              <p:nvCxnSpPr>
                <p:cNvPr id="155" name="Straight Connector 154">
                  <a:extLst>
                    <a:ext uri="{FF2B5EF4-FFF2-40B4-BE49-F238E27FC236}">
                      <a16:creationId xmlns:a16="http://schemas.microsoft.com/office/drawing/2014/main" id="{F1984B54-5FC5-587B-731A-23DECC4C939E}"/>
                    </a:ext>
                  </a:extLst>
                </p:cNvPr>
                <p:cNvCxnSpPr>
                  <a:cxnSpLocks/>
                </p:cNvCxnSpPr>
                <p:nvPr/>
              </p:nvCxnSpPr>
              <p:spPr>
                <a:xfrm flipV="1">
                  <a:off x="8040695" y="16195201"/>
                  <a:ext cx="0" cy="795037"/>
                </a:xfrm>
                <a:prstGeom prst="line">
                  <a:avLst/>
                </a:prstGeom>
                <a:grpFill/>
                <a:ln w="57150" cap="rnd">
                  <a:solidFill>
                    <a:srgbClr val="00B050"/>
                  </a:solidFill>
                  <a:prstDash val="sysDot"/>
                  <a:round/>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5E58B427-E6AA-3B45-9973-DBA30FB4F58A}"/>
                    </a:ext>
                  </a:extLst>
                </p:cNvPr>
                <p:cNvCxnSpPr>
                  <a:cxnSpLocks/>
                </p:cNvCxnSpPr>
                <p:nvPr/>
              </p:nvCxnSpPr>
              <p:spPr>
                <a:xfrm flipH="1">
                  <a:off x="8016607" y="16195201"/>
                  <a:ext cx="2626425" cy="0"/>
                </a:xfrm>
                <a:prstGeom prst="line">
                  <a:avLst/>
                </a:prstGeom>
                <a:grpFill/>
                <a:ln w="57150" cap="rnd">
                  <a:solidFill>
                    <a:srgbClr val="00B050"/>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337" name="Group 336">
                <a:extLst>
                  <a:ext uri="{FF2B5EF4-FFF2-40B4-BE49-F238E27FC236}">
                    <a16:creationId xmlns:a16="http://schemas.microsoft.com/office/drawing/2014/main" id="{BB0A7C64-D314-7EBD-C666-EF3E9B45A314}"/>
                  </a:ext>
                </a:extLst>
              </p:cNvPr>
              <p:cNvGrpSpPr/>
              <p:nvPr/>
            </p:nvGrpSpPr>
            <p:grpSpPr>
              <a:xfrm>
                <a:off x="8421303" y="15383836"/>
                <a:ext cx="1786773" cy="795757"/>
                <a:chOff x="9800796" y="16153225"/>
                <a:chExt cx="1786773" cy="795757"/>
              </a:xfrm>
            </p:grpSpPr>
            <p:sp>
              <p:nvSpPr>
                <p:cNvPr id="251" name="Rectangle: Rounded Corners 250">
                  <a:extLst>
                    <a:ext uri="{FF2B5EF4-FFF2-40B4-BE49-F238E27FC236}">
                      <a16:creationId xmlns:a16="http://schemas.microsoft.com/office/drawing/2014/main" id="{9B0720E7-FF82-B4A8-C89D-31669E47D47F}"/>
                    </a:ext>
                  </a:extLst>
                </p:cNvPr>
                <p:cNvSpPr/>
                <p:nvPr/>
              </p:nvSpPr>
              <p:spPr>
                <a:xfrm>
                  <a:off x="9800796" y="16153225"/>
                  <a:ext cx="1786773" cy="795757"/>
                </a:xfrm>
                <a:prstGeom prst="roundRect">
                  <a:avLst/>
                </a:prstGeom>
                <a:solidFill>
                  <a:srgbClr val="00B050">
                    <a:alpha val="34902"/>
                  </a:srgbClr>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52" name="TextBox 251">
                  <a:extLst>
                    <a:ext uri="{FF2B5EF4-FFF2-40B4-BE49-F238E27FC236}">
                      <a16:creationId xmlns:a16="http://schemas.microsoft.com/office/drawing/2014/main" id="{E89BDDAA-9874-32A9-55D6-A9DF50622BE6}"/>
                    </a:ext>
                  </a:extLst>
                </p:cNvPr>
                <p:cNvSpPr txBox="1"/>
                <p:nvPr/>
              </p:nvSpPr>
              <p:spPr>
                <a:xfrm>
                  <a:off x="9916823" y="16167613"/>
                  <a:ext cx="1555550" cy="769469"/>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User input required</a:t>
                  </a:r>
                </a:p>
              </p:txBody>
            </p:sp>
          </p:grpSp>
          <p:sp>
            <p:nvSpPr>
              <p:cNvPr id="263" name="TextBox 262">
                <a:extLst>
                  <a:ext uri="{FF2B5EF4-FFF2-40B4-BE49-F238E27FC236}">
                    <a16:creationId xmlns:a16="http://schemas.microsoft.com/office/drawing/2014/main" id="{A4DA3D2D-500E-5861-7C54-309B98BCE406}"/>
                  </a:ext>
                </a:extLst>
              </p:cNvPr>
              <p:cNvSpPr txBox="1"/>
              <p:nvPr/>
            </p:nvSpPr>
            <p:spPr>
              <a:xfrm>
                <a:off x="1711482" y="16786711"/>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Vial tared and barcode applied</a:t>
                </a:r>
              </a:p>
            </p:txBody>
          </p:sp>
          <p:sp>
            <p:nvSpPr>
              <p:cNvPr id="265" name="Arrow: Right 264">
                <a:extLst>
                  <a:ext uri="{FF2B5EF4-FFF2-40B4-BE49-F238E27FC236}">
                    <a16:creationId xmlns:a16="http://schemas.microsoft.com/office/drawing/2014/main" id="{74DD697B-FF42-6B95-A3E7-CB92D51D229B}"/>
                  </a:ext>
                </a:extLst>
              </p:cNvPr>
              <p:cNvSpPr/>
              <p:nvPr/>
            </p:nvSpPr>
            <p:spPr>
              <a:xfrm>
                <a:off x="4578851" y="17159194"/>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66" name="TextBox 265">
                <a:extLst>
                  <a:ext uri="{FF2B5EF4-FFF2-40B4-BE49-F238E27FC236}">
                    <a16:creationId xmlns:a16="http://schemas.microsoft.com/office/drawing/2014/main" id="{975C5CBD-27F5-1572-1970-1D7DB32044CF}"/>
                  </a:ext>
                </a:extLst>
              </p:cNvPr>
              <p:cNvSpPr txBox="1"/>
              <p:nvPr/>
            </p:nvSpPr>
            <p:spPr>
              <a:xfrm>
                <a:off x="4956846" y="16832946"/>
                <a:ext cx="2740161" cy="757340"/>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Vial is loaded with solid sample</a:t>
                </a:r>
              </a:p>
            </p:txBody>
          </p:sp>
          <p:sp>
            <p:nvSpPr>
              <p:cNvPr id="267" name="TextBox 266">
                <a:extLst>
                  <a:ext uri="{FF2B5EF4-FFF2-40B4-BE49-F238E27FC236}">
                    <a16:creationId xmlns:a16="http://schemas.microsoft.com/office/drawing/2014/main" id="{7894E57E-5A7D-CE75-EA07-B7B9DD5B037D}"/>
                  </a:ext>
                </a:extLst>
              </p:cNvPr>
              <p:cNvSpPr txBox="1"/>
              <p:nvPr/>
            </p:nvSpPr>
            <p:spPr>
              <a:xfrm>
                <a:off x="8007474" y="16794874"/>
                <a:ext cx="3242188"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Vial loaded into </a:t>
                </a:r>
              </a:p>
              <a:p>
                <a:pPr algn="ctr"/>
                <a:r>
                  <a:rPr lang="en-US" sz="2165" b="1" i="1" dirty="0">
                    <a:solidFill>
                      <a:srgbClr val="002060"/>
                    </a:solidFill>
                    <a:latin typeface="Aptos SemiBold" panose="020B0004020202020204" pitchFamily="34" charset="0"/>
                    <a:cs typeface="Arial" panose="020B0604020202020204" pitchFamily="34" charset="0"/>
                  </a:rPr>
                  <a:t>vial tray</a:t>
                </a:r>
              </a:p>
            </p:txBody>
          </p:sp>
          <p:sp>
            <p:nvSpPr>
              <p:cNvPr id="268" name="Arrow: Right 267">
                <a:extLst>
                  <a:ext uri="{FF2B5EF4-FFF2-40B4-BE49-F238E27FC236}">
                    <a16:creationId xmlns:a16="http://schemas.microsoft.com/office/drawing/2014/main" id="{356AE513-F37E-1EAD-F6CE-4B9D6106C94F}"/>
                  </a:ext>
                </a:extLst>
              </p:cNvPr>
              <p:cNvSpPr/>
              <p:nvPr/>
            </p:nvSpPr>
            <p:spPr>
              <a:xfrm>
                <a:off x="7733650" y="17157635"/>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74" name="Rounded Rectangle 41">
                <a:extLst>
                  <a:ext uri="{FF2B5EF4-FFF2-40B4-BE49-F238E27FC236}">
                    <a16:creationId xmlns:a16="http://schemas.microsoft.com/office/drawing/2014/main" id="{1819C328-0274-3B96-C76F-73E9FE09C30D}"/>
                  </a:ext>
                </a:extLst>
              </p:cNvPr>
              <p:cNvSpPr/>
              <p:nvPr/>
            </p:nvSpPr>
            <p:spPr>
              <a:xfrm>
                <a:off x="1588898" y="18557795"/>
                <a:ext cx="3074877"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77" name="TextBox 276">
                <a:extLst>
                  <a:ext uri="{FF2B5EF4-FFF2-40B4-BE49-F238E27FC236}">
                    <a16:creationId xmlns:a16="http://schemas.microsoft.com/office/drawing/2014/main" id="{63D0FC0B-E172-EBC8-EF58-2A785405476B}"/>
                  </a:ext>
                </a:extLst>
              </p:cNvPr>
              <p:cNvSpPr txBox="1"/>
              <p:nvPr/>
            </p:nvSpPr>
            <p:spPr>
              <a:xfrm>
                <a:off x="1687977" y="18873017"/>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Dilute sample </a:t>
                </a:r>
              </a:p>
              <a:p>
                <a:pPr algn="ctr"/>
                <a:r>
                  <a:rPr lang="en-US" sz="2165" b="1" i="1" dirty="0">
                    <a:solidFill>
                      <a:srgbClr val="002060"/>
                    </a:solidFill>
                    <a:latin typeface="Aptos SemiBold" panose="020B0004020202020204" pitchFamily="34" charset="0"/>
                    <a:cs typeface="Arial" panose="020B0604020202020204" pitchFamily="34" charset="0"/>
                  </a:rPr>
                  <a:t>with solute</a:t>
                </a:r>
              </a:p>
            </p:txBody>
          </p:sp>
          <p:sp>
            <p:nvSpPr>
              <p:cNvPr id="278" name="Rounded Rectangle 41">
                <a:extLst>
                  <a:ext uri="{FF2B5EF4-FFF2-40B4-BE49-F238E27FC236}">
                    <a16:creationId xmlns:a16="http://schemas.microsoft.com/office/drawing/2014/main" id="{184CD032-9A58-40D0-DD83-3A1F0F878BBA}"/>
                  </a:ext>
                </a:extLst>
              </p:cNvPr>
              <p:cNvSpPr/>
              <p:nvPr/>
            </p:nvSpPr>
            <p:spPr>
              <a:xfrm>
                <a:off x="4821942" y="18553486"/>
                <a:ext cx="3009970"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79" name="Rounded Rectangle 41">
                <a:extLst>
                  <a:ext uri="{FF2B5EF4-FFF2-40B4-BE49-F238E27FC236}">
                    <a16:creationId xmlns:a16="http://schemas.microsoft.com/office/drawing/2014/main" id="{553D73E7-1378-64C5-A84A-9FD891A88F56}"/>
                  </a:ext>
                </a:extLst>
              </p:cNvPr>
              <p:cNvSpPr/>
              <p:nvPr/>
            </p:nvSpPr>
            <p:spPr>
              <a:xfrm>
                <a:off x="7994571" y="18546639"/>
                <a:ext cx="3242350"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80" name="TextBox 279">
                <a:extLst>
                  <a:ext uri="{FF2B5EF4-FFF2-40B4-BE49-F238E27FC236}">
                    <a16:creationId xmlns:a16="http://schemas.microsoft.com/office/drawing/2014/main" id="{046AB83F-9A24-7A0F-FC53-E19A05A84675}"/>
                  </a:ext>
                </a:extLst>
              </p:cNvPr>
              <p:cNvSpPr txBox="1"/>
              <p:nvPr/>
            </p:nvSpPr>
            <p:spPr>
              <a:xfrm>
                <a:off x="8027362" y="19057895"/>
                <a:ext cx="3257691" cy="46160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Prime needle</a:t>
                </a:r>
              </a:p>
            </p:txBody>
          </p:sp>
          <p:sp>
            <p:nvSpPr>
              <p:cNvPr id="281" name="TextBox 280">
                <a:extLst>
                  <a:ext uri="{FF2B5EF4-FFF2-40B4-BE49-F238E27FC236}">
                    <a16:creationId xmlns:a16="http://schemas.microsoft.com/office/drawing/2014/main" id="{20A229FB-CF87-6B9E-174F-C7EE54F11A25}"/>
                  </a:ext>
                </a:extLst>
              </p:cNvPr>
              <p:cNvSpPr txBox="1"/>
              <p:nvPr/>
            </p:nvSpPr>
            <p:spPr>
              <a:xfrm>
                <a:off x="4918735" y="18857229"/>
                <a:ext cx="2792488"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Scan and </a:t>
                </a:r>
              </a:p>
              <a:p>
                <a:pPr algn="ctr"/>
                <a:r>
                  <a:rPr lang="en-US" sz="2165" b="1" i="1" dirty="0">
                    <a:solidFill>
                      <a:srgbClr val="002060"/>
                    </a:solidFill>
                    <a:latin typeface="Aptos SemiBold" panose="020B0004020202020204" pitchFamily="34" charset="0"/>
                    <a:cs typeface="Arial" panose="020B0604020202020204" pitchFamily="34" charset="0"/>
                  </a:rPr>
                  <a:t>weigh vial</a:t>
                </a:r>
              </a:p>
            </p:txBody>
          </p:sp>
          <p:sp>
            <p:nvSpPr>
              <p:cNvPr id="282" name="Arrow: Right 281">
                <a:extLst>
                  <a:ext uri="{FF2B5EF4-FFF2-40B4-BE49-F238E27FC236}">
                    <a16:creationId xmlns:a16="http://schemas.microsoft.com/office/drawing/2014/main" id="{C8B9319D-C611-3A87-DB0E-C085B37B6EDB}"/>
                  </a:ext>
                </a:extLst>
              </p:cNvPr>
              <p:cNvSpPr/>
              <p:nvPr/>
            </p:nvSpPr>
            <p:spPr>
              <a:xfrm rot="5400000">
                <a:off x="9246092" y="18237560"/>
                <a:ext cx="784287" cy="45721"/>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83" name="Arrow: Right 282">
                <a:extLst>
                  <a:ext uri="{FF2B5EF4-FFF2-40B4-BE49-F238E27FC236}">
                    <a16:creationId xmlns:a16="http://schemas.microsoft.com/office/drawing/2014/main" id="{9A41AE54-8543-4A17-64D8-533855A7DEF4}"/>
                  </a:ext>
                </a:extLst>
              </p:cNvPr>
              <p:cNvSpPr/>
              <p:nvPr/>
            </p:nvSpPr>
            <p:spPr>
              <a:xfrm rot="10800000">
                <a:off x="7737282" y="19295273"/>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84" name="Arrow: Right 283">
                <a:extLst>
                  <a:ext uri="{FF2B5EF4-FFF2-40B4-BE49-F238E27FC236}">
                    <a16:creationId xmlns:a16="http://schemas.microsoft.com/office/drawing/2014/main" id="{BE588680-0F2F-30B6-DF55-4D7DD467C1FF}"/>
                  </a:ext>
                </a:extLst>
              </p:cNvPr>
              <p:cNvSpPr/>
              <p:nvPr/>
            </p:nvSpPr>
            <p:spPr>
              <a:xfrm rot="10800000">
                <a:off x="4579355" y="19302989"/>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85" name="Rounded Rectangle 41">
                <a:extLst>
                  <a:ext uri="{FF2B5EF4-FFF2-40B4-BE49-F238E27FC236}">
                    <a16:creationId xmlns:a16="http://schemas.microsoft.com/office/drawing/2014/main" id="{23A7EA7F-09A5-E2BD-FCC6-6FF798746254}"/>
                  </a:ext>
                </a:extLst>
              </p:cNvPr>
              <p:cNvSpPr/>
              <p:nvPr/>
            </p:nvSpPr>
            <p:spPr>
              <a:xfrm>
                <a:off x="1582131" y="20319423"/>
                <a:ext cx="3074877"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86" name="Rounded Rectangle 41">
                <a:extLst>
                  <a:ext uri="{FF2B5EF4-FFF2-40B4-BE49-F238E27FC236}">
                    <a16:creationId xmlns:a16="http://schemas.microsoft.com/office/drawing/2014/main" id="{E293F87B-8476-8431-3A05-617AE305ED55}"/>
                  </a:ext>
                </a:extLst>
              </p:cNvPr>
              <p:cNvSpPr/>
              <p:nvPr/>
            </p:nvSpPr>
            <p:spPr>
              <a:xfrm>
                <a:off x="4821942" y="20320545"/>
                <a:ext cx="3009970"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87" name="Rounded Rectangle 41">
                <a:extLst>
                  <a:ext uri="{FF2B5EF4-FFF2-40B4-BE49-F238E27FC236}">
                    <a16:creationId xmlns:a16="http://schemas.microsoft.com/office/drawing/2014/main" id="{A0205504-87E3-31F1-05C0-0D03FC427797}"/>
                  </a:ext>
                </a:extLst>
              </p:cNvPr>
              <p:cNvSpPr/>
              <p:nvPr/>
            </p:nvSpPr>
            <p:spPr>
              <a:xfrm>
                <a:off x="7981016" y="20327317"/>
                <a:ext cx="3242350"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88" name="TextBox 287">
                <a:extLst>
                  <a:ext uri="{FF2B5EF4-FFF2-40B4-BE49-F238E27FC236}">
                    <a16:creationId xmlns:a16="http://schemas.microsoft.com/office/drawing/2014/main" id="{F8AF5804-1A21-FAB1-C2E5-A2C8B6773FA3}"/>
                  </a:ext>
                </a:extLst>
              </p:cNvPr>
              <p:cNvSpPr txBox="1"/>
              <p:nvPr/>
            </p:nvSpPr>
            <p:spPr>
              <a:xfrm>
                <a:off x="1761423" y="20645951"/>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Vortex and centrifuge </a:t>
                </a:r>
              </a:p>
            </p:txBody>
          </p:sp>
          <p:sp>
            <p:nvSpPr>
              <p:cNvPr id="289" name="TextBox 288">
                <a:extLst>
                  <a:ext uri="{FF2B5EF4-FFF2-40B4-BE49-F238E27FC236}">
                    <a16:creationId xmlns:a16="http://schemas.microsoft.com/office/drawing/2014/main" id="{C353CCF6-FE9E-B767-1DB6-8DBB4FECA1B6}"/>
                  </a:ext>
                </a:extLst>
              </p:cNvPr>
              <p:cNvSpPr txBox="1"/>
              <p:nvPr/>
            </p:nvSpPr>
            <p:spPr>
              <a:xfrm>
                <a:off x="4875543" y="20521571"/>
                <a:ext cx="2989602" cy="1093930"/>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Transfer stock solution to </a:t>
                </a:r>
              </a:p>
              <a:p>
                <a:pPr algn="ctr"/>
                <a:r>
                  <a:rPr lang="en-US" sz="2165" b="1" i="1" dirty="0">
                    <a:solidFill>
                      <a:srgbClr val="002060"/>
                    </a:solidFill>
                    <a:latin typeface="Aptos SemiBold" panose="020B0004020202020204" pitchFamily="34" charset="0"/>
                    <a:cs typeface="Arial" panose="020B0604020202020204" pitchFamily="34" charset="0"/>
                  </a:rPr>
                  <a:t>HPLC vial and dilute</a:t>
                </a:r>
              </a:p>
            </p:txBody>
          </p:sp>
          <p:sp>
            <p:nvSpPr>
              <p:cNvPr id="290" name="TextBox 289">
                <a:extLst>
                  <a:ext uri="{FF2B5EF4-FFF2-40B4-BE49-F238E27FC236}">
                    <a16:creationId xmlns:a16="http://schemas.microsoft.com/office/drawing/2014/main" id="{30A29B30-9905-C5F8-2247-1AD82A638E90}"/>
                  </a:ext>
                </a:extLst>
              </p:cNvPr>
              <p:cNvSpPr txBox="1"/>
              <p:nvPr/>
            </p:nvSpPr>
            <p:spPr>
              <a:xfrm>
                <a:off x="8207088" y="20652034"/>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Run sample through HPLC</a:t>
                </a:r>
              </a:p>
            </p:txBody>
          </p:sp>
          <p:sp>
            <p:nvSpPr>
              <p:cNvPr id="297" name="Arrow: Right 296">
                <a:extLst>
                  <a:ext uri="{FF2B5EF4-FFF2-40B4-BE49-F238E27FC236}">
                    <a16:creationId xmlns:a16="http://schemas.microsoft.com/office/drawing/2014/main" id="{3E2861CE-87B0-A7BD-360C-27A27A1CB96F}"/>
                  </a:ext>
                </a:extLst>
              </p:cNvPr>
              <p:cNvSpPr/>
              <p:nvPr/>
            </p:nvSpPr>
            <p:spPr>
              <a:xfrm rot="5400000">
                <a:off x="2876847" y="20065537"/>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98" name="Arrow: Right 297">
                <a:extLst>
                  <a:ext uri="{FF2B5EF4-FFF2-40B4-BE49-F238E27FC236}">
                    <a16:creationId xmlns:a16="http://schemas.microsoft.com/office/drawing/2014/main" id="{53401EEB-E56E-488E-B37C-ABFE3361AD8E}"/>
                  </a:ext>
                </a:extLst>
              </p:cNvPr>
              <p:cNvSpPr/>
              <p:nvPr/>
            </p:nvSpPr>
            <p:spPr>
              <a:xfrm>
                <a:off x="4585389" y="21060740"/>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99" name="Arrow: Right 298">
                <a:extLst>
                  <a:ext uri="{FF2B5EF4-FFF2-40B4-BE49-F238E27FC236}">
                    <a16:creationId xmlns:a16="http://schemas.microsoft.com/office/drawing/2014/main" id="{19529582-4526-F2C1-DA95-41511CD9E6C5}"/>
                  </a:ext>
                </a:extLst>
              </p:cNvPr>
              <p:cNvSpPr/>
              <p:nvPr/>
            </p:nvSpPr>
            <p:spPr>
              <a:xfrm>
                <a:off x="7767986" y="21067470"/>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308" name="TextBox 307">
                <a:extLst>
                  <a:ext uri="{FF2B5EF4-FFF2-40B4-BE49-F238E27FC236}">
                    <a16:creationId xmlns:a16="http://schemas.microsoft.com/office/drawing/2014/main" id="{4CFD3C92-FC4A-61B3-A447-0C3E8C4E0CF0}"/>
                  </a:ext>
                </a:extLst>
              </p:cNvPr>
              <p:cNvSpPr txBox="1"/>
              <p:nvPr/>
            </p:nvSpPr>
            <p:spPr>
              <a:xfrm>
                <a:off x="1577104" y="15900067"/>
                <a:ext cx="1733108" cy="533153"/>
              </a:xfrm>
              <a:prstGeom prst="rect">
                <a:avLst/>
              </a:prstGeom>
              <a:noFill/>
            </p:spPr>
            <p:txBody>
              <a:bodyPr wrap="square">
                <a:spAutoFit/>
              </a:bodyPr>
              <a:lstStyle/>
              <a:p>
                <a:r>
                  <a:rPr lang="en-US" sz="2526" b="1" i="1" dirty="0">
                    <a:solidFill>
                      <a:srgbClr val="002060"/>
                    </a:solidFill>
                    <a:latin typeface="Aptos" panose="020B0004020202020204" pitchFamily="34" charset="0"/>
                    <a:cs typeface="Arial" panose="020B0604020202020204" pitchFamily="34" charset="0"/>
                  </a:rPr>
                  <a:t>Pre-run</a:t>
                </a:r>
              </a:p>
            </p:txBody>
          </p:sp>
          <p:sp>
            <p:nvSpPr>
              <p:cNvPr id="333" name="TextBox 332">
                <a:extLst>
                  <a:ext uri="{FF2B5EF4-FFF2-40B4-BE49-F238E27FC236}">
                    <a16:creationId xmlns:a16="http://schemas.microsoft.com/office/drawing/2014/main" id="{83CF2472-6E17-7B79-3BD7-6D5CC8257C73}"/>
                  </a:ext>
                </a:extLst>
              </p:cNvPr>
              <p:cNvSpPr txBox="1"/>
              <p:nvPr/>
            </p:nvSpPr>
            <p:spPr>
              <a:xfrm>
                <a:off x="1603998" y="17983762"/>
                <a:ext cx="3814984" cy="533153"/>
              </a:xfrm>
              <a:prstGeom prst="rect">
                <a:avLst/>
              </a:prstGeom>
              <a:noFill/>
            </p:spPr>
            <p:txBody>
              <a:bodyPr wrap="square">
                <a:spAutoFit/>
              </a:bodyPr>
              <a:lstStyle/>
              <a:p>
                <a:r>
                  <a:rPr lang="en-US" sz="2526" b="1" i="1" dirty="0">
                    <a:solidFill>
                      <a:srgbClr val="002060"/>
                    </a:solidFill>
                    <a:latin typeface="Aptos" panose="020B0004020202020204" pitchFamily="34" charset="0"/>
                    <a:cs typeface="Arial" panose="020B0604020202020204" pitchFamily="34" charset="0"/>
                  </a:rPr>
                  <a:t>Sample Preparation </a:t>
                </a:r>
              </a:p>
            </p:txBody>
          </p:sp>
          <p:grpSp>
            <p:nvGrpSpPr>
              <p:cNvPr id="336" name="Group 335">
                <a:extLst>
                  <a:ext uri="{FF2B5EF4-FFF2-40B4-BE49-F238E27FC236}">
                    <a16:creationId xmlns:a16="http://schemas.microsoft.com/office/drawing/2014/main" id="{B78C5EE4-D044-2763-F19E-0E0FECF987B8}"/>
                  </a:ext>
                </a:extLst>
              </p:cNvPr>
              <p:cNvGrpSpPr/>
              <p:nvPr/>
            </p:nvGrpSpPr>
            <p:grpSpPr>
              <a:xfrm>
                <a:off x="1588898" y="21811825"/>
                <a:ext cx="9647652" cy="2013790"/>
                <a:chOff x="1588898" y="22584045"/>
                <a:chExt cx="9647652" cy="2013790"/>
              </a:xfrm>
            </p:grpSpPr>
            <p:sp>
              <p:nvSpPr>
                <p:cNvPr id="291" name="Rounded Rectangle 41">
                  <a:extLst>
                    <a:ext uri="{FF2B5EF4-FFF2-40B4-BE49-F238E27FC236}">
                      <a16:creationId xmlns:a16="http://schemas.microsoft.com/office/drawing/2014/main" id="{6B5F7769-BB07-65FB-C7D6-81B1A11BB8E3}"/>
                    </a:ext>
                  </a:extLst>
                </p:cNvPr>
                <p:cNvSpPr/>
                <p:nvPr/>
              </p:nvSpPr>
              <p:spPr>
                <a:xfrm>
                  <a:off x="1588898" y="23088077"/>
                  <a:ext cx="3074877" cy="1492723"/>
                </a:xfrm>
                <a:prstGeom prst="roundRect">
                  <a:avLst/>
                </a:prstGeom>
                <a:solidFill>
                  <a:schemeClr val="accent4">
                    <a:lumMod val="60000"/>
                    <a:lumOff val="40000"/>
                    <a:alpha val="65098"/>
                  </a:schemeClr>
                </a:solid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b="1" i="1" dirty="0">
                    <a:latin typeface="Aptos SemiBold" panose="020B0004020202020204" pitchFamily="34" charset="0"/>
                  </a:endParaRPr>
                </a:p>
              </p:txBody>
            </p:sp>
            <p:sp>
              <p:nvSpPr>
                <p:cNvPr id="292" name="Rounded Rectangle 41">
                  <a:extLst>
                    <a:ext uri="{FF2B5EF4-FFF2-40B4-BE49-F238E27FC236}">
                      <a16:creationId xmlns:a16="http://schemas.microsoft.com/office/drawing/2014/main" id="{E8680739-9208-646E-75ED-54A62317ED6A}"/>
                    </a:ext>
                  </a:extLst>
                </p:cNvPr>
                <p:cNvSpPr/>
                <p:nvPr/>
              </p:nvSpPr>
              <p:spPr>
                <a:xfrm>
                  <a:off x="4821942" y="23099029"/>
                  <a:ext cx="3009970" cy="1492723"/>
                </a:xfrm>
                <a:prstGeom prst="roundRect">
                  <a:avLst/>
                </a:prstGeom>
                <a:solidFill>
                  <a:schemeClr val="accent4">
                    <a:lumMod val="60000"/>
                    <a:lumOff val="40000"/>
                    <a:alpha val="65098"/>
                  </a:schemeClr>
                </a:solid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b="1" i="1" dirty="0">
                    <a:latin typeface="Aptos SemiBold" panose="020B0004020202020204" pitchFamily="34" charset="0"/>
                  </a:endParaRPr>
                </a:p>
              </p:txBody>
            </p:sp>
            <p:sp>
              <p:nvSpPr>
                <p:cNvPr id="293" name="Rounded Rectangle 41">
                  <a:extLst>
                    <a:ext uri="{FF2B5EF4-FFF2-40B4-BE49-F238E27FC236}">
                      <a16:creationId xmlns:a16="http://schemas.microsoft.com/office/drawing/2014/main" id="{8128BDC0-A0CA-1EAB-B064-A411AE731370}"/>
                    </a:ext>
                  </a:extLst>
                </p:cNvPr>
                <p:cNvSpPr/>
                <p:nvPr/>
              </p:nvSpPr>
              <p:spPr>
                <a:xfrm>
                  <a:off x="7994200" y="23105112"/>
                  <a:ext cx="3242350" cy="1492723"/>
                </a:xfrm>
                <a:prstGeom prst="roundRect">
                  <a:avLst/>
                </a:prstGeom>
                <a:solidFill>
                  <a:schemeClr val="accent4">
                    <a:lumMod val="60000"/>
                    <a:lumOff val="40000"/>
                    <a:alpha val="65098"/>
                  </a:schemeClr>
                </a:solid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b="1" i="1" dirty="0">
                    <a:latin typeface="Aptos SemiBold" panose="020B0004020202020204" pitchFamily="34" charset="0"/>
                  </a:endParaRPr>
                </a:p>
              </p:txBody>
            </p:sp>
            <p:sp>
              <p:nvSpPr>
                <p:cNvPr id="294" name="TextBox 293">
                  <a:extLst>
                    <a:ext uri="{FF2B5EF4-FFF2-40B4-BE49-F238E27FC236}">
                      <a16:creationId xmlns:a16="http://schemas.microsoft.com/office/drawing/2014/main" id="{0D896B38-025F-1709-D36F-3ACC81AA06C8}"/>
                    </a:ext>
                  </a:extLst>
                </p:cNvPr>
                <p:cNvSpPr txBox="1"/>
                <p:nvPr/>
              </p:nvSpPr>
              <p:spPr>
                <a:xfrm>
                  <a:off x="8297330" y="23492281"/>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Extract relevant area data</a:t>
                  </a:r>
                </a:p>
              </p:txBody>
            </p:sp>
            <p:sp>
              <p:nvSpPr>
                <p:cNvPr id="295" name="TextBox 294">
                  <a:extLst>
                    <a:ext uri="{FF2B5EF4-FFF2-40B4-BE49-F238E27FC236}">
                      <a16:creationId xmlns:a16="http://schemas.microsoft.com/office/drawing/2014/main" id="{F0165565-858B-4259-DA81-6B3625D488CA}"/>
                    </a:ext>
                  </a:extLst>
                </p:cNvPr>
                <p:cNvSpPr txBox="1"/>
                <p:nvPr/>
              </p:nvSpPr>
              <p:spPr>
                <a:xfrm>
                  <a:off x="5020601" y="23287254"/>
                  <a:ext cx="2578107" cy="1093929"/>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Correlate to mass % using calibration curve</a:t>
                  </a:r>
                </a:p>
              </p:txBody>
            </p:sp>
            <p:sp>
              <p:nvSpPr>
                <p:cNvPr id="296" name="TextBox 295">
                  <a:extLst>
                    <a:ext uri="{FF2B5EF4-FFF2-40B4-BE49-F238E27FC236}">
                      <a16:creationId xmlns:a16="http://schemas.microsoft.com/office/drawing/2014/main" id="{86D38FB7-6417-4E6E-407B-817E5D3D2060}"/>
                    </a:ext>
                  </a:extLst>
                </p:cNvPr>
                <p:cNvSpPr txBox="1"/>
                <p:nvPr/>
              </p:nvSpPr>
              <p:spPr>
                <a:xfrm>
                  <a:off x="1749045" y="23612629"/>
                  <a:ext cx="2740161" cy="461603"/>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Upload data</a:t>
                  </a:r>
                </a:p>
              </p:txBody>
            </p:sp>
            <p:sp>
              <p:nvSpPr>
                <p:cNvPr id="301" name="Arrow: Right 300">
                  <a:extLst>
                    <a:ext uri="{FF2B5EF4-FFF2-40B4-BE49-F238E27FC236}">
                      <a16:creationId xmlns:a16="http://schemas.microsoft.com/office/drawing/2014/main" id="{4A3931CD-4906-1E20-E2B6-340F3C2C775E}"/>
                    </a:ext>
                  </a:extLst>
                </p:cNvPr>
                <p:cNvSpPr/>
                <p:nvPr/>
              </p:nvSpPr>
              <p:spPr>
                <a:xfrm rot="10800000">
                  <a:off x="7772098" y="23765052"/>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b="1" i="1">
                    <a:latin typeface="Aptos SemiBold" panose="020B0004020202020204" pitchFamily="34" charset="0"/>
                  </a:endParaRPr>
                </a:p>
              </p:txBody>
            </p:sp>
            <p:sp>
              <p:nvSpPr>
                <p:cNvPr id="302" name="Arrow: Right 301">
                  <a:extLst>
                    <a:ext uri="{FF2B5EF4-FFF2-40B4-BE49-F238E27FC236}">
                      <a16:creationId xmlns:a16="http://schemas.microsoft.com/office/drawing/2014/main" id="{3C6BB8A9-EFD3-915A-68B2-E5C6F3110311}"/>
                    </a:ext>
                  </a:extLst>
                </p:cNvPr>
                <p:cNvSpPr/>
                <p:nvPr/>
              </p:nvSpPr>
              <p:spPr>
                <a:xfrm rot="10800000">
                  <a:off x="4572414" y="23765052"/>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b="1" i="1">
                    <a:latin typeface="Aptos SemiBold" panose="020B0004020202020204" pitchFamily="34" charset="0"/>
                  </a:endParaRPr>
                </a:p>
              </p:txBody>
            </p:sp>
            <p:sp>
              <p:nvSpPr>
                <p:cNvPr id="334" name="TextBox 333">
                  <a:extLst>
                    <a:ext uri="{FF2B5EF4-FFF2-40B4-BE49-F238E27FC236}">
                      <a16:creationId xmlns:a16="http://schemas.microsoft.com/office/drawing/2014/main" id="{5C214F5F-3BB3-CBE9-BBF0-8625F3F27B60}"/>
                    </a:ext>
                  </a:extLst>
                </p:cNvPr>
                <p:cNvSpPr txBox="1"/>
                <p:nvPr/>
              </p:nvSpPr>
              <p:spPr>
                <a:xfrm>
                  <a:off x="1665187" y="22584045"/>
                  <a:ext cx="3814984" cy="533153"/>
                </a:xfrm>
                <a:prstGeom prst="rect">
                  <a:avLst/>
                </a:prstGeom>
                <a:noFill/>
              </p:spPr>
              <p:txBody>
                <a:bodyPr wrap="square">
                  <a:spAutoFit/>
                </a:bodyPr>
                <a:lstStyle/>
                <a:p>
                  <a:r>
                    <a:rPr lang="en-US" sz="2526" b="1" i="1" dirty="0">
                      <a:solidFill>
                        <a:srgbClr val="002060"/>
                      </a:solidFill>
                      <a:latin typeface="Aptos" panose="020B0004020202020204" pitchFamily="34" charset="0"/>
                      <a:cs typeface="Arial" panose="020B0604020202020204" pitchFamily="34" charset="0"/>
                    </a:rPr>
                    <a:t>Analysis</a:t>
                  </a:r>
                </a:p>
              </p:txBody>
            </p:sp>
          </p:grpSp>
          <p:sp>
            <p:nvSpPr>
              <p:cNvPr id="335" name="Arrow: Right 281">
                <a:extLst>
                  <a:ext uri="{FF2B5EF4-FFF2-40B4-BE49-F238E27FC236}">
                    <a16:creationId xmlns:a16="http://schemas.microsoft.com/office/drawing/2014/main" id="{BB9E3ED7-227F-C90C-8DF0-39403ECDE07E}"/>
                  </a:ext>
                </a:extLst>
              </p:cNvPr>
              <p:cNvSpPr/>
              <p:nvPr/>
            </p:nvSpPr>
            <p:spPr>
              <a:xfrm rot="5400000">
                <a:off x="9326985" y="22089348"/>
                <a:ext cx="660219" cy="76405"/>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grpSp>
        <p:grpSp>
          <p:nvGrpSpPr>
            <p:cNvPr id="351" name="Group 350">
              <a:extLst>
                <a:ext uri="{FF2B5EF4-FFF2-40B4-BE49-F238E27FC236}">
                  <a16:creationId xmlns:a16="http://schemas.microsoft.com/office/drawing/2014/main" id="{8F021560-49DD-8AB8-EE16-6CB813468A0C}"/>
                </a:ext>
              </a:extLst>
            </p:cNvPr>
            <p:cNvGrpSpPr/>
            <p:nvPr/>
          </p:nvGrpSpPr>
          <p:grpSpPr>
            <a:xfrm>
              <a:off x="10926638" y="21202157"/>
              <a:ext cx="692474" cy="3562127"/>
              <a:chOff x="12153396" y="19199529"/>
              <a:chExt cx="767511" cy="3948113"/>
            </a:xfrm>
          </p:grpSpPr>
          <p:cxnSp>
            <p:nvCxnSpPr>
              <p:cNvPr id="343" name="Straight Connector 342">
                <a:extLst>
                  <a:ext uri="{FF2B5EF4-FFF2-40B4-BE49-F238E27FC236}">
                    <a16:creationId xmlns:a16="http://schemas.microsoft.com/office/drawing/2014/main" id="{7E8EC07A-78B6-890A-DF51-C3AC91423627}"/>
                  </a:ext>
                </a:extLst>
              </p:cNvPr>
              <p:cNvCxnSpPr>
                <a:cxnSpLocks/>
              </p:cNvCxnSpPr>
              <p:nvPr/>
            </p:nvCxnSpPr>
            <p:spPr>
              <a:xfrm flipH="1">
                <a:off x="12347213" y="19199529"/>
                <a:ext cx="573694" cy="394203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BD850484-8068-83A9-2799-853BC9B24E4E}"/>
                  </a:ext>
                </a:extLst>
              </p:cNvPr>
              <p:cNvCxnSpPr>
                <a:cxnSpLocks/>
              </p:cNvCxnSpPr>
              <p:nvPr/>
            </p:nvCxnSpPr>
            <p:spPr>
              <a:xfrm flipH="1" flipV="1">
                <a:off x="12153396" y="23132155"/>
                <a:ext cx="405657" cy="1548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54" name="Group 353">
              <a:extLst>
                <a:ext uri="{FF2B5EF4-FFF2-40B4-BE49-F238E27FC236}">
                  <a16:creationId xmlns:a16="http://schemas.microsoft.com/office/drawing/2014/main" id="{ABF232F0-768F-66CE-6AB3-18BDB702FAC8}"/>
                </a:ext>
              </a:extLst>
            </p:cNvPr>
            <p:cNvGrpSpPr/>
            <p:nvPr/>
          </p:nvGrpSpPr>
          <p:grpSpPr>
            <a:xfrm>
              <a:off x="11747458" y="17310013"/>
              <a:ext cx="655956" cy="3064232"/>
              <a:chOff x="13063161" y="14885641"/>
              <a:chExt cx="727035" cy="3396267"/>
            </a:xfrm>
          </p:grpSpPr>
          <p:cxnSp>
            <p:nvCxnSpPr>
              <p:cNvPr id="342" name="Straight Connector 341">
                <a:extLst>
                  <a:ext uri="{FF2B5EF4-FFF2-40B4-BE49-F238E27FC236}">
                    <a16:creationId xmlns:a16="http://schemas.microsoft.com/office/drawing/2014/main" id="{D78CD7BC-DA40-40AE-77B2-8C5B902D505D}"/>
                  </a:ext>
                </a:extLst>
              </p:cNvPr>
              <p:cNvCxnSpPr>
                <a:cxnSpLocks/>
              </p:cNvCxnSpPr>
              <p:nvPr/>
            </p:nvCxnSpPr>
            <p:spPr>
              <a:xfrm flipH="1">
                <a:off x="13063161" y="14901466"/>
                <a:ext cx="517064" cy="3380442"/>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75B7636A-C5D3-4F29-28FC-7794B6475B5E}"/>
                  </a:ext>
                </a:extLst>
              </p:cNvPr>
              <p:cNvCxnSpPr>
                <a:cxnSpLocks/>
              </p:cNvCxnSpPr>
              <p:nvPr/>
            </p:nvCxnSpPr>
            <p:spPr>
              <a:xfrm flipH="1" flipV="1">
                <a:off x="13431964" y="14885641"/>
                <a:ext cx="358232" cy="1731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355" name="TextBox 354">
              <a:extLst>
                <a:ext uri="{FF2B5EF4-FFF2-40B4-BE49-F238E27FC236}">
                  <a16:creationId xmlns:a16="http://schemas.microsoft.com/office/drawing/2014/main" id="{43FB62EF-EB43-B652-EAEA-A6BFD606F19E}"/>
                </a:ext>
              </a:extLst>
            </p:cNvPr>
            <p:cNvSpPr txBox="1"/>
            <p:nvPr/>
          </p:nvSpPr>
          <p:spPr>
            <a:xfrm>
              <a:off x="11192754" y="20621484"/>
              <a:ext cx="1035435" cy="337231"/>
            </a:xfrm>
            <a:prstGeom prst="rect">
              <a:avLst/>
            </a:prstGeom>
            <a:noFill/>
            <a:scene3d>
              <a:camera prst="orthographicFront">
                <a:rot lat="0" lon="0" rev="21300000"/>
              </a:camera>
              <a:lightRig rig="threePt" dir="t"/>
            </a:scene3d>
          </p:spPr>
          <p:txBody>
            <a:bodyPr wrap="square" rtlCol="0">
              <a:spAutoFit/>
            </a:bodyPr>
            <a:lstStyle/>
            <a:p>
              <a:r>
                <a:rPr lang="en-US" sz="1804" b="1" dirty="0">
                  <a:solidFill>
                    <a:srgbClr val="002060"/>
                  </a:solidFill>
                  <a:latin typeface="Aptos" panose="020B0004020202020204" pitchFamily="34" charset="0"/>
                </a:rPr>
                <a:t>67.5 cm</a:t>
              </a:r>
            </a:p>
          </p:txBody>
        </p:sp>
      </p:grpSp>
      <p:sp>
        <p:nvSpPr>
          <p:cNvPr id="30" name="TextBox 29">
            <a:extLst>
              <a:ext uri="{FF2B5EF4-FFF2-40B4-BE49-F238E27FC236}">
                <a16:creationId xmlns:a16="http://schemas.microsoft.com/office/drawing/2014/main" id="{9533D7B0-2E79-B66F-22C8-DD9D337C07C6}"/>
              </a:ext>
            </a:extLst>
          </p:cNvPr>
          <p:cNvSpPr txBox="1"/>
          <p:nvPr/>
        </p:nvSpPr>
        <p:spPr>
          <a:xfrm>
            <a:off x="13703188" y="36049626"/>
            <a:ext cx="9448422" cy="861774"/>
          </a:xfrm>
          <a:prstGeom prst="rect">
            <a:avLst/>
          </a:prstGeom>
          <a:noFill/>
        </p:spPr>
        <p:txBody>
          <a:bodyPr wrap="square" rtlCol="0">
            <a:spAutoFit/>
          </a:bodyPr>
          <a:lstStyle/>
          <a:p>
            <a:r>
              <a:rPr lang="en-US" sz="2500" b="1" dirty="0">
                <a:solidFill>
                  <a:srgbClr val="002060"/>
                </a:solidFill>
                <a:latin typeface="Aptos" panose="020B0004020202020204" pitchFamily="34" charset="0"/>
                <a:ea typeface="Open Sans" pitchFamily="2" charset="0"/>
                <a:cs typeface="Open Sans" pitchFamily="2" charset="0"/>
              </a:rPr>
              <a:t>References</a:t>
            </a:r>
          </a:p>
          <a:p>
            <a:pPr marL="464072" indent="-464072">
              <a:buAutoNum type="arabicPeriod"/>
            </a:pPr>
            <a:r>
              <a:rPr lang="en-US" sz="2500" dirty="0">
                <a:solidFill>
                  <a:srgbClr val="002060"/>
                </a:solidFill>
                <a:latin typeface="Aptos" panose="020B0004020202020204" pitchFamily="34" charset="0"/>
                <a:ea typeface="Open Sans" pitchFamily="2" charset="0"/>
                <a:cs typeface="Open Sans" pitchFamily="2" charset="0"/>
              </a:rPr>
              <a:t>BC Emergency Health Services, http://www.bcehs.ca, </a:t>
            </a:r>
            <a:r>
              <a:rPr lang="en-US" sz="2500" b="1" dirty="0">
                <a:solidFill>
                  <a:srgbClr val="002060"/>
                </a:solidFill>
                <a:latin typeface="Aptos" panose="020B0004020202020204" pitchFamily="34" charset="0"/>
                <a:ea typeface="Open Sans" pitchFamily="2" charset="0"/>
                <a:cs typeface="Open Sans" pitchFamily="2" charset="0"/>
              </a:rPr>
              <a:t>2023</a:t>
            </a:r>
          </a:p>
        </p:txBody>
      </p:sp>
      <p:pic>
        <p:nvPicPr>
          <p:cNvPr id="133" name="Picture 132" descr="A black background with blue text&#10;&#10;Description automatically generated">
            <a:extLst>
              <a:ext uri="{FF2B5EF4-FFF2-40B4-BE49-F238E27FC236}">
                <a16:creationId xmlns:a16="http://schemas.microsoft.com/office/drawing/2014/main" id="{CC9D6038-74BD-8396-3C7C-BAABC63718B1}"/>
              </a:ext>
            </a:extLst>
          </p:cNvPr>
          <p:cNvPicPr>
            <a:picLocks noChangeAspect="1"/>
          </p:cNvPicPr>
          <p:nvPr/>
        </p:nvPicPr>
        <p:blipFill>
          <a:blip r:embed="rId17"/>
          <a:stretch>
            <a:fillRect/>
          </a:stretch>
        </p:blipFill>
        <p:spPr>
          <a:xfrm>
            <a:off x="13703188" y="38226790"/>
            <a:ext cx="4575294" cy="1003392"/>
          </a:xfrm>
          <a:prstGeom prst="rect">
            <a:avLst/>
          </a:prstGeom>
        </p:spPr>
      </p:pic>
      <p:pic>
        <p:nvPicPr>
          <p:cNvPr id="134" name="Picture 133" descr="A red circle with black text&#10;&#10;Description automatically generated">
            <a:extLst>
              <a:ext uri="{FF2B5EF4-FFF2-40B4-BE49-F238E27FC236}">
                <a16:creationId xmlns:a16="http://schemas.microsoft.com/office/drawing/2014/main" id="{D2DD82CD-6735-C30F-C86C-5AFBA16AB7C3}"/>
              </a:ext>
            </a:extLst>
          </p:cNvPr>
          <p:cNvPicPr>
            <a:picLocks noChangeAspect="1"/>
          </p:cNvPicPr>
          <p:nvPr/>
        </p:nvPicPr>
        <p:blipFill>
          <a:blip r:embed="rId18"/>
          <a:stretch>
            <a:fillRect/>
          </a:stretch>
        </p:blipFill>
        <p:spPr>
          <a:xfrm>
            <a:off x="30973174" y="36476200"/>
            <a:ext cx="5923344" cy="4452792"/>
          </a:xfrm>
          <a:prstGeom prst="rect">
            <a:avLst/>
          </a:prstGeom>
        </p:spPr>
      </p:pic>
      <p:pic>
        <p:nvPicPr>
          <p:cNvPr id="1032" name="Picture 8">
            <a:extLst>
              <a:ext uri="{FF2B5EF4-FFF2-40B4-BE49-F238E27FC236}">
                <a16:creationId xmlns:a16="http://schemas.microsoft.com/office/drawing/2014/main" id="{2C5C9742-AFD5-F2EA-4929-E0102B2685F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102333" y="37926127"/>
            <a:ext cx="4950023" cy="1658258"/>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166" descr="A white and black machine&#10;&#10;Description automatically generated">
            <a:extLst>
              <a:ext uri="{FF2B5EF4-FFF2-40B4-BE49-F238E27FC236}">
                <a16:creationId xmlns:a16="http://schemas.microsoft.com/office/drawing/2014/main" id="{C19B50AA-DF35-AC9E-FE78-AF6F73AAB197}"/>
              </a:ext>
            </a:extLst>
          </p:cNvPr>
          <p:cNvPicPr>
            <a:picLocks noChangeAspect="1"/>
          </p:cNvPicPr>
          <p:nvPr/>
        </p:nvPicPr>
        <p:blipFill>
          <a:blip r:embed="rId20"/>
          <a:stretch>
            <a:fillRect/>
          </a:stretch>
        </p:blipFill>
        <p:spPr>
          <a:xfrm>
            <a:off x="11384008" y="25484049"/>
            <a:ext cx="3193810" cy="3193810"/>
          </a:xfrm>
          <a:prstGeom prst="rect">
            <a:avLst/>
          </a:prstGeom>
        </p:spPr>
      </p:pic>
      <p:pic>
        <p:nvPicPr>
          <p:cNvPr id="39" name="Picture 38">
            <a:extLst>
              <a:ext uri="{FF2B5EF4-FFF2-40B4-BE49-F238E27FC236}">
                <a16:creationId xmlns:a16="http://schemas.microsoft.com/office/drawing/2014/main" id="{C67C2AC3-123B-26B4-ABA8-A656031AF28E}"/>
              </a:ext>
            </a:extLst>
          </p:cNvPr>
          <p:cNvPicPr>
            <a:picLocks noChangeAspect="1"/>
          </p:cNvPicPr>
          <p:nvPr/>
        </p:nvPicPr>
        <p:blipFill>
          <a:blip r:embed="rId21"/>
          <a:stretch>
            <a:fillRect/>
          </a:stretch>
        </p:blipFill>
        <p:spPr>
          <a:xfrm>
            <a:off x="23837763" y="15344866"/>
            <a:ext cx="1588800" cy="2986944"/>
          </a:xfrm>
          <a:prstGeom prst="rect">
            <a:avLst/>
          </a:prstGeom>
        </p:spPr>
      </p:pic>
      <p:grpSp>
        <p:nvGrpSpPr>
          <p:cNvPr id="1093" name="Group 1092">
            <a:extLst>
              <a:ext uri="{FF2B5EF4-FFF2-40B4-BE49-F238E27FC236}">
                <a16:creationId xmlns:a16="http://schemas.microsoft.com/office/drawing/2014/main" id="{12A28B15-F16F-48DE-DB2B-81A0C1CBF345}"/>
              </a:ext>
            </a:extLst>
          </p:cNvPr>
          <p:cNvGrpSpPr/>
          <p:nvPr/>
        </p:nvGrpSpPr>
        <p:grpSpPr>
          <a:xfrm>
            <a:off x="23762726" y="18172267"/>
            <a:ext cx="6269812" cy="4477180"/>
            <a:chOff x="22597216" y="22542560"/>
            <a:chExt cx="6269812" cy="4477180"/>
          </a:xfrm>
        </p:grpSpPr>
        <p:sp>
          <p:nvSpPr>
            <p:cNvPr id="1089" name="Freeform: Shape 1088">
              <a:extLst>
                <a:ext uri="{FF2B5EF4-FFF2-40B4-BE49-F238E27FC236}">
                  <a16:creationId xmlns:a16="http://schemas.microsoft.com/office/drawing/2014/main" id="{20CA68BE-2B80-16F2-4AFC-FFD7A0643ABF}"/>
                </a:ext>
              </a:extLst>
            </p:cNvPr>
            <p:cNvSpPr/>
            <p:nvPr/>
          </p:nvSpPr>
          <p:spPr>
            <a:xfrm flipH="1">
              <a:off x="22703389" y="22840207"/>
              <a:ext cx="6163639" cy="3723164"/>
            </a:xfrm>
            <a:custGeom>
              <a:avLst/>
              <a:gdLst>
                <a:gd name="connsiteX0" fmla="*/ 734084 w 7514992"/>
                <a:gd name="connsiteY0" fmla="*/ 0 h 4404416"/>
                <a:gd name="connsiteX1" fmla="*/ 3764622 w 7514992"/>
                <a:gd name="connsiteY1" fmla="*/ 0 h 4404416"/>
                <a:gd name="connsiteX2" fmla="*/ 4483792 w 7514992"/>
                <a:gd name="connsiteY2" fmla="*/ 586140 h 4404416"/>
                <a:gd name="connsiteX3" fmla="*/ 4496828 w 7514992"/>
                <a:gd name="connsiteY3" fmla="*/ 715464 h 4404416"/>
                <a:gd name="connsiteX4" fmla="*/ 4536744 w 7514992"/>
                <a:gd name="connsiteY4" fmla="*/ 703074 h 4404416"/>
                <a:gd name="connsiteX5" fmla="*/ 4649498 w 7514992"/>
                <a:gd name="connsiteY5" fmla="*/ 691708 h 4404416"/>
                <a:gd name="connsiteX6" fmla="*/ 6955512 w 7514992"/>
                <a:gd name="connsiteY6" fmla="*/ 691708 h 4404416"/>
                <a:gd name="connsiteX7" fmla="*/ 7514992 w 7514992"/>
                <a:gd name="connsiteY7" fmla="*/ 1251186 h 4404416"/>
                <a:gd name="connsiteX8" fmla="*/ 7514992 w 7514992"/>
                <a:gd name="connsiteY8" fmla="*/ 3489032 h 4404416"/>
                <a:gd name="connsiteX9" fmla="*/ 6955512 w 7514992"/>
                <a:gd name="connsiteY9" fmla="*/ 4048512 h 4404416"/>
                <a:gd name="connsiteX10" fmla="*/ 4649498 w 7514992"/>
                <a:gd name="connsiteY10" fmla="*/ 4048512 h 4404416"/>
                <a:gd name="connsiteX11" fmla="*/ 4431724 w 7514992"/>
                <a:gd name="connsiteY11" fmla="*/ 4004546 h 4404416"/>
                <a:gd name="connsiteX12" fmla="*/ 4418580 w 7514992"/>
                <a:gd name="connsiteY12" fmla="*/ 3997410 h 4404416"/>
                <a:gd name="connsiteX13" fmla="*/ 4373336 w 7514992"/>
                <a:gd name="connsiteY13" fmla="*/ 4080766 h 4404416"/>
                <a:gd name="connsiteX14" fmla="*/ 3764622 w 7514992"/>
                <a:gd name="connsiteY14" fmla="*/ 4404416 h 4404416"/>
                <a:gd name="connsiteX15" fmla="*/ 734084 w 7514992"/>
                <a:gd name="connsiteY15" fmla="*/ 4404416 h 4404416"/>
                <a:gd name="connsiteX16" fmla="*/ 0 w 7514992"/>
                <a:gd name="connsiteY16" fmla="*/ 3670332 h 4404416"/>
                <a:gd name="connsiteX17" fmla="*/ 0 w 7514992"/>
                <a:gd name="connsiteY17" fmla="*/ 734084 h 4404416"/>
                <a:gd name="connsiteX18" fmla="*/ 734084 w 7514992"/>
                <a:gd name="connsiteY18" fmla="*/ 0 h 44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14992" h="4404416">
                  <a:moveTo>
                    <a:pt x="734084" y="0"/>
                  </a:moveTo>
                  <a:lnTo>
                    <a:pt x="3764622" y="0"/>
                  </a:lnTo>
                  <a:cubicBezTo>
                    <a:pt x="4119366" y="0"/>
                    <a:pt x="4415342" y="251630"/>
                    <a:pt x="4483792" y="586140"/>
                  </a:cubicBezTo>
                  <a:lnTo>
                    <a:pt x="4496828" y="715464"/>
                  </a:lnTo>
                  <a:lnTo>
                    <a:pt x="4536744" y="703074"/>
                  </a:lnTo>
                  <a:cubicBezTo>
                    <a:pt x="4573164" y="695622"/>
                    <a:pt x="4610874" y="691708"/>
                    <a:pt x="4649498" y="691708"/>
                  </a:cubicBezTo>
                  <a:lnTo>
                    <a:pt x="6955512" y="691708"/>
                  </a:lnTo>
                  <a:cubicBezTo>
                    <a:pt x="7264504" y="691708"/>
                    <a:pt x="7514992" y="942194"/>
                    <a:pt x="7514992" y="1251186"/>
                  </a:cubicBezTo>
                  <a:lnTo>
                    <a:pt x="7514992" y="3489032"/>
                  </a:lnTo>
                  <a:cubicBezTo>
                    <a:pt x="7514992" y="3798024"/>
                    <a:pt x="7264504" y="4048512"/>
                    <a:pt x="6955512" y="4048512"/>
                  </a:cubicBezTo>
                  <a:lnTo>
                    <a:pt x="4649498" y="4048512"/>
                  </a:lnTo>
                  <a:cubicBezTo>
                    <a:pt x="4572250" y="4048512"/>
                    <a:pt x="4498658" y="4032856"/>
                    <a:pt x="4431724" y="4004546"/>
                  </a:cubicBezTo>
                  <a:lnTo>
                    <a:pt x="4418580" y="3997410"/>
                  </a:lnTo>
                  <a:lnTo>
                    <a:pt x="4373336" y="4080766"/>
                  </a:lnTo>
                  <a:cubicBezTo>
                    <a:pt x="4241416" y="4276034"/>
                    <a:pt x="4018010" y="4404416"/>
                    <a:pt x="3764622" y="4404416"/>
                  </a:cubicBezTo>
                  <a:lnTo>
                    <a:pt x="734084" y="4404416"/>
                  </a:lnTo>
                  <a:cubicBezTo>
                    <a:pt x="328660" y="4404416"/>
                    <a:pt x="0" y="4075756"/>
                    <a:pt x="0" y="3670332"/>
                  </a:cubicBezTo>
                  <a:lnTo>
                    <a:pt x="0" y="734084"/>
                  </a:lnTo>
                  <a:cubicBezTo>
                    <a:pt x="0" y="328660"/>
                    <a:pt x="328660" y="0"/>
                    <a:pt x="734084" y="0"/>
                  </a:cubicBezTo>
                  <a:close/>
                </a:path>
              </a:pathLst>
            </a:custGeom>
            <a:solidFill>
              <a:srgbClr val="9DC3E6"/>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sz="1624"/>
            </a:p>
          </p:txBody>
        </p:sp>
        <p:pic>
          <p:nvPicPr>
            <p:cNvPr id="1090" name="Picture 1089" descr="A white box with a hole in it&#10;&#10;Description automatically generated">
              <a:extLst>
                <a:ext uri="{FF2B5EF4-FFF2-40B4-BE49-F238E27FC236}">
                  <a16:creationId xmlns:a16="http://schemas.microsoft.com/office/drawing/2014/main" id="{84B81F8D-CAC1-7505-DA38-B576D57D48BD}"/>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rot="325165">
              <a:off x="25521698" y="22542560"/>
              <a:ext cx="3182486" cy="4477180"/>
            </a:xfrm>
            <a:prstGeom prst="rect">
              <a:avLst/>
            </a:prstGeom>
          </p:spPr>
        </p:pic>
        <p:sp>
          <p:nvSpPr>
            <p:cNvPr id="1091" name="TextBox 1090">
              <a:extLst>
                <a:ext uri="{FF2B5EF4-FFF2-40B4-BE49-F238E27FC236}">
                  <a16:creationId xmlns:a16="http://schemas.microsoft.com/office/drawing/2014/main" id="{C4069210-0A6F-02EA-8532-6652E49A8DFC}"/>
                </a:ext>
              </a:extLst>
            </p:cNvPr>
            <p:cNvSpPr txBox="1"/>
            <p:nvPr/>
          </p:nvSpPr>
          <p:spPr>
            <a:xfrm flipH="1">
              <a:off x="22597216" y="23696699"/>
              <a:ext cx="2380820" cy="2221583"/>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r"/>
              <a:r>
                <a:rPr lang="en-US" sz="1985" b="1" i="1" dirty="0">
                  <a:solidFill>
                    <a:srgbClr val="002060"/>
                  </a:solidFill>
                  <a:latin typeface="Aptos" panose="020B0004020202020204" pitchFamily="34" charset="0"/>
                  <a:cs typeface="Arial" panose="020B0604020202020204" pitchFamily="34" charset="0"/>
                </a:rPr>
                <a:t>Custom BLDC motor centrifuge </a:t>
              </a:r>
              <a:r>
                <a:rPr lang="en-US" sz="1985" i="1" dirty="0">
                  <a:solidFill>
                    <a:srgbClr val="002060"/>
                  </a:solidFill>
                  <a:latin typeface="Aptos" panose="020B0004020202020204" pitchFamily="34" charset="0"/>
                  <a:cs typeface="Arial" panose="020B0604020202020204" pitchFamily="34" charset="0"/>
                </a:rPr>
                <a:t>operated by an O-Drive motor controller spinning at a maximum of </a:t>
              </a:r>
              <a:r>
                <a:rPr lang="en-US" sz="1985" b="1" i="1" dirty="0">
                  <a:solidFill>
                    <a:srgbClr val="002060"/>
                  </a:solidFill>
                  <a:latin typeface="Aptos" panose="020B0004020202020204" pitchFamily="34" charset="0"/>
                  <a:cs typeface="Arial" panose="020B0604020202020204" pitchFamily="34" charset="0"/>
                </a:rPr>
                <a:t>12000 rpm.</a:t>
              </a:r>
            </a:p>
          </p:txBody>
        </p:sp>
        <p:cxnSp>
          <p:nvCxnSpPr>
            <p:cNvPr id="1092" name="Straight Connector 1091">
              <a:extLst>
                <a:ext uri="{FF2B5EF4-FFF2-40B4-BE49-F238E27FC236}">
                  <a16:creationId xmlns:a16="http://schemas.microsoft.com/office/drawing/2014/main" id="{B5597E7C-BD48-D502-EA08-419414D6B9D0}"/>
                </a:ext>
              </a:extLst>
            </p:cNvPr>
            <p:cNvCxnSpPr>
              <a:cxnSpLocks/>
            </p:cNvCxnSpPr>
            <p:nvPr/>
          </p:nvCxnSpPr>
          <p:spPr>
            <a:xfrm flipH="1" flipV="1">
              <a:off x="25160754" y="23760824"/>
              <a:ext cx="0" cy="194343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1101" name="Oval 1100">
            <a:extLst>
              <a:ext uri="{FF2B5EF4-FFF2-40B4-BE49-F238E27FC236}">
                <a16:creationId xmlns:a16="http://schemas.microsoft.com/office/drawing/2014/main" id="{64337544-9B22-18AA-57DC-7D74CC98617F}"/>
              </a:ext>
            </a:extLst>
          </p:cNvPr>
          <p:cNvSpPr>
            <a:spLocks noChangeAspect="1"/>
          </p:cNvSpPr>
          <p:nvPr/>
        </p:nvSpPr>
        <p:spPr>
          <a:xfrm>
            <a:off x="21498072" y="21004907"/>
            <a:ext cx="275797" cy="291165"/>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103" name="Oval 1102">
            <a:extLst>
              <a:ext uri="{FF2B5EF4-FFF2-40B4-BE49-F238E27FC236}">
                <a16:creationId xmlns:a16="http://schemas.microsoft.com/office/drawing/2014/main" id="{BA00D7E6-8B07-5A96-768A-44697A0D53D3}"/>
              </a:ext>
            </a:extLst>
          </p:cNvPr>
          <p:cNvSpPr>
            <a:spLocks noChangeAspect="1"/>
          </p:cNvSpPr>
          <p:nvPr/>
        </p:nvSpPr>
        <p:spPr>
          <a:xfrm>
            <a:off x="23676373" y="21293855"/>
            <a:ext cx="675065" cy="712680"/>
          </a:xfrm>
          <a:prstGeom prst="ellipse">
            <a:avLst/>
          </a:prstGeom>
          <a:solidFill>
            <a:srgbClr val="002060"/>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104" name="TextBox 1103">
            <a:extLst>
              <a:ext uri="{FF2B5EF4-FFF2-40B4-BE49-F238E27FC236}">
                <a16:creationId xmlns:a16="http://schemas.microsoft.com/office/drawing/2014/main" id="{9E10AA98-7DCE-3BB7-2790-8673E8BA4460}"/>
              </a:ext>
            </a:extLst>
          </p:cNvPr>
          <p:cNvSpPr txBox="1"/>
          <p:nvPr/>
        </p:nvSpPr>
        <p:spPr>
          <a:xfrm>
            <a:off x="23767592" y="21354120"/>
            <a:ext cx="506107" cy="592150"/>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5</a:t>
            </a:r>
          </a:p>
        </p:txBody>
      </p:sp>
      <p:cxnSp>
        <p:nvCxnSpPr>
          <p:cNvPr id="1105" name="Straight Connector 1104">
            <a:extLst>
              <a:ext uri="{FF2B5EF4-FFF2-40B4-BE49-F238E27FC236}">
                <a16:creationId xmlns:a16="http://schemas.microsoft.com/office/drawing/2014/main" id="{67059380-B2B1-0C1C-BC12-3D9DA174137B}"/>
              </a:ext>
            </a:extLst>
          </p:cNvPr>
          <p:cNvCxnSpPr>
            <a:cxnSpLocks/>
            <a:stCxn id="1103" idx="2"/>
            <a:endCxn id="1101" idx="6"/>
          </p:cNvCxnSpPr>
          <p:nvPr/>
        </p:nvCxnSpPr>
        <p:spPr>
          <a:xfrm flipH="1" flipV="1">
            <a:off x="21773869" y="21150490"/>
            <a:ext cx="1902504" cy="499705"/>
          </a:xfrm>
          <a:prstGeom prst="line">
            <a:avLst/>
          </a:prstGeom>
          <a:ln w="76200" cap="rnd">
            <a:solidFill>
              <a:srgbClr val="002060"/>
            </a:solidFill>
            <a:prstDash val="sysDot"/>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953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0"/>
          </a:schemeClr>
        </a:solidFill>
        <a:effectLst/>
      </p:bgPr>
    </p:bg>
    <p:spTree>
      <p:nvGrpSpPr>
        <p:cNvPr id="1" name="">
          <a:extLst>
            <a:ext uri="{FF2B5EF4-FFF2-40B4-BE49-F238E27FC236}">
              <a16:creationId xmlns:a16="http://schemas.microsoft.com/office/drawing/2014/main" id="{866D4495-0202-4DA2-5F9E-8731E2E0DB18}"/>
            </a:ext>
          </a:extLst>
        </p:cNvPr>
        <p:cNvGrpSpPr/>
        <p:nvPr/>
      </p:nvGrpSpPr>
      <p:grpSpPr>
        <a:xfrm>
          <a:off x="0" y="0"/>
          <a:ext cx="0" cy="0"/>
          <a:chOff x="0" y="0"/>
          <a:chExt cx="0" cy="0"/>
        </a:xfrm>
      </p:grpSpPr>
      <p:grpSp>
        <p:nvGrpSpPr>
          <p:cNvPr id="137" name="Group 136">
            <a:extLst>
              <a:ext uri="{FF2B5EF4-FFF2-40B4-BE49-F238E27FC236}">
                <a16:creationId xmlns:a16="http://schemas.microsoft.com/office/drawing/2014/main" id="{0D6850E6-1B5C-FC1B-B470-52AF6F6AFC72}"/>
              </a:ext>
            </a:extLst>
          </p:cNvPr>
          <p:cNvGrpSpPr/>
          <p:nvPr/>
        </p:nvGrpSpPr>
        <p:grpSpPr>
          <a:xfrm>
            <a:off x="15828656" y="-11945"/>
            <a:ext cx="23771532" cy="8910290"/>
            <a:chOff x="1896849" y="1313514"/>
            <a:chExt cx="23771532" cy="8910290"/>
          </a:xfrm>
        </p:grpSpPr>
        <p:cxnSp>
          <p:nvCxnSpPr>
            <p:cNvPr id="7" name="Straight Connector 6">
              <a:extLst>
                <a:ext uri="{FF2B5EF4-FFF2-40B4-BE49-F238E27FC236}">
                  <a16:creationId xmlns:a16="http://schemas.microsoft.com/office/drawing/2014/main" id="{5B8C29E7-BF6D-8DA0-0C45-F4838C475A66}"/>
                </a:ext>
              </a:extLst>
            </p:cNvPr>
            <p:cNvCxnSpPr>
              <a:cxnSpLocks/>
            </p:cNvCxnSpPr>
            <p:nvPr/>
          </p:nvCxnSpPr>
          <p:spPr>
            <a:xfrm>
              <a:off x="1896849" y="1332095"/>
              <a:ext cx="7535036" cy="2530012"/>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8C840EE-2811-B272-34DA-8FDA289A1DC2}"/>
                </a:ext>
              </a:extLst>
            </p:cNvPr>
            <p:cNvCxnSpPr>
              <a:cxnSpLocks/>
            </p:cNvCxnSpPr>
            <p:nvPr/>
          </p:nvCxnSpPr>
          <p:spPr>
            <a:xfrm>
              <a:off x="1896849" y="1332095"/>
              <a:ext cx="9267544" cy="181500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1AE2E5-FC21-8F8E-93AC-247892259AE2}"/>
                </a:ext>
              </a:extLst>
            </p:cNvPr>
            <p:cNvCxnSpPr>
              <a:cxnSpLocks/>
            </p:cNvCxnSpPr>
            <p:nvPr/>
          </p:nvCxnSpPr>
          <p:spPr>
            <a:xfrm flipV="1">
              <a:off x="9431884" y="1744597"/>
              <a:ext cx="9267544" cy="211751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796749-D46B-B86C-D4F3-D57D4761CBBD}"/>
                </a:ext>
              </a:extLst>
            </p:cNvPr>
            <p:cNvCxnSpPr>
              <a:cxnSpLocks/>
            </p:cNvCxnSpPr>
            <p:nvPr/>
          </p:nvCxnSpPr>
          <p:spPr>
            <a:xfrm flipV="1">
              <a:off x="9431884" y="2239599"/>
              <a:ext cx="12100057" cy="162250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9CB9153-BCF6-DC07-9AEE-1C0F244D31A7}"/>
                </a:ext>
              </a:extLst>
            </p:cNvPr>
            <p:cNvCxnSpPr>
              <a:cxnSpLocks/>
            </p:cNvCxnSpPr>
            <p:nvPr/>
          </p:nvCxnSpPr>
          <p:spPr>
            <a:xfrm>
              <a:off x="2416506" y="1332095"/>
              <a:ext cx="6342573" cy="2290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1026619-046C-DAF3-FF0A-3BE469724F91}"/>
                </a:ext>
              </a:extLst>
            </p:cNvPr>
            <p:cNvCxnSpPr>
              <a:cxnSpLocks/>
            </p:cNvCxnSpPr>
            <p:nvPr/>
          </p:nvCxnSpPr>
          <p:spPr>
            <a:xfrm flipV="1">
              <a:off x="8759080" y="2597101"/>
              <a:ext cx="10109066" cy="102509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DBC345D-CC06-81E4-7511-965C3A423AA7}"/>
                </a:ext>
              </a:extLst>
            </p:cNvPr>
            <p:cNvCxnSpPr>
              <a:cxnSpLocks/>
            </p:cNvCxnSpPr>
            <p:nvPr/>
          </p:nvCxnSpPr>
          <p:spPr>
            <a:xfrm flipV="1">
              <a:off x="8759080" y="1332095"/>
              <a:ext cx="9692848" cy="2290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595784-2642-9B39-1FCB-A3D473843B25}"/>
                </a:ext>
              </a:extLst>
            </p:cNvPr>
            <p:cNvCxnSpPr>
              <a:cxnSpLocks/>
            </p:cNvCxnSpPr>
            <p:nvPr/>
          </p:nvCxnSpPr>
          <p:spPr>
            <a:xfrm flipV="1">
              <a:off x="8759080" y="1332095"/>
              <a:ext cx="12112859" cy="229009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C0B3370-3625-BC14-740F-DE4E35DAF872}"/>
                </a:ext>
              </a:extLst>
            </p:cNvPr>
            <p:cNvCxnSpPr>
              <a:cxnSpLocks/>
            </p:cNvCxnSpPr>
            <p:nvPr/>
          </p:nvCxnSpPr>
          <p:spPr>
            <a:xfrm flipH="1" flipV="1">
              <a:off x="18451927" y="1332095"/>
              <a:ext cx="1493226" cy="462655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B16E579-5DA8-4116-3667-261DA51DEFB5}"/>
                </a:ext>
              </a:extLst>
            </p:cNvPr>
            <p:cNvCxnSpPr>
              <a:cxnSpLocks/>
            </p:cNvCxnSpPr>
            <p:nvPr/>
          </p:nvCxnSpPr>
          <p:spPr>
            <a:xfrm flipH="1" flipV="1">
              <a:off x="18451927" y="1322804"/>
              <a:ext cx="2711971" cy="353847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641137C-A91B-52C5-808D-7696B9ACDCC3}"/>
                </a:ext>
              </a:extLst>
            </p:cNvPr>
            <p:cNvCxnSpPr>
              <a:cxnSpLocks/>
            </p:cNvCxnSpPr>
            <p:nvPr/>
          </p:nvCxnSpPr>
          <p:spPr>
            <a:xfrm flipH="1" flipV="1">
              <a:off x="18459276" y="1332095"/>
              <a:ext cx="2612512" cy="452495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2B20F7A-ECD7-D4BE-2FD5-E7E26C863862}"/>
                </a:ext>
              </a:extLst>
            </p:cNvPr>
            <p:cNvCxnSpPr>
              <a:cxnSpLocks/>
            </p:cNvCxnSpPr>
            <p:nvPr/>
          </p:nvCxnSpPr>
          <p:spPr>
            <a:xfrm flipH="1" flipV="1">
              <a:off x="20938359" y="1322804"/>
              <a:ext cx="4663603" cy="518848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31FADC6-CEB2-6203-31E2-D7D5ACF115A3}"/>
                </a:ext>
              </a:extLst>
            </p:cNvPr>
            <p:cNvCxnSpPr>
              <a:cxnSpLocks/>
            </p:cNvCxnSpPr>
            <p:nvPr/>
          </p:nvCxnSpPr>
          <p:spPr>
            <a:xfrm flipH="1" flipV="1">
              <a:off x="21519763" y="2239599"/>
              <a:ext cx="4082199" cy="258717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18CD7EA-21F2-DC32-A99C-1E442F71C359}"/>
                </a:ext>
              </a:extLst>
            </p:cNvPr>
            <p:cNvCxnSpPr>
              <a:cxnSpLocks/>
            </p:cNvCxnSpPr>
            <p:nvPr/>
          </p:nvCxnSpPr>
          <p:spPr>
            <a:xfrm flipH="1" flipV="1">
              <a:off x="20938359" y="1332095"/>
              <a:ext cx="4730022" cy="889170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B6A52F5-8522-4853-AAD4-3A8FF17DD629}"/>
                </a:ext>
              </a:extLst>
            </p:cNvPr>
            <p:cNvCxnSpPr>
              <a:cxnSpLocks/>
            </p:cNvCxnSpPr>
            <p:nvPr/>
          </p:nvCxnSpPr>
          <p:spPr>
            <a:xfrm flipH="1" flipV="1">
              <a:off x="21163898" y="4870568"/>
              <a:ext cx="4438063" cy="422852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217078-BB41-5D97-1204-B5FA8B78EFB6}"/>
                </a:ext>
              </a:extLst>
            </p:cNvPr>
            <p:cNvCxnSpPr>
              <a:cxnSpLocks/>
            </p:cNvCxnSpPr>
            <p:nvPr/>
          </p:nvCxnSpPr>
          <p:spPr>
            <a:xfrm flipH="1" flipV="1">
              <a:off x="19945154" y="5958646"/>
              <a:ext cx="5656808" cy="314044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860B2E8-EFA0-843D-C160-C8B2C3DC1C7D}"/>
                </a:ext>
              </a:extLst>
            </p:cNvPr>
            <p:cNvCxnSpPr>
              <a:cxnSpLocks/>
            </p:cNvCxnSpPr>
            <p:nvPr/>
          </p:nvCxnSpPr>
          <p:spPr>
            <a:xfrm flipH="1" flipV="1">
              <a:off x="21071788" y="5857052"/>
              <a:ext cx="4530173" cy="323274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D208DE4-99CF-A7F3-B518-516601FD38D6}"/>
                </a:ext>
              </a:extLst>
            </p:cNvPr>
            <p:cNvCxnSpPr>
              <a:cxnSpLocks/>
            </p:cNvCxnSpPr>
            <p:nvPr/>
          </p:nvCxnSpPr>
          <p:spPr>
            <a:xfrm flipH="1" flipV="1">
              <a:off x="4525660" y="1322804"/>
              <a:ext cx="4240768" cy="229938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1B728DB-56CC-008E-C55E-E7BE1A5342E1}"/>
                </a:ext>
              </a:extLst>
            </p:cNvPr>
            <p:cNvCxnSpPr>
              <a:cxnSpLocks/>
            </p:cNvCxnSpPr>
            <p:nvPr/>
          </p:nvCxnSpPr>
          <p:spPr>
            <a:xfrm flipH="1" flipV="1">
              <a:off x="5710774" y="1322803"/>
              <a:ext cx="3728459" cy="253930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B4BB1B5-CB74-B0A5-C014-0567CD094A1A}"/>
                </a:ext>
              </a:extLst>
            </p:cNvPr>
            <p:cNvCxnSpPr>
              <a:cxnSpLocks/>
            </p:cNvCxnSpPr>
            <p:nvPr/>
          </p:nvCxnSpPr>
          <p:spPr>
            <a:xfrm>
              <a:off x="18451927" y="1313514"/>
              <a:ext cx="5981119" cy="74621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B31511C-CA9A-D350-2F1C-BF76252802E6}"/>
                </a:ext>
              </a:extLst>
            </p:cNvPr>
            <p:cNvCxnSpPr>
              <a:cxnSpLocks/>
            </p:cNvCxnSpPr>
            <p:nvPr/>
          </p:nvCxnSpPr>
          <p:spPr>
            <a:xfrm flipH="1" flipV="1">
              <a:off x="24433046" y="2067511"/>
              <a:ext cx="92110" cy="602482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D4E1342-3F08-A373-2BE6-CF5868ACB5CD}"/>
                </a:ext>
              </a:extLst>
            </p:cNvPr>
            <p:cNvCxnSpPr>
              <a:cxnSpLocks/>
            </p:cNvCxnSpPr>
            <p:nvPr/>
          </p:nvCxnSpPr>
          <p:spPr>
            <a:xfrm flipH="1" flipV="1">
              <a:off x="24433046" y="2067511"/>
              <a:ext cx="1148185" cy="445306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59EA741-216C-BF1B-FB0E-92DA12C5B50A}"/>
                </a:ext>
              </a:extLst>
            </p:cNvPr>
            <p:cNvCxnSpPr>
              <a:cxnSpLocks/>
            </p:cNvCxnSpPr>
            <p:nvPr/>
          </p:nvCxnSpPr>
          <p:spPr>
            <a:xfrm flipH="1" flipV="1">
              <a:off x="24433046" y="2067511"/>
              <a:ext cx="1168915" cy="276642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4B95ECD-2015-F46A-C019-AAE98F78E3C3}"/>
                </a:ext>
              </a:extLst>
            </p:cNvPr>
            <p:cNvCxnSpPr>
              <a:cxnSpLocks/>
            </p:cNvCxnSpPr>
            <p:nvPr/>
          </p:nvCxnSpPr>
          <p:spPr>
            <a:xfrm flipH="1" flipV="1">
              <a:off x="20885676" y="1330260"/>
              <a:ext cx="4716285" cy="7759538"/>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E329F6C3-C660-4D67-8CB0-1B039C59E2F8}"/>
              </a:ext>
            </a:extLst>
          </p:cNvPr>
          <p:cNvGrpSpPr/>
          <p:nvPr/>
        </p:nvGrpSpPr>
        <p:grpSpPr>
          <a:xfrm>
            <a:off x="-10437" y="33415598"/>
            <a:ext cx="14148985" cy="6184590"/>
            <a:chOff x="-14043573" y="24939249"/>
            <a:chExt cx="14148985" cy="6184590"/>
          </a:xfrm>
        </p:grpSpPr>
        <p:cxnSp>
          <p:nvCxnSpPr>
            <p:cNvPr id="121" name="Straight Connector 120">
              <a:extLst>
                <a:ext uri="{FF2B5EF4-FFF2-40B4-BE49-F238E27FC236}">
                  <a16:creationId xmlns:a16="http://schemas.microsoft.com/office/drawing/2014/main" id="{28B8B64C-0CFE-5D2F-E14F-02AE54754B00}"/>
                </a:ext>
              </a:extLst>
            </p:cNvPr>
            <p:cNvCxnSpPr>
              <a:cxnSpLocks/>
            </p:cNvCxnSpPr>
            <p:nvPr/>
          </p:nvCxnSpPr>
          <p:spPr>
            <a:xfrm>
              <a:off x="-3852434" y="28586256"/>
              <a:ext cx="3957846" cy="253758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39671F5-87D3-978F-BB6D-38A5068B02B7}"/>
                </a:ext>
              </a:extLst>
            </p:cNvPr>
            <p:cNvCxnSpPr>
              <a:cxnSpLocks/>
            </p:cNvCxnSpPr>
            <p:nvPr/>
          </p:nvCxnSpPr>
          <p:spPr>
            <a:xfrm>
              <a:off x="-13998227" y="25963190"/>
              <a:ext cx="10145792" cy="260848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62988AB-6423-50C4-3F8B-55A7F178456F}"/>
                </a:ext>
              </a:extLst>
            </p:cNvPr>
            <p:cNvCxnSpPr>
              <a:cxnSpLocks/>
            </p:cNvCxnSpPr>
            <p:nvPr/>
          </p:nvCxnSpPr>
          <p:spPr>
            <a:xfrm flipV="1">
              <a:off x="-13998227" y="28574777"/>
              <a:ext cx="10145792" cy="165147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551A023-ECC1-7221-A6AA-B09ABF6A598F}"/>
                </a:ext>
              </a:extLst>
            </p:cNvPr>
            <p:cNvCxnSpPr>
              <a:cxnSpLocks/>
            </p:cNvCxnSpPr>
            <p:nvPr/>
          </p:nvCxnSpPr>
          <p:spPr>
            <a:xfrm flipV="1">
              <a:off x="-11944494" y="29525579"/>
              <a:ext cx="2281926" cy="1506656"/>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03E0A44-02F1-15A6-C508-405B9F3CCE87}"/>
                </a:ext>
              </a:extLst>
            </p:cNvPr>
            <p:cNvCxnSpPr>
              <a:cxnSpLocks/>
            </p:cNvCxnSpPr>
            <p:nvPr/>
          </p:nvCxnSpPr>
          <p:spPr>
            <a:xfrm flipV="1">
              <a:off x="-14031870" y="29525579"/>
              <a:ext cx="4369302" cy="1506656"/>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FC96DEE4-C023-02EC-BF41-5D0711A4A782}"/>
                </a:ext>
              </a:extLst>
            </p:cNvPr>
            <p:cNvCxnSpPr>
              <a:cxnSpLocks/>
            </p:cNvCxnSpPr>
            <p:nvPr/>
          </p:nvCxnSpPr>
          <p:spPr>
            <a:xfrm>
              <a:off x="-13998227" y="29525579"/>
              <a:ext cx="433565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552AEAAF-B97A-EDA4-732F-B3ED30A0EAFB}"/>
                </a:ext>
              </a:extLst>
            </p:cNvPr>
            <p:cNvCxnSpPr>
              <a:cxnSpLocks/>
            </p:cNvCxnSpPr>
            <p:nvPr/>
          </p:nvCxnSpPr>
          <p:spPr>
            <a:xfrm>
              <a:off x="-13998227" y="25963190"/>
              <a:ext cx="4321030" cy="3565495"/>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1A164B4-91BA-38D5-8DD6-ABCDE12F8E85}"/>
                </a:ext>
              </a:extLst>
            </p:cNvPr>
            <p:cNvCxnSpPr>
              <a:cxnSpLocks/>
            </p:cNvCxnSpPr>
            <p:nvPr/>
          </p:nvCxnSpPr>
          <p:spPr>
            <a:xfrm>
              <a:off x="-14043573" y="24939249"/>
              <a:ext cx="4400020" cy="357610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CA2BE90B-E714-1974-57B9-110298C8BD6A}"/>
                </a:ext>
              </a:extLst>
            </p:cNvPr>
            <p:cNvCxnSpPr>
              <a:cxnSpLocks/>
            </p:cNvCxnSpPr>
            <p:nvPr/>
          </p:nvCxnSpPr>
          <p:spPr>
            <a:xfrm>
              <a:off x="-9643553" y="28515356"/>
              <a:ext cx="5791119" cy="5631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794CBBA-F559-583D-5A21-FE2FFA4FEAC3}"/>
                </a:ext>
              </a:extLst>
            </p:cNvPr>
            <p:cNvCxnSpPr>
              <a:cxnSpLocks/>
            </p:cNvCxnSpPr>
            <p:nvPr/>
          </p:nvCxnSpPr>
          <p:spPr>
            <a:xfrm>
              <a:off x="-13998227" y="25960085"/>
              <a:ext cx="4335659" cy="2552166"/>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CE6EEA72-AF67-B391-E3D6-D1CBAE4D488D}"/>
                </a:ext>
              </a:extLst>
            </p:cNvPr>
            <p:cNvCxnSpPr>
              <a:cxnSpLocks/>
            </p:cNvCxnSpPr>
            <p:nvPr/>
          </p:nvCxnSpPr>
          <p:spPr>
            <a:xfrm flipH="1" flipV="1">
              <a:off x="-12268010" y="26414505"/>
              <a:ext cx="2590814" cy="310796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5B1CD6BE-A82F-81D8-8877-4F075B3BB09E}"/>
              </a:ext>
            </a:extLst>
          </p:cNvPr>
          <p:cNvSpPr txBox="1"/>
          <p:nvPr/>
        </p:nvSpPr>
        <p:spPr>
          <a:xfrm>
            <a:off x="645479" y="4164963"/>
            <a:ext cx="37115836" cy="3170099"/>
          </a:xfrm>
          <a:prstGeom prst="rect">
            <a:avLst/>
          </a:prstGeom>
          <a:noFill/>
        </p:spPr>
        <p:txBody>
          <a:bodyPr wrap="square" rtlCol="0">
            <a:spAutoFit/>
          </a:bodyPr>
          <a:lstStyle/>
          <a:p>
            <a:r>
              <a:rPr lang="en-US" sz="10000" b="1" dirty="0">
                <a:solidFill>
                  <a:srgbClr val="002060"/>
                </a:solidFill>
                <a:latin typeface="Aptos ExtraBold" panose="020B0004020202020204" pitchFamily="34" charset="0"/>
                <a:ea typeface="Open Sans" pitchFamily="2" charset="0"/>
                <a:cs typeface="Open Sans" pitchFamily="2" charset="0"/>
              </a:rPr>
              <a:t>Using Automation to Provide High-Quality </a:t>
            </a:r>
          </a:p>
          <a:p>
            <a:r>
              <a:rPr lang="en-US" sz="10000" b="1" dirty="0">
                <a:solidFill>
                  <a:srgbClr val="002060"/>
                </a:solidFill>
                <a:latin typeface="Aptos ExtraBold" panose="020B0004020202020204" pitchFamily="34" charset="0"/>
                <a:ea typeface="Open Sans" pitchFamily="2" charset="0"/>
                <a:cs typeface="Open Sans" pitchFamily="2" charset="0"/>
              </a:rPr>
              <a:t>Analytical Data in Drug Checking and Point of Care Services</a:t>
            </a:r>
          </a:p>
        </p:txBody>
      </p:sp>
      <p:cxnSp>
        <p:nvCxnSpPr>
          <p:cNvPr id="5" name="Straight Connector 4">
            <a:extLst>
              <a:ext uri="{FF2B5EF4-FFF2-40B4-BE49-F238E27FC236}">
                <a16:creationId xmlns:a16="http://schemas.microsoft.com/office/drawing/2014/main" id="{E5DBE857-27BE-027B-AD54-D2C344D52ADB}"/>
              </a:ext>
            </a:extLst>
          </p:cNvPr>
          <p:cNvCxnSpPr>
            <a:cxnSpLocks/>
          </p:cNvCxnSpPr>
          <p:nvPr/>
        </p:nvCxnSpPr>
        <p:spPr>
          <a:xfrm>
            <a:off x="764230" y="7773629"/>
            <a:ext cx="12677860"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7F9D24F-DC86-6C34-2654-1F58A24528D6}"/>
              </a:ext>
            </a:extLst>
          </p:cNvPr>
          <p:cNvSpPr txBox="1"/>
          <p:nvPr/>
        </p:nvSpPr>
        <p:spPr>
          <a:xfrm>
            <a:off x="645480" y="7994278"/>
            <a:ext cx="31561506" cy="1384995"/>
          </a:xfrm>
          <a:prstGeom prst="rect">
            <a:avLst/>
          </a:prstGeom>
          <a:noFill/>
        </p:spPr>
        <p:txBody>
          <a:bodyPr wrap="square" rtlCol="0">
            <a:spAutoFit/>
          </a:bodyPr>
          <a:lstStyle/>
          <a:p>
            <a:r>
              <a:rPr lang="en-US" sz="4200" dirty="0">
                <a:solidFill>
                  <a:srgbClr val="002060"/>
                </a:solidFill>
                <a:latin typeface="Aptos" panose="020B0004020202020204" pitchFamily="34" charset="0"/>
                <a:ea typeface="Open Sans" pitchFamily="2" charset="0"/>
                <a:cs typeface="Open Sans" pitchFamily="2" charset="0"/>
              </a:rPr>
              <a:t>Clark Zhang</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Matthew E. Reish</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Rebekah Greenwood</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Guy Swain</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Rebecca Hickman</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Sara Guzman</a:t>
            </a:r>
            <a:r>
              <a:rPr lang="en-US" sz="4200" baseline="30000" dirty="0">
                <a:solidFill>
                  <a:srgbClr val="002060"/>
                </a:solidFill>
                <a:latin typeface="Aptos" panose="020B0004020202020204" pitchFamily="34" charset="0"/>
                <a:ea typeface="Open Sans" pitchFamily="2" charset="0"/>
                <a:cs typeface="Open Sans" pitchFamily="2" charset="0"/>
              </a:rPr>
              <a:t>1</a:t>
            </a:r>
            <a:r>
              <a:rPr lang="en-US" sz="4200" dirty="0">
                <a:solidFill>
                  <a:srgbClr val="002060"/>
                </a:solidFill>
                <a:latin typeface="Aptos" panose="020B0004020202020204" pitchFamily="34" charset="0"/>
                <a:ea typeface="Open Sans" pitchFamily="2" charset="0"/>
                <a:cs typeface="Open Sans" pitchFamily="2" charset="0"/>
              </a:rPr>
              <a:t> and Jason E. Hein</a:t>
            </a:r>
            <a:r>
              <a:rPr lang="en-US" sz="4200" baseline="30000" dirty="0">
                <a:solidFill>
                  <a:srgbClr val="002060"/>
                </a:solidFill>
                <a:latin typeface="Aptos" panose="020B0004020202020204" pitchFamily="34" charset="0"/>
                <a:ea typeface="Open Sans" pitchFamily="2" charset="0"/>
                <a:cs typeface="Open Sans" pitchFamily="2" charset="0"/>
              </a:rPr>
              <a:t>1-3</a:t>
            </a:r>
          </a:p>
          <a:p>
            <a:endParaRPr lang="en-US" sz="4200" dirty="0">
              <a:solidFill>
                <a:srgbClr val="002060"/>
              </a:solidFill>
              <a:latin typeface="Aptos" panose="020B0004020202020204" pitchFamily="34" charset="0"/>
              <a:ea typeface="Open Sans" pitchFamily="2" charset="0"/>
              <a:cs typeface="Open Sans" pitchFamily="2" charset="0"/>
            </a:endParaRPr>
          </a:p>
        </p:txBody>
      </p:sp>
      <p:sp>
        <p:nvSpPr>
          <p:cNvPr id="8" name="TextBox 7">
            <a:extLst>
              <a:ext uri="{FF2B5EF4-FFF2-40B4-BE49-F238E27FC236}">
                <a16:creationId xmlns:a16="http://schemas.microsoft.com/office/drawing/2014/main" id="{86280D4F-78F5-C268-0134-98A9DD9B0ACC}"/>
              </a:ext>
            </a:extLst>
          </p:cNvPr>
          <p:cNvSpPr txBox="1"/>
          <p:nvPr/>
        </p:nvSpPr>
        <p:spPr>
          <a:xfrm>
            <a:off x="26714015" y="35653538"/>
            <a:ext cx="15674202" cy="1631216"/>
          </a:xfrm>
          <a:prstGeom prst="rect">
            <a:avLst/>
          </a:prstGeom>
          <a:noFill/>
        </p:spPr>
        <p:txBody>
          <a:bodyPr wrap="square" rtlCol="0">
            <a:spAutoFit/>
          </a:bodyPr>
          <a:lstStyle/>
          <a:p>
            <a:r>
              <a:rPr lang="en-US" sz="2500" b="1" dirty="0">
                <a:solidFill>
                  <a:srgbClr val="002060"/>
                </a:solidFill>
                <a:latin typeface="Aptos" panose="020B0004020202020204" pitchFamily="34" charset="0"/>
                <a:ea typeface="Open Sans" pitchFamily="2" charset="0"/>
                <a:cs typeface="Open Sans" pitchFamily="2" charset="0"/>
              </a:rPr>
              <a:t>Affiliations</a:t>
            </a:r>
          </a:p>
          <a:p>
            <a:pPr marL="464072" indent="-464072">
              <a:buAutoNum type="arabicPeriod"/>
            </a:pPr>
            <a:r>
              <a:rPr lang="en-US" sz="2500" dirty="0">
                <a:solidFill>
                  <a:srgbClr val="002060"/>
                </a:solidFill>
                <a:latin typeface="Aptos" panose="020B0004020202020204" pitchFamily="34" charset="0"/>
                <a:ea typeface="Open Sans" pitchFamily="2" charset="0"/>
                <a:cs typeface="Open Sans" pitchFamily="2" charset="0"/>
              </a:rPr>
              <a:t>Department of Chemistry, The University of British Columbia, 2036 Main Mall, Vancouver</a:t>
            </a:r>
          </a:p>
          <a:p>
            <a:pPr marL="464072" indent="-464072">
              <a:buAutoNum type="arabicPeriod"/>
            </a:pPr>
            <a:r>
              <a:rPr lang="en-US" sz="2500" dirty="0">
                <a:solidFill>
                  <a:srgbClr val="002060"/>
                </a:solidFill>
                <a:latin typeface="Aptos" panose="020B0004020202020204" pitchFamily="34" charset="0"/>
                <a:ea typeface="Open Sans" pitchFamily="2" charset="0"/>
                <a:cs typeface="Open Sans" pitchFamily="2" charset="0"/>
              </a:rPr>
              <a:t>Acceleration Consortium, University of Toronto, </a:t>
            </a:r>
            <a:r>
              <a:rPr lang="fr-FR" sz="2500" dirty="0">
                <a:solidFill>
                  <a:srgbClr val="002060"/>
                </a:solidFill>
                <a:latin typeface="Aptos" panose="020B0004020202020204" pitchFamily="34" charset="0"/>
                <a:ea typeface="Open Sans" pitchFamily="2" charset="0"/>
                <a:cs typeface="Open Sans" pitchFamily="2" charset="0"/>
              </a:rPr>
              <a:t>700 </a:t>
            </a:r>
            <a:r>
              <a:rPr lang="fr-FR" sz="2500" dirty="0" err="1">
                <a:solidFill>
                  <a:srgbClr val="002060"/>
                </a:solidFill>
                <a:latin typeface="Aptos" panose="020B0004020202020204" pitchFamily="34" charset="0"/>
                <a:ea typeface="Open Sans" pitchFamily="2" charset="0"/>
                <a:cs typeface="Open Sans" pitchFamily="2" charset="0"/>
              </a:rPr>
              <a:t>University</a:t>
            </a:r>
            <a:r>
              <a:rPr lang="fr-FR" sz="2500" dirty="0">
                <a:solidFill>
                  <a:srgbClr val="002060"/>
                </a:solidFill>
                <a:latin typeface="Aptos" panose="020B0004020202020204" pitchFamily="34" charset="0"/>
                <a:ea typeface="Open Sans" pitchFamily="2" charset="0"/>
                <a:cs typeface="Open Sans" pitchFamily="2" charset="0"/>
              </a:rPr>
              <a:t> Ave suite 1001, Toronto</a:t>
            </a:r>
            <a:endParaRPr lang="en-US" sz="2500" dirty="0">
              <a:solidFill>
                <a:srgbClr val="002060"/>
              </a:solidFill>
              <a:latin typeface="Aptos" panose="020B0004020202020204" pitchFamily="34" charset="0"/>
              <a:ea typeface="Open Sans" pitchFamily="2" charset="0"/>
              <a:cs typeface="Open Sans" pitchFamily="2" charset="0"/>
            </a:endParaRPr>
          </a:p>
          <a:p>
            <a:pPr marL="464072" indent="-464072">
              <a:buAutoNum type="arabicPeriod"/>
            </a:pPr>
            <a:r>
              <a:rPr lang="en-US" sz="2500" dirty="0">
                <a:solidFill>
                  <a:srgbClr val="002060"/>
                </a:solidFill>
                <a:latin typeface="Aptos" panose="020B0004020202020204" pitchFamily="34" charset="0"/>
                <a:ea typeface="Open Sans" pitchFamily="2" charset="0"/>
                <a:cs typeface="Open Sans" pitchFamily="2" charset="0"/>
              </a:rPr>
              <a:t>Department of Chemistry, University of Bergen, </a:t>
            </a:r>
            <a:r>
              <a:rPr lang="en-US" sz="2500" dirty="0" err="1">
                <a:solidFill>
                  <a:srgbClr val="002060"/>
                </a:solidFill>
                <a:latin typeface="Aptos" panose="020B0004020202020204" pitchFamily="34" charset="0"/>
                <a:ea typeface="Open Sans" pitchFamily="2" charset="0"/>
                <a:cs typeface="Open Sans" pitchFamily="2" charset="0"/>
              </a:rPr>
              <a:t>Allégaten</a:t>
            </a:r>
            <a:r>
              <a:rPr lang="en-US" sz="2500" dirty="0">
                <a:solidFill>
                  <a:srgbClr val="002060"/>
                </a:solidFill>
                <a:latin typeface="Aptos" panose="020B0004020202020204" pitchFamily="34" charset="0"/>
                <a:ea typeface="Open Sans" pitchFamily="2" charset="0"/>
                <a:cs typeface="Open Sans" pitchFamily="2" charset="0"/>
              </a:rPr>
              <a:t> 41, 5007 Bergen, Norway</a:t>
            </a:r>
          </a:p>
        </p:txBody>
      </p:sp>
      <p:pic>
        <p:nvPicPr>
          <p:cNvPr id="15" name="Picture 14" descr="A black background with blue text&#10;&#10;Description automatically generated">
            <a:extLst>
              <a:ext uri="{FF2B5EF4-FFF2-40B4-BE49-F238E27FC236}">
                <a16:creationId xmlns:a16="http://schemas.microsoft.com/office/drawing/2014/main" id="{1B38F82D-5ED8-994B-6290-E5EC1EFC210B}"/>
              </a:ext>
            </a:extLst>
          </p:cNvPr>
          <p:cNvPicPr>
            <a:picLocks noChangeAspect="1"/>
          </p:cNvPicPr>
          <p:nvPr/>
        </p:nvPicPr>
        <p:blipFill rotWithShape="1">
          <a:blip r:embed="rId2"/>
          <a:srcRect l="-1" r="-13233"/>
          <a:stretch/>
        </p:blipFill>
        <p:spPr>
          <a:xfrm>
            <a:off x="22528362" y="37707656"/>
            <a:ext cx="11452679" cy="2088705"/>
          </a:xfrm>
          <a:prstGeom prst="rect">
            <a:avLst/>
          </a:prstGeom>
        </p:spPr>
      </p:pic>
      <p:pic>
        <p:nvPicPr>
          <p:cNvPr id="332" name="Google Shape;1201;p110">
            <a:extLst>
              <a:ext uri="{FF2B5EF4-FFF2-40B4-BE49-F238E27FC236}">
                <a16:creationId xmlns:a16="http://schemas.microsoft.com/office/drawing/2014/main" id="{BD7FD925-07D3-D65D-FFEE-CF1A036AD9B3}"/>
              </a:ext>
            </a:extLst>
          </p:cNvPr>
          <p:cNvPicPr preferRelativeResize="0">
            <a:picLocks noChangeAspect="1" noChangeArrowheads="1"/>
          </p:cNvPicPr>
          <p:nvPr/>
        </p:nvPicPr>
        <p:blipFill>
          <a:blip r:embed="rId3">
            <a:duotone>
              <a:prstClr val="black"/>
              <a:schemeClr val="accent5">
                <a:tint val="45000"/>
                <a:satMod val="400000"/>
              </a:scheme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5812032" y="37833154"/>
            <a:ext cx="2846290" cy="160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4" name="Group 153">
            <a:extLst>
              <a:ext uri="{FF2B5EF4-FFF2-40B4-BE49-F238E27FC236}">
                <a16:creationId xmlns:a16="http://schemas.microsoft.com/office/drawing/2014/main" id="{F658B5E0-2E0F-C1DC-6B8F-2F20417E7938}"/>
              </a:ext>
            </a:extLst>
          </p:cNvPr>
          <p:cNvGrpSpPr/>
          <p:nvPr/>
        </p:nvGrpSpPr>
        <p:grpSpPr>
          <a:xfrm>
            <a:off x="-92106" y="9493487"/>
            <a:ext cx="39223410" cy="25721483"/>
            <a:chOff x="712600" y="10388675"/>
            <a:chExt cx="37744363" cy="23445141"/>
          </a:xfrm>
        </p:grpSpPr>
        <p:grpSp>
          <p:nvGrpSpPr>
            <p:cNvPr id="27" name="Group 26">
              <a:extLst>
                <a:ext uri="{FF2B5EF4-FFF2-40B4-BE49-F238E27FC236}">
                  <a16:creationId xmlns:a16="http://schemas.microsoft.com/office/drawing/2014/main" id="{0CBF57BA-826D-D658-0D33-FA77453F0644}"/>
                </a:ext>
              </a:extLst>
            </p:cNvPr>
            <p:cNvGrpSpPr/>
            <p:nvPr/>
          </p:nvGrpSpPr>
          <p:grpSpPr>
            <a:xfrm>
              <a:off x="10787334" y="15149211"/>
              <a:ext cx="11980641" cy="10319434"/>
              <a:chOff x="15477892" y="9753600"/>
              <a:chExt cx="17017175" cy="14657614"/>
            </a:xfrm>
          </p:grpSpPr>
          <p:pic>
            <p:nvPicPr>
              <p:cNvPr id="9" name="Picture 8" descr="A machine with many small objects&#10;&#10;Description automatically generated with medium confidence">
                <a:extLst>
                  <a:ext uri="{FF2B5EF4-FFF2-40B4-BE49-F238E27FC236}">
                    <a16:creationId xmlns:a16="http://schemas.microsoft.com/office/drawing/2014/main" id="{879F6340-2FDB-888A-A852-A9E3C3FF658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5532"/>
              <a:stretch/>
            </p:blipFill>
            <p:spPr>
              <a:xfrm>
                <a:off x="15958690" y="9855201"/>
                <a:ext cx="16396519" cy="13609014"/>
              </a:xfrm>
              <a:prstGeom prst="rect">
                <a:avLst/>
              </a:prstGeom>
            </p:spPr>
          </p:pic>
          <p:grpSp>
            <p:nvGrpSpPr>
              <p:cNvPr id="18" name="Group 17">
                <a:extLst>
                  <a:ext uri="{FF2B5EF4-FFF2-40B4-BE49-F238E27FC236}">
                    <a16:creationId xmlns:a16="http://schemas.microsoft.com/office/drawing/2014/main" id="{9627D4BE-5AA2-0AAB-BB1E-49FEB5253F80}"/>
                  </a:ext>
                </a:extLst>
              </p:cNvPr>
              <p:cNvGrpSpPr/>
              <p:nvPr/>
            </p:nvGrpSpPr>
            <p:grpSpPr>
              <a:xfrm>
                <a:off x="15477892" y="9788434"/>
                <a:ext cx="4718360" cy="14622780"/>
                <a:chOff x="15477892" y="9788434"/>
                <a:chExt cx="4718360" cy="14622780"/>
              </a:xfrm>
            </p:grpSpPr>
            <p:sp>
              <p:nvSpPr>
                <p:cNvPr id="11" name="Freeform 10">
                  <a:extLst>
                    <a:ext uri="{FF2B5EF4-FFF2-40B4-BE49-F238E27FC236}">
                      <a16:creationId xmlns:a16="http://schemas.microsoft.com/office/drawing/2014/main" id="{967EF30A-E0E3-96E8-0DCD-DA7691AC2D87}"/>
                    </a:ext>
                  </a:extLst>
                </p:cNvPr>
                <p:cNvSpPr/>
                <p:nvPr/>
              </p:nvSpPr>
              <p:spPr>
                <a:xfrm>
                  <a:off x="15785646" y="14597743"/>
                  <a:ext cx="2073729" cy="9813471"/>
                </a:xfrm>
                <a:custGeom>
                  <a:avLst/>
                  <a:gdLst>
                    <a:gd name="connsiteX0" fmla="*/ 653143 w 2073729"/>
                    <a:gd name="connsiteY0" fmla="*/ 9682843 h 9813471"/>
                    <a:gd name="connsiteX1" fmla="*/ 2073729 w 2073729"/>
                    <a:gd name="connsiteY1" fmla="*/ 0 h 9813471"/>
                    <a:gd name="connsiteX2" fmla="*/ 0 w 2073729"/>
                    <a:gd name="connsiteY2" fmla="*/ 65314 h 9813471"/>
                    <a:gd name="connsiteX3" fmla="*/ 16329 w 2073729"/>
                    <a:gd name="connsiteY3" fmla="*/ 9813471 h 9813471"/>
                    <a:gd name="connsiteX4" fmla="*/ 653143 w 2073729"/>
                    <a:gd name="connsiteY4" fmla="*/ 9682843 h 9813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3729" h="9813471">
                      <a:moveTo>
                        <a:pt x="653143" y="9682843"/>
                      </a:moveTo>
                      <a:lnTo>
                        <a:pt x="2073729" y="0"/>
                      </a:lnTo>
                      <a:lnTo>
                        <a:pt x="0" y="65314"/>
                      </a:lnTo>
                      <a:lnTo>
                        <a:pt x="16329" y="9813471"/>
                      </a:lnTo>
                      <a:lnTo>
                        <a:pt x="653143" y="9682843"/>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sp>
              <p:nvSpPr>
                <p:cNvPr id="13" name="Freeform 12">
                  <a:extLst>
                    <a:ext uri="{FF2B5EF4-FFF2-40B4-BE49-F238E27FC236}">
                      <a16:creationId xmlns:a16="http://schemas.microsoft.com/office/drawing/2014/main" id="{A08673B7-4344-F714-7EAC-8F491891FF81}"/>
                    </a:ext>
                  </a:extLst>
                </p:cNvPr>
                <p:cNvSpPr/>
                <p:nvPr/>
              </p:nvSpPr>
              <p:spPr>
                <a:xfrm>
                  <a:off x="15477892" y="10571356"/>
                  <a:ext cx="4718360" cy="4415883"/>
                </a:xfrm>
                <a:custGeom>
                  <a:avLst/>
                  <a:gdLst>
                    <a:gd name="connsiteX0" fmla="*/ 2375210 w 4718360"/>
                    <a:gd name="connsiteY0" fmla="*/ 4087619 h 4415883"/>
                    <a:gd name="connsiteX1" fmla="*/ 2632385 w 4718360"/>
                    <a:gd name="connsiteY1" fmla="*/ 2258819 h 4415883"/>
                    <a:gd name="connsiteX2" fmla="*/ 4718360 w 4718360"/>
                    <a:gd name="connsiteY2" fmla="*/ 2315969 h 4415883"/>
                    <a:gd name="connsiteX3" fmla="*/ 4146860 w 4718360"/>
                    <a:gd name="connsiteY3" fmla="*/ 1944494 h 4415883"/>
                    <a:gd name="connsiteX4" fmla="*/ 3847018 w 4718360"/>
                    <a:gd name="connsiteY4" fmla="*/ 1892041 h 4415883"/>
                    <a:gd name="connsiteX5" fmla="*/ 3847018 w 4718360"/>
                    <a:gd name="connsiteY5" fmla="*/ 1892041 h 4415883"/>
                    <a:gd name="connsiteX6" fmla="*/ 3847018 w 4718360"/>
                    <a:gd name="connsiteY6" fmla="*/ 1892041 h 4415883"/>
                    <a:gd name="connsiteX7" fmla="*/ 3847018 w 4718360"/>
                    <a:gd name="connsiteY7" fmla="*/ 1892041 h 4415883"/>
                    <a:gd name="connsiteX8" fmla="*/ 3847018 w 4718360"/>
                    <a:gd name="connsiteY8" fmla="*/ 1892041 h 4415883"/>
                    <a:gd name="connsiteX9" fmla="*/ 3847018 w 4718360"/>
                    <a:gd name="connsiteY9" fmla="*/ 1892041 h 4415883"/>
                    <a:gd name="connsiteX10" fmla="*/ 3408607 w 4718360"/>
                    <a:gd name="connsiteY10" fmla="*/ 1528786 h 4415883"/>
                    <a:gd name="connsiteX11" fmla="*/ 3158087 w 4718360"/>
                    <a:gd name="connsiteY11" fmla="*/ 1165532 h 4415883"/>
                    <a:gd name="connsiteX12" fmla="*/ 3020300 w 4718360"/>
                    <a:gd name="connsiteY12" fmla="*/ 852381 h 4415883"/>
                    <a:gd name="connsiteX13" fmla="*/ 2945144 w 4718360"/>
                    <a:gd name="connsiteY13" fmla="*/ 413970 h 4415883"/>
                    <a:gd name="connsiteX14" fmla="*/ 2307754 w 4718360"/>
                    <a:gd name="connsiteY14" fmla="*/ 491385 h 4415883"/>
                    <a:gd name="connsiteX15" fmla="*/ 2307754 w 4718360"/>
                    <a:gd name="connsiteY15" fmla="*/ 491385 h 4415883"/>
                    <a:gd name="connsiteX16" fmla="*/ 2307754 w 4718360"/>
                    <a:gd name="connsiteY16" fmla="*/ 491385 h 4415883"/>
                    <a:gd name="connsiteX17" fmla="*/ 2307754 w 4718360"/>
                    <a:gd name="connsiteY17" fmla="*/ 491385 h 4415883"/>
                    <a:gd name="connsiteX18" fmla="*/ 0 w 4718360"/>
                    <a:gd name="connsiteY18" fmla="*/ 0 h 4415883"/>
                    <a:gd name="connsiteX19" fmla="*/ 289932 w 4718360"/>
                    <a:gd name="connsiteY19" fmla="*/ 4415883 h 4415883"/>
                    <a:gd name="connsiteX20" fmla="*/ 2375210 w 4718360"/>
                    <a:gd name="connsiteY20" fmla="*/ 4087619 h 4415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18360" h="4415883">
                      <a:moveTo>
                        <a:pt x="2375210" y="4087619"/>
                      </a:moveTo>
                      <a:lnTo>
                        <a:pt x="2632385" y="2258819"/>
                      </a:lnTo>
                      <a:lnTo>
                        <a:pt x="4718360" y="2315969"/>
                      </a:lnTo>
                      <a:lnTo>
                        <a:pt x="4146860" y="1944494"/>
                      </a:lnTo>
                      <a:lnTo>
                        <a:pt x="3847018" y="1892041"/>
                      </a:lnTo>
                      <a:lnTo>
                        <a:pt x="3847018" y="1892041"/>
                      </a:lnTo>
                      <a:lnTo>
                        <a:pt x="3847018" y="1892041"/>
                      </a:lnTo>
                      <a:lnTo>
                        <a:pt x="3847018" y="1892041"/>
                      </a:lnTo>
                      <a:lnTo>
                        <a:pt x="3847018" y="1892041"/>
                      </a:lnTo>
                      <a:lnTo>
                        <a:pt x="3847018" y="1892041"/>
                      </a:lnTo>
                      <a:lnTo>
                        <a:pt x="3408607" y="1528786"/>
                      </a:lnTo>
                      <a:lnTo>
                        <a:pt x="3158087" y="1165532"/>
                      </a:lnTo>
                      <a:lnTo>
                        <a:pt x="3020300" y="852381"/>
                      </a:lnTo>
                      <a:lnTo>
                        <a:pt x="2945144" y="413970"/>
                      </a:lnTo>
                      <a:lnTo>
                        <a:pt x="2307754" y="491385"/>
                      </a:lnTo>
                      <a:lnTo>
                        <a:pt x="2307754" y="491385"/>
                      </a:lnTo>
                      <a:lnTo>
                        <a:pt x="2307754" y="491385"/>
                      </a:lnTo>
                      <a:lnTo>
                        <a:pt x="2307754" y="491385"/>
                      </a:lnTo>
                      <a:lnTo>
                        <a:pt x="0" y="0"/>
                      </a:lnTo>
                      <a:lnTo>
                        <a:pt x="289932" y="4415883"/>
                      </a:lnTo>
                      <a:lnTo>
                        <a:pt x="2375210" y="4087619"/>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sp>
              <p:nvSpPr>
                <p:cNvPr id="16" name="Freeform 15">
                  <a:extLst>
                    <a:ext uri="{FF2B5EF4-FFF2-40B4-BE49-F238E27FC236}">
                      <a16:creationId xmlns:a16="http://schemas.microsoft.com/office/drawing/2014/main" id="{B3A91348-F99A-CBD1-3845-69795D542EDF}"/>
                    </a:ext>
                  </a:extLst>
                </p:cNvPr>
                <p:cNvSpPr/>
                <p:nvPr/>
              </p:nvSpPr>
              <p:spPr>
                <a:xfrm>
                  <a:off x="15919269" y="9788434"/>
                  <a:ext cx="2795451" cy="1280160"/>
                </a:xfrm>
                <a:custGeom>
                  <a:avLst/>
                  <a:gdLst>
                    <a:gd name="connsiteX0" fmla="*/ 2795451 w 2795451"/>
                    <a:gd name="connsiteY0" fmla="*/ 34835 h 1280160"/>
                    <a:gd name="connsiteX1" fmla="*/ 2682240 w 2795451"/>
                    <a:gd name="connsiteY1" fmla="*/ 174172 h 1280160"/>
                    <a:gd name="connsiteX2" fmla="*/ 2586445 w 2795451"/>
                    <a:gd name="connsiteY2" fmla="*/ 409303 h 1280160"/>
                    <a:gd name="connsiteX3" fmla="*/ 2499360 w 2795451"/>
                    <a:gd name="connsiteY3" fmla="*/ 757646 h 1280160"/>
                    <a:gd name="connsiteX4" fmla="*/ 2299062 w 2795451"/>
                    <a:gd name="connsiteY4" fmla="*/ 783772 h 1280160"/>
                    <a:gd name="connsiteX5" fmla="*/ 2072640 w 2795451"/>
                    <a:gd name="connsiteY5" fmla="*/ 836023 h 1280160"/>
                    <a:gd name="connsiteX6" fmla="*/ 1854925 w 2795451"/>
                    <a:gd name="connsiteY6" fmla="*/ 888275 h 1280160"/>
                    <a:gd name="connsiteX7" fmla="*/ 1672045 w 2795451"/>
                    <a:gd name="connsiteY7" fmla="*/ 957943 h 1280160"/>
                    <a:gd name="connsiteX8" fmla="*/ 1645920 w 2795451"/>
                    <a:gd name="connsiteY8" fmla="*/ 1027612 h 1280160"/>
                    <a:gd name="connsiteX9" fmla="*/ 1602377 w 2795451"/>
                    <a:gd name="connsiteY9" fmla="*/ 1062446 h 1280160"/>
                    <a:gd name="connsiteX10" fmla="*/ 1593668 w 2795451"/>
                    <a:gd name="connsiteY10" fmla="*/ 1158240 h 1280160"/>
                    <a:gd name="connsiteX11" fmla="*/ 1645920 w 2795451"/>
                    <a:gd name="connsiteY11" fmla="*/ 1184366 h 1280160"/>
                    <a:gd name="connsiteX12" fmla="*/ 1706880 w 2795451"/>
                    <a:gd name="connsiteY12" fmla="*/ 1280160 h 1280160"/>
                    <a:gd name="connsiteX13" fmla="*/ 0 w 2795451"/>
                    <a:gd name="connsiteY13" fmla="*/ 905692 h 1280160"/>
                    <a:gd name="connsiteX14" fmla="*/ 26125 w 2795451"/>
                    <a:gd name="connsiteY14" fmla="*/ 0 h 1280160"/>
                    <a:gd name="connsiteX15" fmla="*/ 2795451 w 2795451"/>
                    <a:gd name="connsiteY15" fmla="*/ 34835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95451" h="1280160">
                      <a:moveTo>
                        <a:pt x="2795451" y="34835"/>
                      </a:moveTo>
                      <a:lnTo>
                        <a:pt x="2682240" y="174172"/>
                      </a:lnTo>
                      <a:lnTo>
                        <a:pt x="2586445" y="409303"/>
                      </a:lnTo>
                      <a:lnTo>
                        <a:pt x="2499360" y="757646"/>
                      </a:lnTo>
                      <a:lnTo>
                        <a:pt x="2299062" y="783772"/>
                      </a:lnTo>
                      <a:lnTo>
                        <a:pt x="2072640" y="836023"/>
                      </a:lnTo>
                      <a:lnTo>
                        <a:pt x="1854925" y="888275"/>
                      </a:lnTo>
                      <a:lnTo>
                        <a:pt x="1672045" y="957943"/>
                      </a:lnTo>
                      <a:lnTo>
                        <a:pt x="1645920" y="1027612"/>
                      </a:lnTo>
                      <a:lnTo>
                        <a:pt x="1602377" y="1062446"/>
                      </a:lnTo>
                      <a:lnTo>
                        <a:pt x="1593668" y="1158240"/>
                      </a:lnTo>
                      <a:lnTo>
                        <a:pt x="1645920" y="1184366"/>
                      </a:lnTo>
                      <a:lnTo>
                        <a:pt x="1706880" y="1280160"/>
                      </a:lnTo>
                      <a:lnTo>
                        <a:pt x="0" y="905692"/>
                      </a:lnTo>
                      <a:lnTo>
                        <a:pt x="26125" y="0"/>
                      </a:lnTo>
                      <a:lnTo>
                        <a:pt x="2795451" y="34835"/>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grpSp>
          <p:grpSp>
            <p:nvGrpSpPr>
              <p:cNvPr id="25" name="Group 24">
                <a:extLst>
                  <a:ext uri="{FF2B5EF4-FFF2-40B4-BE49-F238E27FC236}">
                    <a16:creationId xmlns:a16="http://schemas.microsoft.com/office/drawing/2014/main" id="{EEABD414-CE76-1DD4-B55D-1639D30F95D4}"/>
                  </a:ext>
                </a:extLst>
              </p:cNvPr>
              <p:cNvGrpSpPr/>
              <p:nvPr/>
            </p:nvGrpSpPr>
            <p:grpSpPr>
              <a:xfrm>
                <a:off x="21842730" y="9753600"/>
                <a:ext cx="10652337" cy="12886267"/>
                <a:chOff x="21842730" y="9753600"/>
                <a:chExt cx="10652337" cy="12886267"/>
              </a:xfrm>
            </p:grpSpPr>
            <p:grpSp>
              <p:nvGrpSpPr>
                <p:cNvPr id="21" name="Group 20">
                  <a:extLst>
                    <a:ext uri="{FF2B5EF4-FFF2-40B4-BE49-F238E27FC236}">
                      <a16:creationId xmlns:a16="http://schemas.microsoft.com/office/drawing/2014/main" id="{D7DEFD6D-DB77-F573-0A37-B355F440E68A}"/>
                    </a:ext>
                  </a:extLst>
                </p:cNvPr>
                <p:cNvGrpSpPr/>
                <p:nvPr/>
              </p:nvGrpSpPr>
              <p:grpSpPr>
                <a:xfrm>
                  <a:off x="21842730" y="9753600"/>
                  <a:ext cx="10604615" cy="3810000"/>
                  <a:chOff x="21842730" y="9753600"/>
                  <a:chExt cx="10604615" cy="3810000"/>
                </a:xfrm>
              </p:grpSpPr>
              <p:sp>
                <p:nvSpPr>
                  <p:cNvPr id="19" name="Freeform 18">
                    <a:extLst>
                      <a:ext uri="{FF2B5EF4-FFF2-40B4-BE49-F238E27FC236}">
                        <a16:creationId xmlns:a16="http://schemas.microsoft.com/office/drawing/2014/main" id="{E69214FF-782B-ED5A-9EA3-90BEF92874C5}"/>
                      </a:ext>
                    </a:extLst>
                  </p:cNvPr>
                  <p:cNvSpPr/>
                  <p:nvPr/>
                </p:nvSpPr>
                <p:spPr>
                  <a:xfrm>
                    <a:off x="21842730" y="9795510"/>
                    <a:ext cx="6206490" cy="2548890"/>
                  </a:xfrm>
                  <a:custGeom>
                    <a:avLst/>
                    <a:gdLst>
                      <a:gd name="connsiteX0" fmla="*/ 205740 w 6206490"/>
                      <a:gd name="connsiteY0" fmla="*/ 34290 h 2548890"/>
                      <a:gd name="connsiteX1" fmla="*/ 171450 w 6206490"/>
                      <a:gd name="connsiteY1" fmla="*/ 240030 h 2548890"/>
                      <a:gd name="connsiteX2" fmla="*/ 171450 w 6206490"/>
                      <a:gd name="connsiteY2" fmla="*/ 240030 h 2548890"/>
                      <a:gd name="connsiteX3" fmla="*/ 11430 w 6206490"/>
                      <a:gd name="connsiteY3" fmla="*/ 308610 h 2548890"/>
                      <a:gd name="connsiteX4" fmla="*/ 0 w 6206490"/>
                      <a:gd name="connsiteY4" fmla="*/ 400050 h 2548890"/>
                      <a:gd name="connsiteX5" fmla="*/ 80010 w 6206490"/>
                      <a:gd name="connsiteY5" fmla="*/ 662940 h 2548890"/>
                      <a:gd name="connsiteX6" fmla="*/ 137160 w 6206490"/>
                      <a:gd name="connsiteY6" fmla="*/ 880110 h 2548890"/>
                      <a:gd name="connsiteX7" fmla="*/ 91440 w 6206490"/>
                      <a:gd name="connsiteY7" fmla="*/ 1097280 h 2548890"/>
                      <a:gd name="connsiteX8" fmla="*/ 240030 w 6206490"/>
                      <a:gd name="connsiteY8" fmla="*/ 1565910 h 2548890"/>
                      <a:gd name="connsiteX9" fmla="*/ 297180 w 6206490"/>
                      <a:gd name="connsiteY9" fmla="*/ 1600200 h 2548890"/>
                      <a:gd name="connsiteX10" fmla="*/ 354330 w 6206490"/>
                      <a:gd name="connsiteY10" fmla="*/ 1874520 h 2548890"/>
                      <a:gd name="connsiteX11" fmla="*/ 422910 w 6206490"/>
                      <a:gd name="connsiteY11" fmla="*/ 2183130 h 2548890"/>
                      <a:gd name="connsiteX12" fmla="*/ 388620 w 6206490"/>
                      <a:gd name="connsiteY12" fmla="*/ 2286000 h 2548890"/>
                      <a:gd name="connsiteX13" fmla="*/ 514350 w 6206490"/>
                      <a:gd name="connsiteY13" fmla="*/ 2320290 h 2548890"/>
                      <a:gd name="connsiteX14" fmla="*/ 868680 w 6206490"/>
                      <a:gd name="connsiteY14" fmla="*/ 2548890 h 2548890"/>
                      <a:gd name="connsiteX15" fmla="*/ 1703070 w 6206490"/>
                      <a:gd name="connsiteY15" fmla="*/ 1828800 h 2548890"/>
                      <a:gd name="connsiteX16" fmla="*/ 1657350 w 6206490"/>
                      <a:gd name="connsiteY16" fmla="*/ 1703070 h 2548890"/>
                      <a:gd name="connsiteX17" fmla="*/ 1657350 w 6206490"/>
                      <a:gd name="connsiteY17" fmla="*/ 1508760 h 2548890"/>
                      <a:gd name="connsiteX18" fmla="*/ 1748790 w 6206490"/>
                      <a:gd name="connsiteY18" fmla="*/ 1131570 h 2548890"/>
                      <a:gd name="connsiteX19" fmla="*/ 1828800 w 6206490"/>
                      <a:gd name="connsiteY19" fmla="*/ 994410 h 2548890"/>
                      <a:gd name="connsiteX20" fmla="*/ 1977390 w 6206490"/>
                      <a:gd name="connsiteY20" fmla="*/ 777240 h 2548890"/>
                      <a:gd name="connsiteX21" fmla="*/ 2205990 w 6206490"/>
                      <a:gd name="connsiteY21" fmla="*/ 514350 h 2548890"/>
                      <a:gd name="connsiteX22" fmla="*/ 2446020 w 6206490"/>
                      <a:gd name="connsiteY22" fmla="*/ 342900 h 2548890"/>
                      <a:gd name="connsiteX23" fmla="*/ 2686050 w 6206490"/>
                      <a:gd name="connsiteY23" fmla="*/ 251460 h 2548890"/>
                      <a:gd name="connsiteX24" fmla="*/ 2857500 w 6206490"/>
                      <a:gd name="connsiteY24" fmla="*/ 285750 h 2548890"/>
                      <a:gd name="connsiteX25" fmla="*/ 3086100 w 6206490"/>
                      <a:gd name="connsiteY25" fmla="*/ 434340 h 2548890"/>
                      <a:gd name="connsiteX26" fmla="*/ 3280410 w 6206490"/>
                      <a:gd name="connsiteY26" fmla="*/ 468630 h 2548890"/>
                      <a:gd name="connsiteX27" fmla="*/ 3371850 w 6206490"/>
                      <a:gd name="connsiteY27" fmla="*/ 537210 h 2548890"/>
                      <a:gd name="connsiteX28" fmla="*/ 3417570 w 6206490"/>
                      <a:gd name="connsiteY28" fmla="*/ 651510 h 2548890"/>
                      <a:gd name="connsiteX29" fmla="*/ 5029200 w 6206490"/>
                      <a:gd name="connsiteY29" fmla="*/ 1771650 h 2548890"/>
                      <a:gd name="connsiteX30" fmla="*/ 5234940 w 6206490"/>
                      <a:gd name="connsiteY30" fmla="*/ 1634490 h 2548890"/>
                      <a:gd name="connsiteX31" fmla="*/ 5532120 w 6206490"/>
                      <a:gd name="connsiteY31" fmla="*/ 1600200 h 2548890"/>
                      <a:gd name="connsiteX32" fmla="*/ 5875020 w 6206490"/>
                      <a:gd name="connsiteY32" fmla="*/ 1634490 h 2548890"/>
                      <a:gd name="connsiteX33" fmla="*/ 6206490 w 6206490"/>
                      <a:gd name="connsiteY33" fmla="*/ 1760220 h 2548890"/>
                      <a:gd name="connsiteX34" fmla="*/ 6012180 w 6206490"/>
                      <a:gd name="connsiteY34" fmla="*/ 0 h 2548890"/>
                      <a:gd name="connsiteX35" fmla="*/ 205740 w 6206490"/>
                      <a:gd name="connsiteY35" fmla="*/ 34290 h 254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206490" h="2548890">
                        <a:moveTo>
                          <a:pt x="205740" y="34290"/>
                        </a:moveTo>
                        <a:lnTo>
                          <a:pt x="171450" y="240030"/>
                        </a:lnTo>
                        <a:lnTo>
                          <a:pt x="171450" y="240030"/>
                        </a:lnTo>
                        <a:lnTo>
                          <a:pt x="11430" y="308610"/>
                        </a:lnTo>
                        <a:lnTo>
                          <a:pt x="0" y="400050"/>
                        </a:lnTo>
                        <a:lnTo>
                          <a:pt x="80010" y="662940"/>
                        </a:lnTo>
                        <a:lnTo>
                          <a:pt x="137160" y="880110"/>
                        </a:lnTo>
                        <a:lnTo>
                          <a:pt x="91440" y="1097280"/>
                        </a:lnTo>
                        <a:lnTo>
                          <a:pt x="240030" y="1565910"/>
                        </a:lnTo>
                        <a:lnTo>
                          <a:pt x="297180" y="1600200"/>
                        </a:lnTo>
                        <a:lnTo>
                          <a:pt x="354330" y="1874520"/>
                        </a:lnTo>
                        <a:lnTo>
                          <a:pt x="422910" y="2183130"/>
                        </a:lnTo>
                        <a:lnTo>
                          <a:pt x="388620" y="2286000"/>
                        </a:lnTo>
                        <a:lnTo>
                          <a:pt x="514350" y="2320290"/>
                        </a:lnTo>
                        <a:lnTo>
                          <a:pt x="868680" y="2548890"/>
                        </a:lnTo>
                        <a:lnTo>
                          <a:pt x="1703070" y="1828800"/>
                        </a:lnTo>
                        <a:lnTo>
                          <a:pt x="1657350" y="1703070"/>
                        </a:lnTo>
                        <a:lnTo>
                          <a:pt x="1657350" y="1508760"/>
                        </a:lnTo>
                        <a:lnTo>
                          <a:pt x="1748790" y="1131570"/>
                        </a:lnTo>
                        <a:lnTo>
                          <a:pt x="1828800" y="994410"/>
                        </a:lnTo>
                        <a:lnTo>
                          <a:pt x="1977390" y="777240"/>
                        </a:lnTo>
                        <a:lnTo>
                          <a:pt x="2205990" y="514350"/>
                        </a:lnTo>
                        <a:lnTo>
                          <a:pt x="2446020" y="342900"/>
                        </a:lnTo>
                        <a:lnTo>
                          <a:pt x="2686050" y="251460"/>
                        </a:lnTo>
                        <a:lnTo>
                          <a:pt x="2857500" y="285750"/>
                        </a:lnTo>
                        <a:lnTo>
                          <a:pt x="3086100" y="434340"/>
                        </a:lnTo>
                        <a:lnTo>
                          <a:pt x="3280410" y="468630"/>
                        </a:lnTo>
                        <a:lnTo>
                          <a:pt x="3371850" y="537210"/>
                        </a:lnTo>
                        <a:lnTo>
                          <a:pt x="3417570" y="651510"/>
                        </a:lnTo>
                        <a:lnTo>
                          <a:pt x="5029200" y="1771650"/>
                        </a:lnTo>
                        <a:lnTo>
                          <a:pt x="5234940" y="1634490"/>
                        </a:lnTo>
                        <a:lnTo>
                          <a:pt x="5532120" y="1600200"/>
                        </a:lnTo>
                        <a:lnTo>
                          <a:pt x="5875020" y="1634490"/>
                        </a:lnTo>
                        <a:lnTo>
                          <a:pt x="6206490" y="1760220"/>
                        </a:lnTo>
                        <a:lnTo>
                          <a:pt x="6012180" y="0"/>
                        </a:lnTo>
                        <a:lnTo>
                          <a:pt x="205740" y="34290"/>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sp>
                <p:nvSpPr>
                  <p:cNvPr id="20" name="Freeform 19">
                    <a:extLst>
                      <a:ext uri="{FF2B5EF4-FFF2-40B4-BE49-F238E27FC236}">
                        <a16:creationId xmlns:a16="http://schemas.microsoft.com/office/drawing/2014/main" id="{D7BD7392-7D0B-BBE0-925B-409AB06686A6}"/>
                      </a:ext>
                    </a:extLst>
                  </p:cNvPr>
                  <p:cNvSpPr/>
                  <p:nvPr/>
                </p:nvSpPr>
                <p:spPr>
                  <a:xfrm>
                    <a:off x="27778364" y="9753600"/>
                    <a:ext cx="4668981" cy="3810000"/>
                  </a:xfrm>
                  <a:custGeom>
                    <a:avLst/>
                    <a:gdLst>
                      <a:gd name="connsiteX0" fmla="*/ 249381 w 4668981"/>
                      <a:gd name="connsiteY0" fmla="*/ 1773382 h 3810000"/>
                      <a:gd name="connsiteX1" fmla="*/ 471054 w 4668981"/>
                      <a:gd name="connsiteY1" fmla="*/ 1953491 h 3810000"/>
                      <a:gd name="connsiteX2" fmla="*/ 720436 w 4668981"/>
                      <a:gd name="connsiteY2" fmla="*/ 2244436 h 3810000"/>
                      <a:gd name="connsiteX3" fmla="*/ 775854 w 4668981"/>
                      <a:gd name="connsiteY3" fmla="*/ 2410691 h 3810000"/>
                      <a:gd name="connsiteX4" fmla="*/ 803563 w 4668981"/>
                      <a:gd name="connsiteY4" fmla="*/ 2618509 h 3810000"/>
                      <a:gd name="connsiteX5" fmla="*/ 775854 w 4668981"/>
                      <a:gd name="connsiteY5" fmla="*/ 2937164 h 3810000"/>
                      <a:gd name="connsiteX6" fmla="*/ 720436 w 4668981"/>
                      <a:gd name="connsiteY6" fmla="*/ 3075709 h 3810000"/>
                      <a:gd name="connsiteX7" fmla="*/ 720436 w 4668981"/>
                      <a:gd name="connsiteY7" fmla="*/ 3117273 h 3810000"/>
                      <a:gd name="connsiteX8" fmla="*/ 2729345 w 4668981"/>
                      <a:gd name="connsiteY8" fmla="*/ 3117273 h 3810000"/>
                      <a:gd name="connsiteX9" fmla="*/ 2895600 w 4668981"/>
                      <a:gd name="connsiteY9" fmla="*/ 3810000 h 3810000"/>
                      <a:gd name="connsiteX10" fmla="*/ 2964872 w 4668981"/>
                      <a:gd name="connsiteY10" fmla="*/ 3713018 h 3810000"/>
                      <a:gd name="connsiteX11" fmla="*/ 4114800 w 4668981"/>
                      <a:gd name="connsiteY11" fmla="*/ 3435927 h 3810000"/>
                      <a:gd name="connsiteX12" fmla="*/ 4668981 w 4668981"/>
                      <a:gd name="connsiteY12" fmla="*/ 3422073 h 3810000"/>
                      <a:gd name="connsiteX13" fmla="*/ 4627418 w 4668981"/>
                      <a:gd name="connsiteY13" fmla="*/ 0 h 3810000"/>
                      <a:gd name="connsiteX14" fmla="*/ 0 w 4668981"/>
                      <a:gd name="connsiteY14" fmla="*/ 55418 h 3810000"/>
                      <a:gd name="connsiteX15" fmla="*/ 249381 w 4668981"/>
                      <a:gd name="connsiteY15" fmla="*/ 1773382 h 38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68981" h="3810000">
                        <a:moveTo>
                          <a:pt x="249381" y="1773382"/>
                        </a:moveTo>
                        <a:lnTo>
                          <a:pt x="471054" y="1953491"/>
                        </a:lnTo>
                        <a:lnTo>
                          <a:pt x="720436" y="2244436"/>
                        </a:lnTo>
                        <a:lnTo>
                          <a:pt x="775854" y="2410691"/>
                        </a:lnTo>
                        <a:lnTo>
                          <a:pt x="803563" y="2618509"/>
                        </a:lnTo>
                        <a:lnTo>
                          <a:pt x="775854" y="2937164"/>
                        </a:lnTo>
                        <a:lnTo>
                          <a:pt x="720436" y="3075709"/>
                        </a:lnTo>
                        <a:lnTo>
                          <a:pt x="720436" y="3117273"/>
                        </a:lnTo>
                        <a:lnTo>
                          <a:pt x="2729345" y="3117273"/>
                        </a:lnTo>
                        <a:lnTo>
                          <a:pt x="2895600" y="3810000"/>
                        </a:lnTo>
                        <a:lnTo>
                          <a:pt x="2964872" y="3713018"/>
                        </a:lnTo>
                        <a:lnTo>
                          <a:pt x="4114800" y="3435927"/>
                        </a:lnTo>
                        <a:lnTo>
                          <a:pt x="4668981" y="3422073"/>
                        </a:lnTo>
                        <a:lnTo>
                          <a:pt x="4627418" y="0"/>
                        </a:lnTo>
                        <a:lnTo>
                          <a:pt x="0" y="55418"/>
                        </a:lnTo>
                        <a:lnTo>
                          <a:pt x="249381" y="1773382"/>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grpSp>
            <p:sp>
              <p:nvSpPr>
                <p:cNvPr id="22" name="Freeform 21">
                  <a:extLst>
                    <a:ext uri="{FF2B5EF4-FFF2-40B4-BE49-F238E27FC236}">
                      <a16:creationId xmlns:a16="http://schemas.microsoft.com/office/drawing/2014/main" id="{2E4F7E0F-341E-3342-31AC-F37BC8DEA517}"/>
                    </a:ext>
                  </a:extLst>
                </p:cNvPr>
                <p:cNvSpPr/>
                <p:nvPr/>
              </p:nvSpPr>
              <p:spPr>
                <a:xfrm>
                  <a:off x="30988001" y="13089467"/>
                  <a:ext cx="1473200" cy="9042399"/>
                </a:xfrm>
                <a:custGeom>
                  <a:avLst/>
                  <a:gdLst>
                    <a:gd name="connsiteX0" fmla="*/ 931333 w 1473200"/>
                    <a:gd name="connsiteY0" fmla="*/ 0 h 9127066"/>
                    <a:gd name="connsiteX1" fmla="*/ 1354667 w 1473200"/>
                    <a:gd name="connsiteY1" fmla="*/ 1117600 h 9127066"/>
                    <a:gd name="connsiteX2" fmla="*/ 1303867 w 1473200"/>
                    <a:gd name="connsiteY2" fmla="*/ 1354666 h 9127066"/>
                    <a:gd name="connsiteX3" fmla="*/ 0 w 1473200"/>
                    <a:gd name="connsiteY3" fmla="*/ 2607733 h 9127066"/>
                    <a:gd name="connsiteX4" fmla="*/ 220133 w 1473200"/>
                    <a:gd name="connsiteY4" fmla="*/ 3657600 h 9127066"/>
                    <a:gd name="connsiteX5" fmla="*/ 423333 w 1473200"/>
                    <a:gd name="connsiteY5" fmla="*/ 3674533 h 9127066"/>
                    <a:gd name="connsiteX6" fmla="*/ 965200 w 1473200"/>
                    <a:gd name="connsiteY6" fmla="*/ 6366933 h 9127066"/>
                    <a:gd name="connsiteX7" fmla="*/ 745067 w 1473200"/>
                    <a:gd name="connsiteY7" fmla="*/ 6485466 h 9127066"/>
                    <a:gd name="connsiteX8" fmla="*/ 1286933 w 1473200"/>
                    <a:gd name="connsiteY8" fmla="*/ 9127066 h 9127066"/>
                    <a:gd name="connsiteX9" fmla="*/ 1473200 w 1473200"/>
                    <a:gd name="connsiteY9" fmla="*/ 0 h 9127066"/>
                    <a:gd name="connsiteX10" fmla="*/ 931333 w 1473200"/>
                    <a:gd name="connsiteY10" fmla="*/ 0 h 912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3200" h="9127066">
                      <a:moveTo>
                        <a:pt x="931333" y="0"/>
                      </a:moveTo>
                      <a:lnTo>
                        <a:pt x="1354667" y="1117600"/>
                      </a:lnTo>
                      <a:lnTo>
                        <a:pt x="1303867" y="1354666"/>
                      </a:lnTo>
                      <a:lnTo>
                        <a:pt x="0" y="2607733"/>
                      </a:lnTo>
                      <a:lnTo>
                        <a:pt x="220133" y="3657600"/>
                      </a:lnTo>
                      <a:lnTo>
                        <a:pt x="423333" y="3674533"/>
                      </a:lnTo>
                      <a:lnTo>
                        <a:pt x="965200" y="6366933"/>
                      </a:lnTo>
                      <a:lnTo>
                        <a:pt x="745067" y="6485466"/>
                      </a:lnTo>
                      <a:lnTo>
                        <a:pt x="1286933" y="9127066"/>
                      </a:lnTo>
                      <a:lnTo>
                        <a:pt x="1473200" y="0"/>
                      </a:lnTo>
                      <a:lnTo>
                        <a:pt x="931333" y="0"/>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sp>
              <p:nvSpPr>
                <p:cNvPr id="23" name="Freeform 22">
                  <a:extLst>
                    <a:ext uri="{FF2B5EF4-FFF2-40B4-BE49-F238E27FC236}">
                      <a16:creationId xmlns:a16="http://schemas.microsoft.com/office/drawing/2014/main" id="{28EF3863-DC2D-C758-1E9B-2203B805857A}"/>
                    </a:ext>
                  </a:extLst>
                </p:cNvPr>
                <p:cNvSpPr/>
                <p:nvPr/>
              </p:nvSpPr>
              <p:spPr>
                <a:xfrm>
                  <a:off x="32224133" y="18220267"/>
                  <a:ext cx="270934" cy="4419600"/>
                </a:xfrm>
                <a:custGeom>
                  <a:avLst/>
                  <a:gdLst>
                    <a:gd name="connsiteX0" fmla="*/ 0 w 270934"/>
                    <a:gd name="connsiteY0" fmla="*/ 0 h 4419600"/>
                    <a:gd name="connsiteX1" fmla="*/ 33867 w 270934"/>
                    <a:gd name="connsiteY1" fmla="*/ 3810000 h 4419600"/>
                    <a:gd name="connsiteX2" fmla="*/ 169334 w 270934"/>
                    <a:gd name="connsiteY2" fmla="*/ 4419600 h 4419600"/>
                    <a:gd name="connsiteX3" fmla="*/ 270934 w 270934"/>
                    <a:gd name="connsiteY3" fmla="*/ 135466 h 4419600"/>
                    <a:gd name="connsiteX4" fmla="*/ 0 w 270934"/>
                    <a:gd name="connsiteY4" fmla="*/ 0 h 441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34" h="4419600">
                      <a:moveTo>
                        <a:pt x="0" y="0"/>
                      </a:moveTo>
                      <a:lnTo>
                        <a:pt x="33867" y="3810000"/>
                      </a:lnTo>
                      <a:lnTo>
                        <a:pt x="169334" y="4419600"/>
                      </a:lnTo>
                      <a:lnTo>
                        <a:pt x="270934" y="135466"/>
                      </a:lnTo>
                      <a:lnTo>
                        <a:pt x="0" y="0"/>
                      </a:lnTo>
                      <a:close/>
                    </a:path>
                  </a:pathLst>
                </a:custGeom>
                <a:solidFill>
                  <a:srgbClr val="DE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grpSp>
        </p:grpSp>
        <p:sp>
          <p:nvSpPr>
            <p:cNvPr id="41" name="Text Box 9">
              <a:extLst>
                <a:ext uri="{FF2B5EF4-FFF2-40B4-BE49-F238E27FC236}">
                  <a16:creationId xmlns:a16="http://schemas.microsoft.com/office/drawing/2014/main" id="{2F52C63B-7FC9-4BCE-E1C7-48BAC03E5CA6}"/>
                </a:ext>
              </a:extLst>
            </p:cNvPr>
            <p:cNvSpPr txBox="1">
              <a:spLocks noChangeArrowheads="1"/>
            </p:cNvSpPr>
            <p:nvPr/>
          </p:nvSpPr>
          <p:spPr bwMode="auto">
            <a:xfrm>
              <a:off x="1422057" y="10388675"/>
              <a:ext cx="8710963" cy="7229664"/>
            </a:xfrm>
            <a:prstGeom prst="rect">
              <a:avLst/>
            </a:prstGeom>
            <a:noFill/>
            <a:ln w="9525">
              <a:noFill/>
              <a:miter lim="800000"/>
              <a:headEnd/>
              <a:tailEnd/>
            </a:ln>
            <a:effectLst/>
          </p:spPr>
          <p:txBody>
            <a:bodyPr wrap="square" lIns="82500" tIns="41250" rIns="82500" bIns="41250" anchor="t">
              <a:spAutoFit/>
            </a:bodyPr>
            <a:lstStyle/>
            <a:p>
              <a:pPr algn="just" defTabSz="552875"/>
              <a:r>
                <a:rPr lang="en-US" sz="3000" dirty="0">
                  <a:solidFill>
                    <a:srgbClr val="002060"/>
                  </a:solidFill>
                  <a:latin typeface="Aptos" panose="020B0004020202020204" pitchFamily="34" charset="0"/>
                  <a:cs typeface="Arial" panose="020B0604020202020204" pitchFamily="34" charset="0"/>
                </a:rPr>
                <a:t>Each year, there are over </a:t>
              </a:r>
              <a:r>
                <a:rPr lang="en-US" sz="3000" b="1" dirty="0">
                  <a:solidFill>
                    <a:srgbClr val="002060"/>
                  </a:solidFill>
                  <a:latin typeface="Aptos" panose="020B0004020202020204" pitchFamily="34" charset="0"/>
                  <a:cs typeface="Arial" panose="020B0604020202020204" pitchFamily="34" charset="0"/>
                </a:rPr>
                <a:t>10,000</a:t>
              </a:r>
              <a:r>
                <a:rPr lang="en-US" sz="3000" dirty="0">
                  <a:solidFill>
                    <a:srgbClr val="002060"/>
                  </a:solidFill>
                  <a:latin typeface="Aptos" panose="020B0004020202020204" pitchFamily="34" charset="0"/>
                  <a:cs typeface="Arial" panose="020B0604020202020204" pitchFamily="34" charset="0"/>
                </a:rPr>
                <a:t> cases of overdose in Vancouver</a:t>
              </a:r>
              <a:r>
                <a:rPr lang="en-US" sz="3000" baseline="30000" dirty="0">
                  <a:solidFill>
                    <a:srgbClr val="002060"/>
                  </a:solidFill>
                  <a:latin typeface="Aptos" panose="020B0004020202020204" pitchFamily="34" charset="0"/>
                  <a:ea typeface="Open Sans" pitchFamily="2" charset="0"/>
                  <a:cs typeface="Open Sans" pitchFamily="2" charset="0"/>
                </a:rPr>
                <a:t>1</a:t>
              </a:r>
              <a:r>
                <a:rPr lang="en-US" sz="3000" dirty="0">
                  <a:solidFill>
                    <a:srgbClr val="002060"/>
                  </a:solidFill>
                  <a:latin typeface="Aptos" panose="020B0004020202020204" pitchFamily="34" charset="0"/>
                  <a:cs typeface="Arial" panose="020B0604020202020204" pitchFamily="34" charset="0"/>
                </a:rPr>
                <a:t>, many due to drug contamination.</a:t>
              </a:r>
              <a:r>
                <a:rPr lang="en-US" sz="3000" b="1" dirty="0">
                  <a:solidFill>
                    <a:srgbClr val="002060"/>
                  </a:solidFill>
                  <a:latin typeface="Aptos" panose="020B0004020202020204" pitchFamily="34" charset="0"/>
                  <a:cs typeface="Arial" panose="020B0604020202020204" pitchFamily="34" charset="0"/>
                </a:rPr>
                <a:t> </a:t>
              </a:r>
              <a:r>
                <a:rPr lang="en-US" sz="3000" dirty="0">
                  <a:solidFill>
                    <a:srgbClr val="002060"/>
                  </a:solidFill>
                  <a:latin typeface="Aptos" panose="020B0004020202020204" pitchFamily="34" charset="0"/>
                  <a:cs typeface="Arial" panose="020B0604020202020204" pitchFamily="34" charset="0"/>
                </a:rPr>
                <a:t>In response to the current overdose health crisis, numerous drug-checking centers have been set up, often using test strips to identify compounds and infrared spectroscopy for quantification. Despite governmental efforts, access to advanced methods like high-performance liquid chromatography (HPLC) remains limited. As operations of these technologies require specialized personnel, we can improve accessibility to these systems by integrating automation.</a:t>
              </a:r>
            </a:p>
            <a:p>
              <a:pPr algn="just" defTabSz="552875"/>
              <a:endParaRPr lang="en-US" sz="3000" dirty="0">
                <a:solidFill>
                  <a:srgbClr val="002060"/>
                </a:solidFill>
                <a:latin typeface="Aptos" panose="020B0004020202020204" pitchFamily="34" charset="0"/>
                <a:cs typeface="Arial" panose="020B0604020202020204" pitchFamily="34" charset="0"/>
              </a:endParaRPr>
            </a:p>
            <a:p>
              <a:pPr algn="just" defTabSz="552875"/>
              <a:r>
                <a:rPr lang="en-US" sz="3000" dirty="0">
                  <a:solidFill>
                    <a:srgbClr val="002060"/>
                  </a:solidFill>
                  <a:latin typeface="Aptos" panose="020B0004020202020204" pitchFamily="34" charset="0"/>
                  <a:cs typeface="Arial" panose="020B0604020202020204" pitchFamily="34" charset="0"/>
                </a:rPr>
                <a:t>We are developing a robotic arm system to </a:t>
              </a:r>
              <a:r>
                <a:rPr lang="en-US" sz="3000" b="1" dirty="0">
                  <a:solidFill>
                    <a:srgbClr val="002060"/>
                  </a:solidFill>
                  <a:latin typeface="Aptos" panose="020B0004020202020204" pitchFamily="34" charset="0"/>
                  <a:cs typeface="Arial" panose="020B0604020202020204" pitchFamily="34" charset="0"/>
                </a:rPr>
                <a:t>prepare, analyze, quantify, and upload </a:t>
              </a:r>
              <a:r>
                <a:rPr lang="en-US" sz="3000" dirty="0">
                  <a:solidFill>
                    <a:srgbClr val="002060"/>
                  </a:solidFill>
                  <a:latin typeface="Aptos" panose="020B0004020202020204" pitchFamily="34" charset="0"/>
                  <a:cs typeface="Arial" panose="020B0604020202020204" pitchFamily="34" charset="0"/>
                </a:rPr>
                <a:t>the data of a sample </a:t>
              </a:r>
              <a:r>
                <a:rPr lang="en-US" sz="3000" b="1" dirty="0">
                  <a:solidFill>
                    <a:srgbClr val="002060"/>
                  </a:solidFill>
                  <a:latin typeface="Aptos" panose="020B0004020202020204" pitchFamily="34" charset="0"/>
                  <a:cs typeface="Arial" panose="020B0604020202020204" pitchFamily="34" charset="0"/>
                </a:rPr>
                <a:t>within 15 minutes </a:t>
              </a:r>
              <a:r>
                <a:rPr lang="en-US" sz="3000" dirty="0">
                  <a:solidFill>
                    <a:srgbClr val="002060"/>
                  </a:solidFill>
                  <a:latin typeface="Aptos" panose="020B0004020202020204" pitchFamily="34" charset="0"/>
                  <a:cs typeface="Arial" panose="020B0604020202020204" pitchFamily="34" charset="0"/>
                </a:rPr>
                <a:t>to inform users, ultimately reducing overdose risk.</a:t>
              </a:r>
            </a:p>
          </p:txBody>
        </p:sp>
        <p:pic>
          <p:nvPicPr>
            <p:cNvPr id="51" name="Picture 50" descr="A black background with a black square&#10;&#10;Description automatically generated with medium confidence">
              <a:extLst>
                <a:ext uri="{FF2B5EF4-FFF2-40B4-BE49-F238E27FC236}">
                  <a16:creationId xmlns:a16="http://schemas.microsoft.com/office/drawing/2014/main" id="{4AF3B8A4-CAD4-D1E9-0538-EA2FB361AD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50278" y="29533122"/>
              <a:ext cx="3542785" cy="3542785"/>
            </a:xfrm>
            <a:prstGeom prst="rect">
              <a:avLst/>
            </a:prstGeom>
          </p:spPr>
        </p:pic>
        <p:grpSp>
          <p:nvGrpSpPr>
            <p:cNvPr id="63" name="Group 62">
              <a:extLst>
                <a:ext uri="{FF2B5EF4-FFF2-40B4-BE49-F238E27FC236}">
                  <a16:creationId xmlns:a16="http://schemas.microsoft.com/office/drawing/2014/main" id="{B0F36CF2-B2B1-0F41-29FD-BE3B953E4701}"/>
                </a:ext>
              </a:extLst>
            </p:cNvPr>
            <p:cNvGrpSpPr/>
            <p:nvPr/>
          </p:nvGrpSpPr>
          <p:grpSpPr>
            <a:xfrm>
              <a:off x="712600" y="29753632"/>
              <a:ext cx="6428131" cy="2882667"/>
              <a:chOff x="1851084" y="24685809"/>
              <a:chExt cx="7124673" cy="2570998"/>
            </a:xfrm>
          </p:grpSpPr>
          <p:sp>
            <p:nvSpPr>
              <p:cNvPr id="54" name="TextBox 53">
                <a:extLst>
                  <a:ext uri="{FF2B5EF4-FFF2-40B4-BE49-F238E27FC236}">
                    <a16:creationId xmlns:a16="http://schemas.microsoft.com/office/drawing/2014/main" id="{AF6FB1F1-4CEC-CFAB-26CB-CC3DDC38CBB1}"/>
                  </a:ext>
                </a:extLst>
              </p:cNvPr>
              <p:cNvSpPr txBox="1"/>
              <p:nvPr/>
            </p:nvSpPr>
            <p:spPr>
              <a:xfrm>
                <a:off x="1851084" y="25837126"/>
                <a:ext cx="6566405" cy="1419681"/>
              </a:xfrm>
              <a:prstGeom prst="rect">
                <a:avLst/>
              </a:prstGeom>
              <a:noFill/>
            </p:spPr>
            <p:txBody>
              <a:bodyPr wrap="square">
                <a:spAutoFit/>
              </a:bodyPr>
              <a:lstStyle/>
              <a:p>
                <a:pPr algn="r" defTabSz="552875"/>
                <a:r>
                  <a:rPr lang="en-US" sz="3248" dirty="0">
                    <a:solidFill>
                      <a:srgbClr val="002060"/>
                    </a:solidFill>
                    <a:latin typeface="Aptos" panose="020B0004020202020204" pitchFamily="34" charset="0"/>
                    <a:cs typeface="Arial" panose="020B0604020202020204" pitchFamily="34" charset="0"/>
                  </a:rPr>
                  <a:t>Scan the QR code </a:t>
                </a:r>
              </a:p>
              <a:p>
                <a:pPr algn="r" defTabSz="552875"/>
                <a:r>
                  <a:rPr lang="en-US" sz="3248" dirty="0">
                    <a:solidFill>
                      <a:srgbClr val="002060"/>
                    </a:solidFill>
                    <a:latin typeface="Aptos" panose="020B0004020202020204" pitchFamily="34" charset="0"/>
                    <a:cs typeface="Arial" panose="020B0604020202020204" pitchFamily="34" charset="0"/>
                  </a:rPr>
                  <a:t>for an annotated </a:t>
                </a:r>
              </a:p>
              <a:p>
                <a:pPr algn="r" defTabSz="552875"/>
                <a:r>
                  <a:rPr lang="en-US" sz="3248" dirty="0">
                    <a:solidFill>
                      <a:srgbClr val="002060"/>
                    </a:solidFill>
                    <a:latin typeface="Aptos" panose="020B0004020202020204" pitchFamily="34" charset="0"/>
                    <a:cs typeface="Arial" panose="020B0604020202020204" pitchFamily="34" charset="0"/>
                  </a:rPr>
                  <a:t>demonstration video</a:t>
                </a:r>
              </a:p>
            </p:txBody>
          </p:sp>
          <p:sp>
            <p:nvSpPr>
              <p:cNvPr id="56" name="Text Box 42">
                <a:extLst>
                  <a:ext uri="{FF2B5EF4-FFF2-40B4-BE49-F238E27FC236}">
                    <a16:creationId xmlns:a16="http://schemas.microsoft.com/office/drawing/2014/main" id="{3CF51CEA-7468-2B74-0436-DE0FE9C5637F}"/>
                  </a:ext>
                </a:extLst>
              </p:cNvPr>
              <p:cNvSpPr txBox="1">
                <a:spLocks noChangeArrowheads="1"/>
              </p:cNvSpPr>
              <p:nvPr/>
            </p:nvSpPr>
            <p:spPr bwMode="auto">
              <a:xfrm>
                <a:off x="3676087" y="24685809"/>
                <a:ext cx="5299670" cy="742994"/>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4872" b="1" dirty="0">
                    <a:solidFill>
                      <a:srgbClr val="002060"/>
                    </a:solidFill>
                    <a:latin typeface="Aptos" panose="020B0004020202020204" pitchFamily="34" charset="0"/>
                    <a:cs typeface="Arial" panose="020B0604020202020204" pitchFamily="34" charset="0"/>
                  </a:rPr>
                  <a:t>A Deeper Look</a:t>
                </a:r>
                <a:endParaRPr lang="en-US" sz="1624" dirty="0">
                  <a:solidFill>
                    <a:srgbClr val="002060"/>
                  </a:solidFill>
                  <a:latin typeface="Aptos" panose="020B0004020202020204" pitchFamily="34" charset="0"/>
                  <a:cs typeface="Arial" panose="020B0604020202020204" pitchFamily="34" charset="0"/>
                </a:endParaRPr>
              </a:p>
            </p:txBody>
          </p:sp>
          <p:cxnSp>
            <p:nvCxnSpPr>
              <p:cNvPr id="59" name="Straight Connector 58">
                <a:extLst>
                  <a:ext uri="{FF2B5EF4-FFF2-40B4-BE49-F238E27FC236}">
                    <a16:creationId xmlns:a16="http://schemas.microsoft.com/office/drawing/2014/main" id="{FCA700BF-B0F6-B9EE-0ED7-295865A236B5}"/>
                  </a:ext>
                </a:extLst>
              </p:cNvPr>
              <p:cNvCxnSpPr>
                <a:cxnSpLocks/>
              </p:cNvCxnSpPr>
              <p:nvPr/>
            </p:nvCxnSpPr>
            <p:spPr>
              <a:xfrm>
                <a:off x="6372813" y="25692038"/>
                <a:ext cx="187634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29" name="Group 328">
              <a:extLst>
                <a:ext uri="{FF2B5EF4-FFF2-40B4-BE49-F238E27FC236}">
                  <a16:creationId xmlns:a16="http://schemas.microsoft.com/office/drawing/2014/main" id="{3905A8C8-8284-49D0-BF79-435570D343DF}"/>
                </a:ext>
              </a:extLst>
            </p:cNvPr>
            <p:cNvGrpSpPr/>
            <p:nvPr/>
          </p:nvGrpSpPr>
          <p:grpSpPr>
            <a:xfrm>
              <a:off x="29895162" y="10414612"/>
              <a:ext cx="8526279" cy="3641210"/>
              <a:chOff x="33103848" y="7486892"/>
              <a:chExt cx="9255828" cy="4035761"/>
            </a:xfrm>
          </p:grpSpPr>
          <p:sp>
            <p:nvSpPr>
              <p:cNvPr id="66" name="TextBox 65">
                <a:extLst>
                  <a:ext uri="{FF2B5EF4-FFF2-40B4-BE49-F238E27FC236}">
                    <a16:creationId xmlns:a16="http://schemas.microsoft.com/office/drawing/2014/main" id="{8AA60A4F-C0CF-896B-9BB2-4115FACE273C}"/>
                  </a:ext>
                </a:extLst>
              </p:cNvPr>
              <p:cNvSpPr txBox="1"/>
              <p:nvPr/>
            </p:nvSpPr>
            <p:spPr>
              <a:xfrm>
                <a:off x="33103848" y="8360178"/>
                <a:ext cx="9255828" cy="3162475"/>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just"/>
                <a:r>
                  <a:rPr lang="en-US" sz="3000" dirty="0">
                    <a:solidFill>
                      <a:srgbClr val="1B3972"/>
                    </a:solidFill>
                    <a:latin typeface="Grandview"/>
                    <a:cs typeface="Microsoft New Tai Lue"/>
                  </a:rPr>
                  <a:t>All functions required for operation are coded in Python. Relevant code can be found on the Hein Lab GitHub. </a:t>
                </a:r>
              </a:p>
              <a:p>
                <a:pPr algn="just"/>
                <a:endParaRPr lang="en-US" sz="3000" dirty="0">
                  <a:solidFill>
                    <a:srgbClr val="1B3972"/>
                  </a:solidFill>
                  <a:latin typeface="Grandview"/>
                  <a:cs typeface="Microsoft New Tai Lue"/>
                </a:endParaRPr>
              </a:p>
              <a:p>
                <a:pPr algn="just"/>
                <a:br>
                  <a:rPr lang="en-US" sz="3000" dirty="0">
                    <a:solidFill>
                      <a:srgbClr val="1B3972"/>
                    </a:solidFill>
                    <a:latin typeface="Grandview"/>
                  </a:rPr>
                </a:br>
                <a:endParaRPr lang="en-US" sz="3000" dirty="0">
                  <a:solidFill>
                    <a:srgbClr val="1B3972"/>
                  </a:solidFill>
                  <a:latin typeface="Grandview"/>
                </a:endParaRPr>
              </a:p>
            </p:txBody>
          </p:sp>
          <p:sp>
            <p:nvSpPr>
              <p:cNvPr id="68" name="Text Box 42">
                <a:extLst>
                  <a:ext uri="{FF2B5EF4-FFF2-40B4-BE49-F238E27FC236}">
                    <a16:creationId xmlns:a16="http://schemas.microsoft.com/office/drawing/2014/main" id="{ACC24515-6ED5-40C1-A787-4B62D50BF5CC}"/>
                  </a:ext>
                </a:extLst>
              </p:cNvPr>
              <p:cNvSpPr txBox="1">
                <a:spLocks noChangeArrowheads="1"/>
              </p:cNvSpPr>
              <p:nvPr/>
            </p:nvSpPr>
            <p:spPr bwMode="auto">
              <a:xfrm>
                <a:off x="33108787" y="7486892"/>
                <a:ext cx="6566404" cy="923332"/>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4872" b="1" dirty="0">
                    <a:solidFill>
                      <a:srgbClr val="002060"/>
                    </a:solidFill>
                    <a:latin typeface="Aptos" panose="020B0004020202020204" pitchFamily="34" charset="0"/>
                    <a:cs typeface="Arial" panose="020B0604020202020204" pitchFamily="34" charset="0"/>
                  </a:rPr>
                  <a:t>Software</a:t>
                </a:r>
                <a:endParaRPr lang="en-US" sz="1624" dirty="0">
                  <a:solidFill>
                    <a:srgbClr val="002060"/>
                  </a:solidFill>
                  <a:latin typeface="Aptos" panose="020B0004020202020204" pitchFamily="34" charset="0"/>
                  <a:cs typeface="Arial" panose="020B0604020202020204" pitchFamily="34" charset="0"/>
                </a:endParaRPr>
              </a:p>
            </p:txBody>
          </p:sp>
        </p:grpSp>
        <p:grpSp>
          <p:nvGrpSpPr>
            <p:cNvPr id="75" name="Group 74">
              <a:extLst>
                <a:ext uri="{FF2B5EF4-FFF2-40B4-BE49-F238E27FC236}">
                  <a16:creationId xmlns:a16="http://schemas.microsoft.com/office/drawing/2014/main" id="{65D1FCE9-E87E-8E51-1E14-C5B7AB085504}"/>
                </a:ext>
              </a:extLst>
            </p:cNvPr>
            <p:cNvGrpSpPr/>
            <p:nvPr/>
          </p:nvGrpSpPr>
          <p:grpSpPr>
            <a:xfrm>
              <a:off x="29878223" y="13218631"/>
              <a:ext cx="8466521" cy="2352159"/>
              <a:chOff x="33199219" y="7772799"/>
              <a:chExt cx="9276800" cy="2607030"/>
            </a:xfrm>
          </p:grpSpPr>
          <p:sp>
            <p:nvSpPr>
              <p:cNvPr id="72" name="TextBox 71">
                <a:extLst>
                  <a:ext uri="{FF2B5EF4-FFF2-40B4-BE49-F238E27FC236}">
                    <a16:creationId xmlns:a16="http://schemas.microsoft.com/office/drawing/2014/main" id="{55D685BC-C95B-AFC4-D348-D3613C30FAB1}"/>
                  </a:ext>
                </a:extLst>
              </p:cNvPr>
              <p:cNvSpPr txBox="1"/>
              <p:nvPr/>
            </p:nvSpPr>
            <p:spPr>
              <a:xfrm>
                <a:off x="33220191" y="8752426"/>
                <a:ext cx="9255828" cy="1627403"/>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just"/>
                <a:r>
                  <a:rPr lang="en-US" sz="3000" dirty="0">
                    <a:solidFill>
                      <a:srgbClr val="002060"/>
                    </a:solidFill>
                    <a:latin typeface="Aptos" panose="020B0004020202020204" pitchFamily="34" charset="0"/>
                    <a:cs typeface="Arial" panose="020B0604020202020204" pitchFamily="34" charset="0"/>
                  </a:rPr>
                  <a:t>Calibration curves were autonomously generated by the robot. Shown below are the curves for caffeine and acetaminophen. </a:t>
                </a:r>
              </a:p>
            </p:txBody>
          </p:sp>
          <p:sp>
            <p:nvSpPr>
              <p:cNvPr id="73" name="Text Box 42">
                <a:extLst>
                  <a:ext uri="{FF2B5EF4-FFF2-40B4-BE49-F238E27FC236}">
                    <a16:creationId xmlns:a16="http://schemas.microsoft.com/office/drawing/2014/main" id="{792C199E-6DFE-FF51-46B4-477FD19A9571}"/>
                  </a:ext>
                </a:extLst>
              </p:cNvPr>
              <p:cNvSpPr txBox="1">
                <a:spLocks noChangeArrowheads="1"/>
              </p:cNvSpPr>
              <p:nvPr/>
            </p:nvSpPr>
            <p:spPr bwMode="auto">
              <a:xfrm>
                <a:off x="33199219" y="7772799"/>
                <a:ext cx="6566404" cy="923331"/>
              </a:xfrm>
              <a:prstGeom prst="rect">
                <a:avLst/>
              </a:prstGeom>
              <a:noFill/>
              <a:ln w="9525">
                <a:noFill/>
                <a:miter lim="800000"/>
                <a:headEnd/>
                <a:tailEnd/>
              </a:ln>
              <a:effectLst/>
            </p:spPr>
            <p:txBody>
              <a:bodyPr wrap="square" lIns="82500" tIns="41250" rIns="82500" bIns="41250" anchor="t">
                <a:spAutoFit/>
              </a:bodyPr>
              <a:lstStyle/>
              <a:p>
                <a:pPr algn="just" defTabSz="3960365">
                  <a:spcBef>
                    <a:spcPct val="50000"/>
                  </a:spcBef>
                </a:pPr>
                <a:r>
                  <a:rPr lang="en-US" sz="4872" b="1" dirty="0">
                    <a:solidFill>
                      <a:srgbClr val="002060"/>
                    </a:solidFill>
                    <a:latin typeface="Aptos" panose="020B0004020202020204" pitchFamily="34" charset="0"/>
                    <a:cs typeface="Arial" panose="020B0604020202020204" pitchFamily="34" charset="0"/>
                  </a:rPr>
                  <a:t>Design Verification</a:t>
                </a:r>
                <a:endParaRPr lang="en-US" sz="1624" dirty="0">
                  <a:solidFill>
                    <a:srgbClr val="002060"/>
                  </a:solidFill>
                  <a:latin typeface="Aptos" panose="020B0004020202020204" pitchFamily="34" charset="0"/>
                  <a:cs typeface="Arial" panose="020B0604020202020204" pitchFamily="34" charset="0"/>
                </a:endParaRPr>
              </a:p>
            </p:txBody>
          </p:sp>
        </p:grpSp>
        <p:grpSp>
          <p:nvGrpSpPr>
            <p:cNvPr id="78" name="Group 77">
              <a:extLst>
                <a:ext uri="{FF2B5EF4-FFF2-40B4-BE49-F238E27FC236}">
                  <a16:creationId xmlns:a16="http://schemas.microsoft.com/office/drawing/2014/main" id="{71C4695E-05A8-32FE-0DB8-CE18D58EB8D2}"/>
                </a:ext>
              </a:extLst>
            </p:cNvPr>
            <p:cNvGrpSpPr/>
            <p:nvPr/>
          </p:nvGrpSpPr>
          <p:grpSpPr>
            <a:xfrm>
              <a:off x="30092345" y="16301609"/>
              <a:ext cx="8350934" cy="4866489"/>
              <a:chOff x="32779367" y="13987623"/>
              <a:chExt cx="9255828" cy="5393814"/>
            </a:xfrm>
          </p:grpSpPr>
          <p:graphicFrame>
            <p:nvGraphicFramePr>
              <p:cNvPr id="28" name="Chart 27">
                <a:extLst>
                  <a:ext uri="{FF2B5EF4-FFF2-40B4-BE49-F238E27FC236}">
                    <a16:creationId xmlns:a16="http://schemas.microsoft.com/office/drawing/2014/main" id="{FE2F191B-1CC8-4079-4E5F-D6ABD273DCF7}"/>
                  </a:ext>
                </a:extLst>
              </p:cNvPr>
              <p:cNvGraphicFramePr>
                <a:graphicFrameLocks/>
              </p:cNvGraphicFramePr>
              <p:nvPr/>
            </p:nvGraphicFramePr>
            <p:xfrm>
              <a:off x="32779367" y="13987623"/>
              <a:ext cx="9255828" cy="5393814"/>
            </p:xfrm>
            <a:graphic>
              <a:graphicData uri="http://schemas.openxmlformats.org/drawingml/2006/chart">
                <c:chart xmlns:c="http://schemas.openxmlformats.org/drawingml/2006/chart" xmlns:r="http://schemas.openxmlformats.org/officeDocument/2006/relationships" r:id="rId7"/>
              </a:graphicData>
            </a:graphic>
          </p:graphicFrame>
          <p:sp>
            <p:nvSpPr>
              <p:cNvPr id="76" name="Text Box 11">
                <a:extLst>
                  <a:ext uri="{FF2B5EF4-FFF2-40B4-BE49-F238E27FC236}">
                    <a16:creationId xmlns:a16="http://schemas.microsoft.com/office/drawing/2014/main" id="{799D7083-95A0-66CF-675F-DEA72231D9C9}"/>
                  </a:ext>
                </a:extLst>
              </p:cNvPr>
              <p:cNvSpPr txBox="1">
                <a:spLocks noChangeArrowheads="1"/>
              </p:cNvSpPr>
              <p:nvPr/>
            </p:nvSpPr>
            <p:spPr bwMode="auto">
              <a:xfrm>
                <a:off x="34045833" y="14157276"/>
                <a:ext cx="5632338" cy="554063"/>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2707" b="1" i="1" dirty="0">
                    <a:solidFill>
                      <a:srgbClr val="002060"/>
                    </a:solidFill>
                    <a:latin typeface="Aptos" panose="020B0004020202020204" pitchFamily="34" charset="0"/>
                    <a:cs typeface="Arial" panose="020B0604020202020204" pitchFamily="34" charset="0"/>
                  </a:rPr>
                  <a:t>Caffeine calibration curve</a:t>
                </a:r>
              </a:p>
            </p:txBody>
          </p:sp>
        </p:grpSp>
        <p:cxnSp>
          <p:nvCxnSpPr>
            <p:cNvPr id="79" name="Straight Connector 78">
              <a:extLst>
                <a:ext uri="{FF2B5EF4-FFF2-40B4-BE49-F238E27FC236}">
                  <a16:creationId xmlns:a16="http://schemas.microsoft.com/office/drawing/2014/main" id="{26262269-5DA4-99E7-389A-BA2392044264}"/>
                </a:ext>
              </a:extLst>
            </p:cNvPr>
            <p:cNvCxnSpPr>
              <a:cxnSpLocks/>
            </p:cNvCxnSpPr>
            <p:nvPr/>
          </p:nvCxnSpPr>
          <p:spPr>
            <a:xfrm>
              <a:off x="30005485" y="16124384"/>
              <a:ext cx="1692907"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901899BF-E526-FFC3-AC9D-4E14C89AA2B1}"/>
                </a:ext>
              </a:extLst>
            </p:cNvPr>
            <p:cNvGrpSpPr/>
            <p:nvPr/>
          </p:nvGrpSpPr>
          <p:grpSpPr>
            <a:xfrm>
              <a:off x="30054387" y="21249246"/>
              <a:ext cx="8350934" cy="5554571"/>
              <a:chOff x="33161241" y="19578415"/>
              <a:chExt cx="9255828" cy="6156455"/>
            </a:xfrm>
          </p:grpSpPr>
          <p:graphicFrame>
            <p:nvGraphicFramePr>
              <p:cNvPr id="80" name="Chart 79">
                <a:extLst>
                  <a:ext uri="{FF2B5EF4-FFF2-40B4-BE49-F238E27FC236}">
                    <a16:creationId xmlns:a16="http://schemas.microsoft.com/office/drawing/2014/main" id="{76A4010F-3775-5A6E-723F-E080EDA7BFE7}"/>
                  </a:ext>
                </a:extLst>
              </p:cNvPr>
              <p:cNvGraphicFramePr>
                <a:graphicFrameLocks/>
              </p:cNvGraphicFramePr>
              <p:nvPr/>
            </p:nvGraphicFramePr>
            <p:xfrm>
              <a:off x="33161241" y="19578415"/>
              <a:ext cx="9255828" cy="6156455"/>
            </p:xfrm>
            <a:graphic>
              <a:graphicData uri="http://schemas.openxmlformats.org/drawingml/2006/chart">
                <c:chart xmlns:c="http://schemas.openxmlformats.org/drawingml/2006/chart" xmlns:r="http://schemas.openxmlformats.org/officeDocument/2006/relationships" r:id="rId8"/>
              </a:graphicData>
            </a:graphic>
          </p:graphicFrame>
          <p:sp>
            <p:nvSpPr>
              <p:cNvPr id="81" name="Text Box 11">
                <a:extLst>
                  <a:ext uri="{FF2B5EF4-FFF2-40B4-BE49-F238E27FC236}">
                    <a16:creationId xmlns:a16="http://schemas.microsoft.com/office/drawing/2014/main" id="{F9B1F1D1-F8C2-2D29-58AD-A4CF63667747}"/>
                  </a:ext>
                </a:extLst>
              </p:cNvPr>
              <p:cNvSpPr txBox="1">
                <a:spLocks noChangeArrowheads="1"/>
              </p:cNvSpPr>
              <p:nvPr/>
            </p:nvSpPr>
            <p:spPr bwMode="auto">
              <a:xfrm>
                <a:off x="34581577" y="20249183"/>
                <a:ext cx="6163198" cy="554063"/>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2707" b="1" i="1" dirty="0">
                    <a:solidFill>
                      <a:srgbClr val="002060"/>
                    </a:solidFill>
                    <a:latin typeface="Aptos" panose="020B0004020202020204" pitchFamily="34" charset="0"/>
                    <a:cs typeface="Arial" panose="020B0604020202020204" pitchFamily="34" charset="0"/>
                  </a:rPr>
                  <a:t>Acetaminophen calibration curve</a:t>
                </a:r>
              </a:p>
            </p:txBody>
          </p:sp>
        </p:grpSp>
        <p:grpSp>
          <p:nvGrpSpPr>
            <p:cNvPr id="84" name="Group 83">
              <a:extLst>
                <a:ext uri="{FF2B5EF4-FFF2-40B4-BE49-F238E27FC236}">
                  <a16:creationId xmlns:a16="http://schemas.microsoft.com/office/drawing/2014/main" id="{D7924D1F-34B7-4261-0AFF-52B6F32B10A9}"/>
                </a:ext>
              </a:extLst>
            </p:cNvPr>
            <p:cNvGrpSpPr/>
            <p:nvPr/>
          </p:nvGrpSpPr>
          <p:grpSpPr>
            <a:xfrm>
              <a:off x="30009582" y="27692890"/>
              <a:ext cx="8447381" cy="5724877"/>
              <a:chOff x="32616886" y="7114032"/>
              <a:chExt cx="9859134" cy="6345216"/>
            </a:xfrm>
          </p:grpSpPr>
          <p:sp>
            <p:nvSpPr>
              <p:cNvPr id="85" name="TextBox 84">
                <a:extLst>
                  <a:ext uri="{FF2B5EF4-FFF2-40B4-BE49-F238E27FC236}">
                    <a16:creationId xmlns:a16="http://schemas.microsoft.com/office/drawing/2014/main" id="{345310B4-0A77-5561-2D04-AECCD2C2479D}"/>
                  </a:ext>
                </a:extLst>
              </p:cNvPr>
              <p:cNvSpPr txBox="1"/>
              <p:nvPr/>
            </p:nvSpPr>
            <p:spPr>
              <a:xfrm>
                <a:off x="32616886" y="8093664"/>
                <a:ext cx="9859134" cy="5365584"/>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just">
                  <a:spcAft>
                    <a:spcPts val="1083"/>
                  </a:spcAft>
                </a:pPr>
                <a:r>
                  <a:rPr lang="en-US" sz="3000" dirty="0">
                    <a:solidFill>
                      <a:srgbClr val="002060"/>
                    </a:solidFill>
                    <a:latin typeface="Aptos" panose="020B0004020202020204" pitchFamily="34" charset="0"/>
                    <a:cs typeface="Arial" panose="020B0604020202020204" pitchFamily="34" charset="0"/>
                  </a:rPr>
                  <a:t>In the next phase of our project, we will expand our analytical library to include a wider range of substances, including methamphetamine, heroin, cocaine, and fentanyl. </a:t>
                </a:r>
              </a:p>
              <a:p>
                <a:pPr algn="just"/>
                <a:r>
                  <a:rPr lang="en-US" sz="3000" dirty="0">
                    <a:solidFill>
                      <a:srgbClr val="002060"/>
                    </a:solidFill>
                    <a:latin typeface="Aptos" panose="020B0004020202020204" pitchFamily="34" charset="0"/>
                    <a:cs typeface="Arial" panose="020B0604020202020204" pitchFamily="34" charset="0"/>
                  </a:rPr>
                  <a:t>Additionally, we will develop a program to automatically upload results to our website where individuals can access their analysis data by entering their vial ID. This feature will provide timely and accurate information, further enhancing the safety and awareness of drug users.</a:t>
                </a:r>
              </a:p>
            </p:txBody>
          </p:sp>
          <p:sp>
            <p:nvSpPr>
              <p:cNvPr id="86" name="Text Box 42">
                <a:extLst>
                  <a:ext uri="{FF2B5EF4-FFF2-40B4-BE49-F238E27FC236}">
                    <a16:creationId xmlns:a16="http://schemas.microsoft.com/office/drawing/2014/main" id="{2FE54DF9-CE8F-F499-39A1-7CB738BA63A3}"/>
                  </a:ext>
                </a:extLst>
              </p:cNvPr>
              <p:cNvSpPr txBox="1">
                <a:spLocks noChangeArrowheads="1"/>
              </p:cNvSpPr>
              <p:nvPr/>
            </p:nvSpPr>
            <p:spPr bwMode="auto">
              <a:xfrm>
                <a:off x="32616887" y="7114032"/>
                <a:ext cx="7148737" cy="923332"/>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4872" b="1" dirty="0">
                    <a:solidFill>
                      <a:srgbClr val="002060"/>
                    </a:solidFill>
                    <a:latin typeface="Aptos" panose="020B0004020202020204" pitchFamily="34" charset="0"/>
                    <a:cs typeface="Arial" panose="020B0604020202020204" pitchFamily="34" charset="0"/>
                  </a:rPr>
                  <a:t>Future Work</a:t>
                </a:r>
                <a:endParaRPr lang="en-US" sz="1624" dirty="0">
                  <a:solidFill>
                    <a:srgbClr val="002060"/>
                  </a:solidFill>
                  <a:latin typeface="Aptos" panose="020B0004020202020204" pitchFamily="34" charset="0"/>
                  <a:cs typeface="Arial" panose="020B0604020202020204" pitchFamily="34" charset="0"/>
                </a:endParaRPr>
              </a:p>
            </p:txBody>
          </p:sp>
        </p:grpSp>
        <p:sp>
          <p:nvSpPr>
            <p:cNvPr id="117" name="Oval 116">
              <a:extLst>
                <a:ext uri="{FF2B5EF4-FFF2-40B4-BE49-F238E27FC236}">
                  <a16:creationId xmlns:a16="http://schemas.microsoft.com/office/drawing/2014/main" id="{CE4382FF-2855-F9C3-14FA-0127283CEF08}"/>
                </a:ext>
              </a:extLst>
            </p:cNvPr>
            <p:cNvSpPr>
              <a:spLocks noChangeAspect="1"/>
            </p:cNvSpPr>
            <p:nvPr/>
          </p:nvSpPr>
          <p:spPr>
            <a:xfrm>
              <a:off x="13882164" y="18719649"/>
              <a:ext cx="265397" cy="26539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grpSp>
          <p:nvGrpSpPr>
            <p:cNvPr id="198" name="Group 197">
              <a:extLst>
                <a:ext uri="{FF2B5EF4-FFF2-40B4-BE49-F238E27FC236}">
                  <a16:creationId xmlns:a16="http://schemas.microsoft.com/office/drawing/2014/main" id="{F161E0E8-9BC3-15BF-540D-A37748E0177B}"/>
                </a:ext>
              </a:extLst>
            </p:cNvPr>
            <p:cNvGrpSpPr/>
            <p:nvPr/>
          </p:nvGrpSpPr>
          <p:grpSpPr>
            <a:xfrm>
              <a:off x="10827158" y="10584637"/>
              <a:ext cx="6357214" cy="4180101"/>
              <a:chOff x="12423217" y="7386598"/>
              <a:chExt cx="7046071" cy="4633050"/>
            </a:xfrm>
          </p:grpSpPr>
          <p:sp>
            <p:nvSpPr>
              <p:cNvPr id="131" name="Freeform 130">
                <a:extLst>
                  <a:ext uri="{FF2B5EF4-FFF2-40B4-BE49-F238E27FC236}">
                    <a16:creationId xmlns:a16="http://schemas.microsoft.com/office/drawing/2014/main" id="{CEC5A45C-1CE5-DCEB-087E-A5BA160E2201}"/>
                  </a:ext>
                </a:extLst>
              </p:cNvPr>
              <p:cNvSpPr/>
              <p:nvPr/>
            </p:nvSpPr>
            <p:spPr>
              <a:xfrm>
                <a:off x="12423217" y="7386598"/>
                <a:ext cx="7046071" cy="4633050"/>
              </a:xfrm>
              <a:custGeom>
                <a:avLst/>
                <a:gdLst>
                  <a:gd name="connsiteX0" fmla="*/ 443710 w 7046071"/>
                  <a:gd name="connsiteY0" fmla="*/ 0 h 4633050"/>
                  <a:gd name="connsiteX1" fmla="*/ 3285262 w 7046071"/>
                  <a:gd name="connsiteY1" fmla="*/ 0 h 4633050"/>
                  <a:gd name="connsiteX2" fmla="*/ 3728972 w 7046071"/>
                  <a:gd name="connsiteY2" fmla="*/ 443710 h 4633050"/>
                  <a:gd name="connsiteX3" fmla="*/ 3728972 w 7046071"/>
                  <a:gd name="connsiteY3" fmla="*/ 2766836 h 4633050"/>
                  <a:gd name="connsiteX4" fmla="*/ 6681213 w 7046071"/>
                  <a:gd name="connsiteY4" fmla="*/ 2766836 h 4633050"/>
                  <a:gd name="connsiteX5" fmla="*/ 7046071 w 7046071"/>
                  <a:gd name="connsiteY5" fmla="*/ 3131693 h 4633050"/>
                  <a:gd name="connsiteX6" fmla="*/ 7046071 w 7046071"/>
                  <a:gd name="connsiteY6" fmla="*/ 3859891 h 4633050"/>
                  <a:gd name="connsiteX7" fmla="*/ 6681213 w 7046071"/>
                  <a:gd name="connsiteY7" fmla="*/ 4224748 h 4633050"/>
                  <a:gd name="connsiteX8" fmla="*/ 3725403 w 7046071"/>
                  <a:gd name="connsiteY8" fmla="*/ 4224748 h 4633050"/>
                  <a:gd name="connsiteX9" fmla="*/ 3719957 w 7046071"/>
                  <a:gd name="connsiteY9" fmla="*/ 4278763 h 4633050"/>
                  <a:gd name="connsiteX10" fmla="*/ 3285262 w 7046071"/>
                  <a:gd name="connsiteY10" fmla="*/ 4633050 h 4633050"/>
                  <a:gd name="connsiteX11" fmla="*/ 443710 w 7046071"/>
                  <a:gd name="connsiteY11" fmla="*/ 4633050 h 4633050"/>
                  <a:gd name="connsiteX12" fmla="*/ 0 w 7046071"/>
                  <a:gd name="connsiteY12" fmla="*/ 4189340 h 4633050"/>
                  <a:gd name="connsiteX13" fmla="*/ 0 w 7046071"/>
                  <a:gd name="connsiteY13" fmla="*/ 443710 h 4633050"/>
                  <a:gd name="connsiteX14" fmla="*/ 443710 w 7046071"/>
                  <a:gd name="connsiteY14" fmla="*/ 0 h 463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46071" h="4633050">
                    <a:moveTo>
                      <a:pt x="443710" y="0"/>
                    </a:moveTo>
                    <a:lnTo>
                      <a:pt x="3285262" y="0"/>
                    </a:lnTo>
                    <a:cubicBezTo>
                      <a:pt x="3530316" y="0"/>
                      <a:pt x="3728972" y="198656"/>
                      <a:pt x="3728972" y="443710"/>
                    </a:cubicBezTo>
                    <a:lnTo>
                      <a:pt x="3728972" y="2766836"/>
                    </a:lnTo>
                    <a:lnTo>
                      <a:pt x="6681213" y="2766836"/>
                    </a:lnTo>
                    <a:cubicBezTo>
                      <a:pt x="6882719" y="2766836"/>
                      <a:pt x="7046071" y="2930188"/>
                      <a:pt x="7046071" y="3131693"/>
                    </a:cubicBezTo>
                    <a:lnTo>
                      <a:pt x="7046071" y="3859891"/>
                    </a:lnTo>
                    <a:cubicBezTo>
                      <a:pt x="7046071" y="4061396"/>
                      <a:pt x="6882719" y="4224748"/>
                      <a:pt x="6681213" y="4224748"/>
                    </a:cubicBezTo>
                    <a:lnTo>
                      <a:pt x="3725403" y="4224748"/>
                    </a:lnTo>
                    <a:lnTo>
                      <a:pt x="3719957" y="4278763"/>
                    </a:lnTo>
                    <a:cubicBezTo>
                      <a:pt x="3678583" y="4480954"/>
                      <a:pt x="3499684" y="4633050"/>
                      <a:pt x="3285262" y="4633050"/>
                    </a:cubicBezTo>
                    <a:lnTo>
                      <a:pt x="443710" y="4633050"/>
                    </a:lnTo>
                    <a:cubicBezTo>
                      <a:pt x="198656" y="4633050"/>
                      <a:pt x="0" y="4434394"/>
                      <a:pt x="0" y="4189340"/>
                    </a:cubicBezTo>
                    <a:lnTo>
                      <a:pt x="0" y="443710"/>
                    </a:lnTo>
                    <a:cubicBezTo>
                      <a:pt x="0" y="198656"/>
                      <a:pt x="198656" y="0"/>
                      <a:pt x="443710" y="0"/>
                    </a:cubicBezTo>
                    <a:close/>
                  </a:path>
                </a:pathLst>
              </a:cu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24"/>
              </a:p>
            </p:txBody>
          </p:sp>
          <p:pic>
            <p:nvPicPr>
              <p:cNvPr id="91" name="Picture 4" descr="UR3e Ultra-lightweight, compact cobot">
                <a:extLst>
                  <a:ext uri="{FF2B5EF4-FFF2-40B4-BE49-F238E27FC236}">
                    <a16:creationId xmlns:a16="http://schemas.microsoft.com/office/drawing/2014/main" id="{78521268-46DD-791F-6CF7-6572E7662D6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59201" y="7512320"/>
                <a:ext cx="3267075" cy="4352925"/>
              </a:xfrm>
              <a:prstGeom prst="rect">
                <a:avLst/>
              </a:prstGeom>
              <a:noFill/>
              <a:extLst>
                <a:ext uri="{909E8E84-426E-40DD-AFC4-6F175D3DCCD1}">
                  <a14:hiddenFill xmlns:a14="http://schemas.microsoft.com/office/drawing/2010/main">
                    <a:solidFill>
                      <a:srgbClr val="FFFFFF"/>
                    </a:solidFill>
                  </a14:hiddenFill>
                </a:ext>
              </a:extLst>
            </p:spPr>
          </p:pic>
          <p:sp>
            <p:nvSpPr>
              <p:cNvPr id="112" name="TextBox 111">
                <a:extLst>
                  <a:ext uri="{FF2B5EF4-FFF2-40B4-BE49-F238E27FC236}">
                    <a16:creationId xmlns:a16="http://schemas.microsoft.com/office/drawing/2014/main" id="{2B975BD4-172C-820B-0D4E-8EFA62CC0BCF}"/>
                  </a:ext>
                </a:extLst>
              </p:cNvPr>
              <p:cNvSpPr txBox="1"/>
              <p:nvPr/>
            </p:nvSpPr>
            <p:spPr>
              <a:xfrm>
                <a:off x="16179035" y="10319474"/>
                <a:ext cx="3290253"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UR3e robot </a:t>
                </a:r>
                <a:r>
                  <a:rPr lang="en-US" sz="1985" i="1" dirty="0">
                    <a:solidFill>
                      <a:srgbClr val="002060"/>
                    </a:solidFill>
                    <a:latin typeface="Aptos" panose="020B0004020202020204" pitchFamily="34" charset="0"/>
                    <a:cs typeface="Arial" panose="020B0604020202020204" pitchFamily="34" charset="0"/>
                  </a:rPr>
                  <a:t>with grippers to operate vial transfers between components</a:t>
                </a:r>
              </a:p>
            </p:txBody>
          </p:sp>
          <p:cxnSp>
            <p:nvCxnSpPr>
              <p:cNvPr id="132" name="Straight Connector 131">
                <a:extLst>
                  <a:ext uri="{FF2B5EF4-FFF2-40B4-BE49-F238E27FC236}">
                    <a16:creationId xmlns:a16="http://schemas.microsoft.com/office/drawing/2014/main" id="{BA42EE33-E241-5D2C-7A56-5FA1A73E3C74}"/>
                  </a:ext>
                </a:extLst>
              </p:cNvPr>
              <p:cNvCxnSpPr>
                <a:cxnSpLocks/>
              </p:cNvCxnSpPr>
              <p:nvPr/>
            </p:nvCxnSpPr>
            <p:spPr>
              <a:xfrm>
                <a:off x="16065186" y="10461934"/>
                <a:ext cx="0" cy="866004"/>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3E2B01D8-2473-D979-87E9-1C4C9EC5B110}"/>
                </a:ext>
              </a:extLst>
            </p:cNvPr>
            <p:cNvGrpSpPr/>
            <p:nvPr/>
          </p:nvGrpSpPr>
          <p:grpSpPr>
            <a:xfrm>
              <a:off x="17510997" y="10593103"/>
              <a:ext cx="4428267" cy="4233129"/>
              <a:chOff x="20668096" y="7548848"/>
              <a:chExt cx="5660616" cy="5411173"/>
            </a:xfrm>
          </p:grpSpPr>
          <p:sp>
            <p:nvSpPr>
              <p:cNvPr id="136" name="Freeform 135">
                <a:extLst>
                  <a:ext uri="{FF2B5EF4-FFF2-40B4-BE49-F238E27FC236}">
                    <a16:creationId xmlns:a16="http://schemas.microsoft.com/office/drawing/2014/main" id="{EF865704-D327-8A72-8CA6-73E2E4EE7231}"/>
                  </a:ext>
                </a:extLst>
              </p:cNvPr>
              <p:cNvSpPr/>
              <p:nvPr/>
            </p:nvSpPr>
            <p:spPr>
              <a:xfrm>
                <a:off x="20668096" y="7548848"/>
                <a:ext cx="5660616" cy="5411173"/>
              </a:xfrm>
              <a:custGeom>
                <a:avLst/>
                <a:gdLst>
                  <a:gd name="connsiteX0" fmla="*/ 596400 w 5660616"/>
                  <a:gd name="connsiteY0" fmla="*/ 0 h 5830316"/>
                  <a:gd name="connsiteX1" fmla="*/ 5064216 w 5660616"/>
                  <a:gd name="connsiteY1" fmla="*/ 0 h 5830316"/>
                  <a:gd name="connsiteX2" fmla="*/ 5660616 w 5660616"/>
                  <a:gd name="connsiteY2" fmla="*/ 596398 h 5830316"/>
                  <a:gd name="connsiteX3" fmla="*/ 5660616 w 5660616"/>
                  <a:gd name="connsiteY3" fmla="*/ 4002597 h 5830316"/>
                  <a:gd name="connsiteX4" fmla="*/ 5064216 w 5660616"/>
                  <a:gd name="connsiteY4" fmla="*/ 4598995 h 5830316"/>
                  <a:gd name="connsiteX5" fmla="*/ 4559594 w 5660616"/>
                  <a:gd name="connsiteY5" fmla="*/ 4598995 h 5830316"/>
                  <a:gd name="connsiteX6" fmla="*/ 4559594 w 5660616"/>
                  <a:gd name="connsiteY6" fmla="*/ 5425815 h 5830316"/>
                  <a:gd name="connsiteX7" fmla="*/ 4155092 w 5660616"/>
                  <a:gd name="connsiteY7" fmla="*/ 5830316 h 5830316"/>
                  <a:gd name="connsiteX8" fmla="*/ 622116 w 5660616"/>
                  <a:gd name="connsiteY8" fmla="*/ 5830316 h 5830316"/>
                  <a:gd name="connsiteX9" fmla="*/ 217614 w 5660616"/>
                  <a:gd name="connsiteY9" fmla="*/ 5425815 h 5830316"/>
                  <a:gd name="connsiteX10" fmla="*/ 217614 w 5660616"/>
                  <a:gd name="connsiteY10" fmla="*/ 4459737 h 5830316"/>
                  <a:gd name="connsiteX11" fmla="*/ 174682 w 5660616"/>
                  <a:gd name="connsiteY11" fmla="*/ 4424314 h 5830316"/>
                  <a:gd name="connsiteX12" fmla="*/ 0 w 5660616"/>
                  <a:gd name="connsiteY12" fmla="*/ 4002597 h 5830316"/>
                  <a:gd name="connsiteX13" fmla="*/ 0 w 5660616"/>
                  <a:gd name="connsiteY13" fmla="*/ 596398 h 5830316"/>
                  <a:gd name="connsiteX14" fmla="*/ 596400 w 5660616"/>
                  <a:gd name="connsiteY14" fmla="*/ 0 h 583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60616" h="5830316">
                    <a:moveTo>
                      <a:pt x="596400" y="0"/>
                    </a:moveTo>
                    <a:lnTo>
                      <a:pt x="5064216" y="0"/>
                    </a:lnTo>
                    <a:cubicBezTo>
                      <a:pt x="5393600" y="0"/>
                      <a:pt x="5660616" y="267016"/>
                      <a:pt x="5660616" y="596398"/>
                    </a:cubicBezTo>
                    <a:lnTo>
                      <a:pt x="5660616" y="4002597"/>
                    </a:lnTo>
                    <a:cubicBezTo>
                      <a:pt x="5660616" y="4331979"/>
                      <a:pt x="5393600" y="4598995"/>
                      <a:pt x="5064216" y="4598995"/>
                    </a:cubicBezTo>
                    <a:lnTo>
                      <a:pt x="4559594" y="4598995"/>
                    </a:lnTo>
                    <a:lnTo>
                      <a:pt x="4559594" y="5425815"/>
                    </a:lnTo>
                    <a:cubicBezTo>
                      <a:pt x="4559594" y="5649215"/>
                      <a:pt x="4378492" y="5830316"/>
                      <a:pt x="4155092" y="5830316"/>
                    </a:cubicBezTo>
                    <a:lnTo>
                      <a:pt x="622116" y="5830316"/>
                    </a:lnTo>
                    <a:cubicBezTo>
                      <a:pt x="398716" y="5830316"/>
                      <a:pt x="217614" y="5649215"/>
                      <a:pt x="217614" y="5425815"/>
                    </a:cubicBezTo>
                    <a:lnTo>
                      <a:pt x="217614" y="4459737"/>
                    </a:lnTo>
                    <a:lnTo>
                      <a:pt x="174682" y="4424314"/>
                    </a:lnTo>
                    <a:cubicBezTo>
                      <a:pt x="66754" y="4316387"/>
                      <a:pt x="0" y="4167288"/>
                      <a:pt x="0" y="4002597"/>
                    </a:cubicBezTo>
                    <a:lnTo>
                      <a:pt x="0" y="596398"/>
                    </a:lnTo>
                    <a:cubicBezTo>
                      <a:pt x="0" y="267016"/>
                      <a:pt x="267016" y="0"/>
                      <a:pt x="596400" y="0"/>
                    </a:cubicBezTo>
                    <a:close/>
                  </a:path>
                </a:pathLst>
              </a:cu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24" dirty="0"/>
              </a:p>
            </p:txBody>
          </p:sp>
          <p:sp>
            <p:nvSpPr>
              <p:cNvPr id="126" name="TextBox 125">
                <a:extLst>
                  <a:ext uri="{FF2B5EF4-FFF2-40B4-BE49-F238E27FC236}">
                    <a16:creationId xmlns:a16="http://schemas.microsoft.com/office/drawing/2014/main" id="{2518549B-FEA3-A727-E941-FB40C8D912DC}"/>
                  </a:ext>
                </a:extLst>
              </p:cNvPr>
              <p:cNvSpPr txBox="1"/>
              <p:nvPr/>
            </p:nvSpPr>
            <p:spPr>
              <a:xfrm>
                <a:off x="21287785" y="11900142"/>
                <a:ext cx="3943611" cy="887444"/>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i="1" dirty="0">
                    <a:solidFill>
                      <a:srgbClr val="002060"/>
                    </a:solidFill>
                    <a:latin typeface="Aptos" panose="020B0004020202020204" pitchFamily="34" charset="0"/>
                    <a:cs typeface="Arial" panose="020B0604020202020204" pitchFamily="34" charset="0"/>
                  </a:rPr>
                  <a:t>3/8” aluminum </a:t>
                </a:r>
                <a:r>
                  <a:rPr lang="en-US" sz="1985" b="1" i="1" dirty="0">
                    <a:solidFill>
                      <a:srgbClr val="002060"/>
                    </a:solidFill>
                    <a:latin typeface="Aptos" panose="020B0004020202020204" pitchFamily="34" charset="0"/>
                    <a:cs typeface="Arial" panose="020B0604020202020204" pitchFamily="34" charset="0"/>
                  </a:rPr>
                  <a:t>platform </a:t>
                </a:r>
                <a:r>
                  <a:rPr lang="en-US" sz="1985" i="1" dirty="0">
                    <a:solidFill>
                      <a:srgbClr val="002060"/>
                    </a:solidFill>
                    <a:latin typeface="Aptos" panose="020B0004020202020204" pitchFamily="34" charset="0"/>
                    <a:cs typeface="Arial" panose="020B0604020202020204" pitchFamily="34" charset="0"/>
                  </a:rPr>
                  <a:t>with machined M4 holes</a:t>
                </a:r>
                <a:endParaRPr lang="en-US" sz="1985" b="1" i="1" dirty="0">
                  <a:solidFill>
                    <a:srgbClr val="002060"/>
                  </a:solidFill>
                  <a:latin typeface="Aptos" panose="020B0004020202020204" pitchFamily="34" charset="0"/>
                  <a:cs typeface="Arial" panose="020B0604020202020204" pitchFamily="34" charset="0"/>
                </a:endParaRPr>
              </a:p>
            </p:txBody>
          </p:sp>
          <p:pic>
            <p:nvPicPr>
              <p:cNvPr id="92" name="Picture 91" descr="A black board with small dots&#10;&#10;Description automatically generated">
                <a:extLst>
                  <a:ext uri="{FF2B5EF4-FFF2-40B4-BE49-F238E27FC236}">
                    <a16:creationId xmlns:a16="http://schemas.microsoft.com/office/drawing/2014/main" id="{2432BAE7-B9DF-4E9B-73F2-62CA3D986EB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22092" y="7837920"/>
                <a:ext cx="4646308" cy="3737066"/>
              </a:xfrm>
              <a:prstGeom prst="rect">
                <a:avLst/>
              </a:prstGeom>
            </p:spPr>
          </p:pic>
          <p:cxnSp>
            <p:nvCxnSpPr>
              <p:cNvPr id="138" name="Straight Connector 137">
                <a:extLst>
                  <a:ext uri="{FF2B5EF4-FFF2-40B4-BE49-F238E27FC236}">
                    <a16:creationId xmlns:a16="http://schemas.microsoft.com/office/drawing/2014/main" id="{75F8E729-9CE1-4772-7DE5-012AB0B6019F}"/>
                  </a:ext>
                </a:extLst>
              </p:cNvPr>
              <p:cNvCxnSpPr>
                <a:cxnSpLocks/>
              </p:cNvCxnSpPr>
              <p:nvPr/>
            </p:nvCxnSpPr>
            <p:spPr>
              <a:xfrm flipH="1">
                <a:off x="21498033" y="11755961"/>
                <a:ext cx="1079967"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cxnSp>
          <p:nvCxnSpPr>
            <p:cNvPr id="143" name="Straight Connector 142">
              <a:extLst>
                <a:ext uri="{FF2B5EF4-FFF2-40B4-BE49-F238E27FC236}">
                  <a16:creationId xmlns:a16="http://schemas.microsoft.com/office/drawing/2014/main" id="{86CE0A5C-5B79-068D-DBB4-02DA2C542798}"/>
                </a:ext>
              </a:extLst>
            </p:cNvPr>
            <p:cNvCxnSpPr>
              <a:cxnSpLocks/>
            </p:cNvCxnSpPr>
            <p:nvPr/>
          </p:nvCxnSpPr>
          <p:spPr>
            <a:xfrm>
              <a:off x="11410001" y="14954362"/>
              <a:ext cx="2595763" cy="3880346"/>
            </a:xfrm>
            <a:prstGeom prst="line">
              <a:avLst/>
            </a:prstGeom>
            <a:ln w="76200" cap="rnd">
              <a:solidFill>
                <a:srgbClr val="92D050"/>
              </a:solidFill>
              <a:prstDash val="sysDot"/>
              <a:round/>
            </a:ln>
          </p:spPr>
          <p:style>
            <a:lnRef idx="1">
              <a:schemeClr val="accent1"/>
            </a:lnRef>
            <a:fillRef idx="0">
              <a:schemeClr val="accent1"/>
            </a:fillRef>
            <a:effectRef idx="0">
              <a:schemeClr val="accent1"/>
            </a:effectRef>
            <a:fontRef idx="minor">
              <a:schemeClr val="tx1"/>
            </a:fontRef>
          </p:style>
        </p:cxnSp>
        <p:sp>
          <p:nvSpPr>
            <p:cNvPr id="146" name="Oval 145">
              <a:extLst>
                <a:ext uri="{FF2B5EF4-FFF2-40B4-BE49-F238E27FC236}">
                  <a16:creationId xmlns:a16="http://schemas.microsoft.com/office/drawing/2014/main" id="{764EE415-DF30-13FF-BEFD-66B487DF7F3D}"/>
                </a:ext>
              </a:extLst>
            </p:cNvPr>
            <p:cNvSpPr>
              <a:spLocks noChangeAspect="1"/>
            </p:cNvSpPr>
            <p:nvPr/>
          </p:nvSpPr>
          <p:spPr>
            <a:xfrm>
              <a:off x="20550906" y="17787959"/>
              <a:ext cx="265397" cy="265397"/>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147" name="Straight Connector 146">
              <a:extLst>
                <a:ext uri="{FF2B5EF4-FFF2-40B4-BE49-F238E27FC236}">
                  <a16:creationId xmlns:a16="http://schemas.microsoft.com/office/drawing/2014/main" id="{CBCF8AF6-535E-56E0-C9B8-FD6FAEABA5F3}"/>
                </a:ext>
              </a:extLst>
            </p:cNvPr>
            <p:cNvCxnSpPr>
              <a:cxnSpLocks/>
              <a:stCxn id="122" idx="2"/>
              <a:endCxn id="146" idx="7"/>
            </p:cNvCxnSpPr>
            <p:nvPr/>
          </p:nvCxnSpPr>
          <p:spPr>
            <a:xfrm flipH="1">
              <a:off x="20777437" y="15112830"/>
              <a:ext cx="203362" cy="2713995"/>
            </a:xfrm>
            <a:prstGeom prst="line">
              <a:avLst/>
            </a:prstGeom>
            <a:ln w="76200" cap="rnd">
              <a:solidFill>
                <a:srgbClr val="7030A0"/>
              </a:solidFill>
              <a:prstDash val="sysDot"/>
              <a:round/>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5F4F3A67-BBA0-41E7-0D68-CC97C3C52191}"/>
                </a:ext>
              </a:extLst>
            </p:cNvPr>
            <p:cNvSpPr>
              <a:spLocks noChangeAspect="1"/>
            </p:cNvSpPr>
            <p:nvPr/>
          </p:nvSpPr>
          <p:spPr>
            <a:xfrm>
              <a:off x="22039321" y="17770830"/>
              <a:ext cx="265397" cy="26539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62" name="Straight Connector 61">
              <a:extLst>
                <a:ext uri="{FF2B5EF4-FFF2-40B4-BE49-F238E27FC236}">
                  <a16:creationId xmlns:a16="http://schemas.microsoft.com/office/drawing/2014/main" id="{77881F10-4272-CA86-55FA-46D3C9E703C9}"/>
                </a:ext>
              </a:extLst>
            </p:cNvPr>
            <p:cNvCxnSpPr>
              <a:cxnSpLocks/>
              <a:stCxn id="58" idx="2"/>
              <a:endCxn id="60" idx="7"/>
            </p:cNvCxnSpPr>
            <p:nvPr/>
          </p:nvCxnSpPr>
          <p:spPr>
            <a:xfrm flipH="1">
              <a:off x="22265852" y="15546514"/>
              <a:ext cx="542993" cy="2263182"/>
            </a:xfrm>
            <a:prstGeom prst="line">
              <a:avLst/>
            </a:prstGeom>
            <a:ln w="76200" cap="rnd">
              <a:solidFill>
                <a:srgbClr val="FF0000"/>
              </a:solidFill>
              <a:prstDash val="sysDot"/>
              <a:roun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F714A8F8-BDFC-5078-82E4-794E9D30596A}"/>
                </a:ext>
              </a:extLst>
            </p:cNvPr>
            <p:cNvCxnSpPr>
              <a:cxnSpLocks/>
            </p:cNvCxnSpPr>
            <p:nvPr/>
          </p:nvCxnSpPr>
          <p:spPr>
            <a:xfrm flipH="1">
              <a:off x="21866538" y="18708166"/>
              <a:ext cx="1690564" cy="2091488"/>
            </a:xfrm>
            <a:prstGeom prst="line">
              <a:avLst/>
            </a:prstGeom>
            <a:ln w="76200" cap="rnd">
              <a:solidFill>
                <a:srgbClr val="FF9300"/>
              </a:solidFill>
              <a:prstDash val="sysDot"/>
              <a:round/>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94CC5A66-FD26-365B-9A38-AB470FDA5A8E}"/>
                </a:ext>
              </a:extLst>
            </p:cNvPr>
            <p:cNvSpPr>
              <a:spLocks noChangeAspect="1"/>
            </p:cNvSpPr>
            <p:nvPr/>
          </p:nvSpPr>
          <p:spPr>
            <a:xfrm>
              <a:off x="21602084" y="20785186"/>
              <a:ext cx="265397" cy="265397"/>
            </a:xfrm>
            <a:prstGeom prst="ellipse">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grpSp>
          <p:nvGrpSpPr>
            <p:cNvPr id="139" name="Group 138">
              <a:extLst>
                <a:ext uri="{FF2B5EF4-FFF2-40B4-BE49-F238E27FC236}">
                  <a16:creationId xmlns:a16="http://schemas.microsoft.com/office/drawing/2014/main" id="{E3E13DED-FF4F-2F25-8300-6E5B1F636573}"/>
                </a:ext>
              </a:extLst>
            </p:cNvPr>
            <p:cNvGrpSpPr/>
            <p:nvPr/>
          </p:nvGrpSpPr>
          <p:grpSpPr>
            <a:xfrm flipH="1">
              <a:off x="23566095" y="15283816"/>
              <a:ext cx="6033390" cy="4080951"/>
              <a:chOff x="24742548" y="16210408"/>
              <a:chExt cx="6687159" cy="4523156"/>
            </a:xfrm>
          </p:grpSpPr>
          <p:sp>
            <p:nvSpPr>
              <p:cNvPr id="118" name="Freeform: Shape 117">
                <a:extLst>
                  <a:ext uri="{FF2B5EF4-FFF2-40B4-BE49-F238E27FC236}">
                    <a16:creationId xmlns:a16="http://schemas.microsoft.com/office/drawing/2014/main" id="{C365A4E9-9186-F13D-BC0B-75CBE54DAC41}"/>
                  </a:ext>
                </a:extLst>
              </p:cNvPr>
              <p:cNvSpPr/>
              <p:nvPr/>
            </p:nvSpPr>
            <p:spPr>
              <a:xfrm>
                <a:off x="24742548" y="16511112"/>
                <a:ext cx="6573919" cy="3761397"/>
              </a:xfrm>
              <a:custGeom>
                <a:avLst/>
                <a:gdLst>
                  <a:gd name="connsiteX0" fmla="*/ 734084 w 7514992"/>
                  <a:gd name="connsiteY0" fmla="*/ 0 h 4404416"/>
                  <a:gd name="connsiteX1" fmla="*/ 3764622 w 7514992"/>
                  <a:gd name="connsiteY1" fmla="*/ 0 h 4404416"/>
                  <a:gd name="connsiteX2" fmla="*/ 4483792 w 7514992"/>
                  <a:gd name="connsiteY2" fmla="*/ 586140 h 4404416"/>
                  <a:gd name="connsiteX3" fmla="*/ 4496828 w 7514992"/>
                  <a:gd name="connsiteY3" fmla="*/ 715464 h 4404416"/>
                  <a:gd name="connsiteX4" fmla="*/ 4536744 w 7514992"/>
                  <a:gd name="connsiteY4" fmla="*/ 703074 h 4404416"/>
                  <a:gd name="connsiteX5" fmla="*/ 4649498 w 7514992"/>
                  <a:gd name="connsiteY5" fmla="*/ 691708 h 4404416"/>
                  <a:gd name="connsiteX6" fmla="*/ 6955512 w 7514992"/>
                  <a:gd name="connsiteY6" fmla="*/ 691708 h 4404416"/>
                  <a:gd name="connsiteX7" fmla="*/ 7514992 w 7514992"/>
                  <a:gd name="connsiteY7" fmla="*/ 1251186 h 4404416"/>
                  <a:gd name="connsiteX8" fmla="*/ 7514992 w 7514992"/>
                  <a:gd name="connsiteY8" fmla="*/ 3489032 h 4404416"/>
                  <a:gd name="connsiteX9" fmla="*/ 6955512 w 7514992"/>
                  <a:gd name="connsiteY9" fmla="*/ 4048512 h 4404416"/>
                  <a:gd name="connsiteX10" fmla="*/ 4649498 w 7514992"/>
                  <a:gd name="connsiteY10" fmla="*/ 4048512 h 4404416"/>
                  <a:gd name="connsiteX11" fmla="*/ 4431724 w 7514992"/>
                  <a:gd name="connsiteY11" fmla="*/ 4004546 h 4404416"/>
                  <a:gd name="connsiteX12" fmla="*/ 4418580 w 7514992"/>
                  <a:gd name="connsiteY12" fmla="*/ 3997410 h 4404416"/>
                  <a:gd name="connsiteX13" fmla="*/ 4373336 w 7514992"/>
                  <a:gd name="connsiteY13" fmla="*/ 4080766 h 4404416"/>
                  <a:gd name="connsiteX14" fmla="*/ 3764622 w 7514992"/>
                  <a:gd name="connsiteY14" fmla="*/ 4404416 h 4404416"/>
                  <a:gd name="connsiteX15" fmla="*/ 734084 w 7514992"/>
                  <a:gd name="connsiteY15" fmla="*/ 4404416 h 4404416"/>
                  <a:gd name="connsiteX16" fmla="*/ 0 w 7514992"/>
                  <a:gd name="connsiteY16" fmla="*/ 3670332 h 4404416"/>
                  <a:gd name="connsiteX17" fmla="*/ 0 w 7514992"/>
                  <a:gd name="connsiteY17" fmla="*/ 734084 h 4404416"/>
                  <a:gd name="connsiteX18" fmla="*/ 734084 w 7514992"/>
                  <a:gd name="connsiteY18" fmla="*/ 0 h 44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14992" h="4404416">
                    <a:moveTo>
                      <a:pt x="734084" y="0"/>
                    </a:moveTo>
                    <a:lnTo>
                      <a:pt x="3764622" y="0"/>
                    </a:lnTo>
                    <a:cubicBezTo>
                      <a:pt x="4119366" y="0"/>
                      <a:pt x="4415342" y="251630"/>
                      <a:pt x="4483792" y="586140"/>
                    </a:cubicBezTo>
                    <a:lnTo>
                      <a:pt x="4496828" y="715464"/>
                    </a:lnTo>
                    <a:lnTo>
                      <a:pt x="4536744" y="703074"/>
                    </a:lnTo>
                    <a:cubicBezTo>
                      <a:pt x="4573164" y="695622"/>
                      <a:pt x="4610874" y="691708"/>
                      <a:pt x="4649498" y="691708"/>
                    </a:cubicBezTo>
                    <a:lnTo>
                      <a:pt x="6955512" y="691708"/>
                    </a:lnTo>
                    <a:cubicBezTo>
                      <a:pt x="7264504" y="691708"/>
                      <a:pt x="7514992" y="942194"/>
                      <a:pt x="7514992" y="1251186"/>
                    </a:cubicBezTo>
                    <a:lnTo>
                      <a:pt x="7514992" y="3489032"/>
                    </a:lnTo>
                    <a:cubicBezTo>
                      <a:pt x="7514992" y="3798024"/>
                      <a:pt x="7264504" y="4048512"/>
                      <a:pt x="6955512" y="4048512"/>
                    </a:cubicBezTo>
                    <a:lnTo>
                      <a:pt x="4649498" y="4048512"/>
                    </a:lnTo>
                    <a:cubicBezTo>
                      <a:pt x="4572250" y="4048512"/>
                      <a:pt x="4498658" y="4032856"/>
                      <a:pt x="4431724" y="4004546"/>
                    </a:cubicBezTo>
                    <a:lnTo>
                      <a:pt x="4418580" y="3997410"/>
                    </a:lnTo>
                    <a:lnTo>
                      <a:pt x="4373336" y="4080766"/>
                    </a:lnTo>
                    <a:cubicBezTo>
                      <a:pt x="4241416" y="4276034"/>
                      <a:pt x="4018010" y="4404416"/>
                      <a:pt x="3764622" y="4404416"/>
                    </a:cubicBezTo>
                    <a:lnTo>
                      <a:pt x="734084" y="4404416"/>
                    </a:lnTo>
                    <a:cubicBezTo>
                      <a:pt x="328660" y="4404416"/>
                      <a:pt x="0" y="4075756"/>
                      <a:pt x="0" y="3670332"/>
                    </a:cubicBezTo>
                    <a:lnTo>
                      <a:pt x="0" y="734084"/>
                    </a:lnTo>
                    <a:cubicBezTo>
                      <a:pt x="0" y="328660"/>
                      <a:pt x="328660" y="0"/>
                      <a:pt x="734084" y="0"/>
                    </a:cubicBezTo>
                    <a:close/>
                  </a:path>
                </a:pathLst>
              </a:custGeom>
              <a:solidFill>
                <a:srgbClr val="9DC3E6"/>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sz="1624"/>
              </a:p>
            </p:txBody>
          </p:sp>
          <p:pic>
            <p:nvPicPr>
              <p:cNvPr id="96" name="Picture 95" descr="A white box with a hole in it&#10;&#10;Description automatically generated">
                <a:extLst>
                  <a:ext uri="{FF2B5EF4-FFF2-40B4-BE49-F238E27FC236}">
                    <a16:creationId xmlns:a16="http://schemas.microsoft.com/office/drawing/2014/main" id="{14C27C0D-6119-300A-0D9B-79C6943DD31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rot="21274835" flipH="1">
                <a:off x="24916231" y="16210408"/>
                <a:ext cx="3394327" cy="4523156"/>
              </a:xfrm>
              <a:prstGeom prst="rect">
                <a:avLst/>
              </a:prstGeom>
            </p:spPr>
          </p:pic>
          <p:sp>
            <p:nvSpPr>
              <p:cNvPr id="116" name="TextBox 115">
                <a:extLst>
                  <a:ext uri="{FF2B5EF4-FFF2-40B4-BE49-F238E27FC236}">
                    <a16:creationId xmlns:a16="http://schemas.microsoft.com/office/drawing/2014/main" id="{CD5A532F-6C51-A474-66B7-577422B82740}"/>
                  </a:ext>
                </a:extLst>
              </p:cNvPr>
              <p:cNvSpPr txBox="1"/>
              <p:nvPr/>
            </p:nvSpPr>
            <p:spPr>
              <a:xfrm>
                <a:off x="28890409" y="17376399"/>
                <a:ext cx="2539298" cy="2244396"/>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r"/>
                <a:r>
                  <a:rPr lang="en-US" sz="1985" b="1" i="1" dirty="0">
                    <a:solidFill>
                      <a:srgbClr val="002060"/>
                    </a:solidFill>
                    <a:latin typeface="Aptos" panose="020B0004020202020204" pitchFamily="34" charset="0"/>
                    <a:cs typeface="Arial" panose="020B0604020202020204" pitchFamily="34" charset="0"/>
                  </a:rPr>
                  <a:t>Custom BLDC motor centrifuge </a:t>
                </a:r>
                <a:r>
                  <a:rPr lang="en-US" sz="1985" i="1" dirty="0">
                    <a:solidFill>
                      <a:srgbClr val="002060"/>
                    </a:solidFill>
                    <a:latin typeface="Aptos" panose="020B0004020202020204" pitchFamily="34" charset="0"/>
                    <a:cs typeface="Arial" panose="020B0604020202020204" pitchFamily="34" charset="0"/>
                  </a:rPr>
                  <a:t>operated by an O-Drive motor controller spinning at a maximum of </a:t>
                </a:r>
                <a:r>
                  <a:rPr lang="en-US" sz="1985" b="1" i="1" dirty="0">
                    <a:solidFill>
                      <a:srgbClr val="002060"/>
                    </a:solidFill>
                    <a:latin typeface="Aptos" panose="020B0004020202020204" pitchFamily="34" charset="0"/>
                    <a:cs typeface="Arial" panose="020B0604020202020204" pitchFamily="34" charset="0"/>
                  </a:rPr>
                  <a:t>12000 rpm.</a:t>
                </a:r>
              </a:p>
            </p:txBody>
          </p:sp>
          <p:cxnSp>
            <p:nvCxnSpPr>
              <p:cNvPr id="140" name="Straight Connector 139">
                <a:extLst>
                  <a:ext uri="{FF2B5EF4-FFF2-40B4-BE49-F238E27FC236}">
                    <a16:creationId xmlns:a16="http://schemas.microsoft.com/office/drawing/2014/main" id="{B3D0BB17-6BE9-BB3C-71A3-BC73B4742B0A}"/>
                  </a:ext>
                </a:extLst>
              </p:cNvPr>
              <p:cNvCxnSpPr>
                <a:cxnSpLocks/>
              </p:cNvCxnSpPr>
              <p:nvPr/>
            </p:nvCxnSpPr>
            <p:spPr>
              <a:xfrm flipV="1">
                <a:off x="28695528" y="17441182"/>
                <a:ext cx="0" cy="1963389"/>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161" name="Group 160">
              <a:extLst>
                <a:ext uri="{FF2B5EF4-FFF2-40B4-BE49-F238E27FC236}">
                  <a16:creationId xmlns:a16="http://schemas.microsoft.com/office/drawing/2014/main" id="{22755D06-B267-F0E9-63EF-C004563A3A53}"/>
                </a:ext>
              </a:extLst>
            </p:cNvPr>
            <p:cNvGrpSpPr/>
            <p:nvPr/>
          </p:nvGrpSpPr>
          <p:grpSpPr>
            <a:xfrm>
              <a:off x="24068878" y="18739758"/>
              <a:ext cx="5290274" cy="3217903"/>
              <a:chOff x="26065167" y="21164620"/>
              <a:chExt cx="5863520" cy="3566589"/>
            </a:xfrm>
          </p:grpSpPr>
          <p:sp>
            <p:nvSpPr>
              <p:cNvPr id="145" name="Freeform: Shape 144">
                <a:extLst>
                  <a:ext uri="{FF2B5EF4-FFF2-40B4-BE49-F238E27FC236}">
                    <a16:creationId xmlns:a16="http://schemas.microsoft.com/office/drawing/2014/main" id="{3F7C7170-07B0-788D-B40B-1EA0EFEFB546}"/>
                  </a:ext>
                </a:extLst>
              </p:cNvPr>
              <p:cNvSpPr/>
              <p:nvPr/>
            </p:nvSpPr>
            <p:spPr>
              <a:xfrm>
                <a:off x="26065167" y="21360044"/>
                <a:ext cx="5863520" cy="3175740"/>
              </a:xfrm>
              <a:custGeom>
                <a:avLst/>
                <a:gdLst>
                  <a:gd name="connsiteX0" fmla="*/ 320764 w 5863520"/>
                  <a:gd name="connsiteY0" fmla="*/ 0 h 3175740"/>
                  <a:gd name="connsiteX1" fmla="*/ 1603774 w 5863520"/>
                  <a:gd name="connsiteY1" fmla="*/ 0 h 3175740"/>
                  <a:gd name="connsiteX2" fmla="*/ 1924536 w 5863520"/>
                  <a:gd name="connsiteY2" fmla="*/ 320764 h 3175740"/>
                  <a:gd name="connsiteX3" fmla="*/ 1924536 w 5863520"/>
                  <a:gd name="connsiteY3" fmla="*/ 1425978 h 3175740"/>
                  <a:gd name="connsiteX4" fmla="*/ 1944610 w 5863520"/>
                  <a:gd name="connsiteY4" fmla="*/ 1419746 h 3175740"/>
                  <a:gd name="connsiteX5" fmla="*/ 1998898 w 5863520"/>
                  <a:gd name="connsiteY5" fmla="*/ 1414274 h 3175740"/>
                  <a:gd name="connsiteX6" fmla="*/ 5594144 w 5863520"/>
                  <a:gd name="connsiteY6" fmla="*/ 1414274 h 3175740"/>
                  <a:gd name="connsiteX7" fmla="*/ 5863520 w 5863520"/>
                  <a:gd name="connsiteY7" fmla="*/ 1683648 h 3175740"/>
                  <a:gd name="connsiteX8" fmla="*/ 5863520 w 5863520"/>
                  <a:gd name="connsiteY8" fmla="*/ 2761116 h 3175740"/>
                  <a:gd name="connsiteX9" fmla="*/ 5594144 w 5863520"/>
                  <a:gd name="connsiteY9" fmla="*/ 3030492 h 3175740"/>
                  <a:gd name="connsiteX10" fmla="*/ 1998898 w 5863520"/>
                  <a:gd name="connsiteY10" fmla="*/ 3030492 h 3175740"/>
                  <a:gd name="connsiteX11" fmla="*/ 1894046 w 5863520"/>
                  <a:gd name="connsiteY11" fmla="*/ 3009324 h 3175740"/>
                  <a:gd name="connsiteX12" fmla="*/ 1885762 w 5863520"/>
                  <a:gd name="connsiteY12" fmla="*/ 3004828 h 3175740"/>
                  <a:gd name="connsiteX13" fmla="*/ 1869756 w 5863520"/>
                  <a:gd name="connsiteY13" fmla="*/ 3034318 h 3175740"/>
                  <a:gd name="connsiteX14" fmla="*/ 1603774 w 5863520"/>
                  <a:gd name="connsiteY14" fmla="*/ 3175740 h 3175740"/>
                  <a:gd name="connsiteX15" fmla="*/ 320764 w 5863520"/>
                  <a:gd name="connsiteY15" fmla="*/ 3175740 h 3175740"/>
                  <a:gd name="connsiteX16" fmla="*/ 0 w 5863520"/>
                  <a:gd name="connsiteY16" fmla="*/ 2854976 h 3175740"/>
                  <a:gd name="connsiteX17" fmla="*/ 0 w 5863520"/>
                  <a:gd name="connsiteY17" fmla="*/ 320764 h 3175740"/>
                  <a:gd name="connsiteX18" fmla="*/ 320764 w 5863520"/>
                  <a:gd name="connsiteY18" fmla="*/ 0 h 3175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3520" h="3175740">
                    <a:moveTo>
                      <a:pt x="320764" y="0"/>
                    </a:moveTo>
                    <a:lnTo>
                      <a:pt x="1603774" y="0"/>
                    </a:lnTo>
                    <a:cubicBezTo>
                      <a:pt x="1780928" y="0"/>
                      <a:pt x="1924536" y="143610"/>
                      <a:pt x="1924536" y="320764"/>
                    </a:cubicBezTo>
                    <a:lnTo>
                      <a:pt x="1924536" y="1425978"/>
                    </a:lnTo>
                    <a:lnTo>
                      <a:pt x="1944610" y="1419746"/>
                    </a:lnTo>
                    <a:cubicBezTo>
                      <a:pt x="1962146" y="1416158"/>
                      <a:pt x="1980302" y="1414274"/>
                      <a:pt x="1998898" y="1414274"/>
                    </a:cubicBezTo>
                    <a:lnTo>
                      <a:pt x="5594144" y="1414274"/>
                    </a:lnTo>
                    <a:cubicBezTo>
                      <a:pt x="5742916" y="1414274"/>
                      <a:pt x="5863520" y="1534876"/>
                      <a:pt x="5863520" y="1683648"/>
                    </a:cubicBezTo>
                    <a:lnTo>
                      <a:pt x="5863520" y="2761116"/>
                    </a:lnTo>
                    <a:cubicBezTo>
                      <a:pt x="5863520" y="2909888"/>
                      <a:pt x="5742916" y="3030492"/>
                      <a:pt x="5594144" y="3030492"/>
                    </a:cubicBezTo>
                    <a:lnTo>
                      <a:pt x="1998898" y="3030492"/>
                    </a:lnTo>
                    <a:cubicBezTo>
                      <a:pt x="1961706" y="3030492"/>
                      <a:pt x="1926272" y="3022954"/>
                      <a:pt x="1894046" y="3009324"/>
                    </a:cubicBezTo>
                    <a:lnTo>
                      <a:pt x="1885762" y="3004828"/>
                    </a:lnTo>
                    <a:lnTo>
                      <a:pt x="1869756" y="3034318"/>
                    </a:lnTo>
                    <a:cubicBezTo>
                      <a:pt x="1812112" y="3119642"/>
                      <a:pt x="1714496" y="3175740"/>
                      <a:pt x="1603774" y="3175740"/>
                    </a:cubicBezTo>
                    <a:lnTo>
                      <a:pt x="320764" y="3175740"/>
                    </a:lnTo>
                    <a:cubicBezTo>
                      <a:pt x="143610" y="3175740"/>
                      <a:pt x="0" y="3032128"/>
                      <a:pt x="0" y="2854976"/>
                    </a:cubicBezTo>
                    <a:lnTo>
                      <a:pt x="0" y="320764"/>
                    </a:lnTo>
                    <a:cubicBezTo>
                      <a:pt x="0" y="143610"/>
                      <a:pt x="143610" y="0"/>
                      <a:pt x="320764" y="0"/>
                    </a:cubicBezTo>
                    <a:close/>
                  </a:path>
                </a:pathLst>
              </a:custGeom>
              <a:solidFill>
                <a:srgbClr val="9DC3E6"/>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sz="1624" dirty="0"/>
              </a:p>
            </p:txBody>
          </p:sp>
          <p:pic>
            <p:nvPicPr>
              <p:cNvPr id="97" name="Picture 96" descr="A white tube with a blue handle&#10;&#10;Description automatically generated">
                <a:extLst>
                  <a:ext uri="{FF2B5EF4-FFF2-40B4-BE49-F238E27FC236}">
                    <a16:creationId xmlns:a16="http://schemas.microsoft.com/office/drawing/2014/main" id="{3F1F94A4-2424-E869-2EA8-537F748945E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638971">
                <a:off x="26170394" y="21164620"/>
                <a:ext cx="1502698" cy="3566589"/>
              </a:xfrm>
              <a:prstGeom prst="rect">
                <a:avLst/>
              </a:prstGeom>
            </p:spPr>
          </p:pic>
          <p:sp>
            <p:nvSpPr>
              <p:cNvPr id="144" name="TextBox 143">
                <a:extLst>
                  <a:ext uri="{FF2B5EF4-FFF2-40B4-BE49-F238E27FC236}">
                    <a16:creationId xmlns:a16="http://schemas.microsoft.com/office/drawing/2014/main" id="{D48DEB97-33D3-030F-39A2-BA2266E129BA}"/>
                  </a:ext>
                </a:extLst>
              </p:cNvPr>
              <p:cNvSpPr txBox="1"/>
              <p:nvPr/>
            </p:nvSpPr>
            <p:spPr>
              <a:xfrm>
                <a:off x="28233984" y="22874084"/>
                <a:ext cx="3616273" cy="1446606"/>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Needle wash station </a:t>
                </a:r>
                <a:r>
                  <a:rPr lang="en-US" sz="1985" i="1" dirty="0">
                    <a:solidFill>
                      <a:srgbClr val="002060"/>
                    </a:solidFill>
                    <a:latin typeface="Aptos" panose="020B0004020202020204" pitchFamily="34" charset="0"/>
                    <a:cs typeface="Arial" panose="020B0604020202020204" pitchFamily="34" charset="0"/>
                  </a:rPr>
                  <a:t>made with chemical-resistant plastic designed to clean the needle between runs</a:t>
                </a:r>
              </a:p>
            </p:txBody>
          </p:sp>
          <p:cxnSp>
            <p:nvCxnSpPr>
              <p:cNvPr id="150" name="Straight Connector 149">
                <a:extLst>
                  <a:ext uri="{FF2B5EF4-FFF2-40B4-BE49-F238E27FC236}">
                    <a16:creationId xmlns:a16="http://schemas.microsoft.com/office/drawing/2014/main" id="{2FE2CF5A-59CF-EFA7-8CEA-B364327F56D7}"/>
                  </a:ext>
                </a:extLst>
              </p:cNvPr>
              <p:cNvCxnSpPr>
                <a:cxnSpLocks/>
              </p:cNvCxnSpPr>
              <p:nvPr/>
            </p:nvCxnSpPr>
            <p:spPr>
              <a:xfrm flipV="1">
                <a:off x="28039523" y="22976220"/>
                <a:ext cx="0" cy="116647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158" name="Group 157">
              <a:extLst>
                <a:ext uri="{FF2B5EF4-FFF2-40B4-BE49-F238E27FC236}">
                  <a16:creationId xmlns:a16="http://schemas.microsoft.com/office/drawing/2014/main" id="{117EBBD2-B90D-B561-2637-6E2A6AEA2679}"/>
                </a:ext>
              </a:extLst>
            </p:cNvPr>
            <p:cNvGrpSpPr/>
            <p:nvPr/>
          </p:nvGrpSpPr>
          <p:grpSpPr>
            <a:xfrm>
              <a:off x="23784333" y="20138288"/>
              <a:ext cx="649609" cy="649608"/>
              <a:chOff x="12131209" y="11563837"/>
              <a:chExt cx="720000" cy="720000"/>
            </a:xfrm>
            <a:solidFill>
              <a:srgbClr val="FF0000"/>
            </a:solidFill>
          </p:grpSpPr>
          <p:sp>
            <p:nvSpPr>
              <p:cNvPr id="159" name="Oval 158">
                <a:extLst>
                  <a:ext uri="{FF2B5EF4-FFF2-40B4-BE49-F238E27FC236}">
                    <a16:creationId xmlns:a16="http://schemas.microsoft.com/office/drawing/2014/main" id="{52E47A80-0DE7-C344-457B-B2EBEDFDFA02}"/>
                  </a:ext>
                </a:extLst>
              </p:cNvPr>
              <p:cNvSpPr>
                <a:spLocks noChangeAspect="1"/>
              </p:cNvSpPr>
              <p:nvPr/>
            </p:nvSpPr>
            <p:spPr>
              <a:xfrm>
                <a:off x="12131209" y="11563837"/>
                <a:ext cx="720000" cy="720000"/>
              </a:xfrm>
              <a:prstGeom prst="ellipse">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64" name="TextBox 163">
                <a:extLst>
                  <a:ext uri="{FF2B5EF4-FFF2-40B4-BE49-F238E27FC236}">
                    <a16:creationId xmlns:a16="http://schemas.microsoft.com/office/drawing/2014/main" id="{A879B7F6-EC9C-36E2-2AC3-5ED3D5B996CC}"/>
                  </a:ext>
                </a:extLst>
              </p:cNvPr>
              <p:cNvSpPr txBox="1"/>
              <p:nvPr/>
            </p:nvSpPr>
            <p:spPr>
              <a:xfrm>
                <a:off x="12217407" y="11600671"/>
                <a:ext cx="539795" cy="656316"/>
              </a:xfrm>
              <a:prstGeom prst="rect">
                <a:avLst/>
              </a:prstGeom>
              <a:noFill/>
            </p:spPr>
            <p:txBody>
              <a:bodyPr wrap="square" rtlCol="0">
                <a:spAutoFit/>
              </a:bodyPr>
              <a:lstStyle/>
              <a:p>
                <a:pPr algn="ctr"/>
                <a:r>
                  <a:rPr lang="en-US" sz="3248" b="1" dirty="0">
                    <a:solidFill>
                      <a:srgbClr val="002060"/>
                    </a:solidFill>
                    <a:latin typeface="Aptos" panose="020B0004020202020204" pitchFamily="34" charset="0"/>
                  </a:rPr>
                  <a:t>5</a:t>
                </a:r>
              </a:p>
            </p:txBody>
          </p:sp>
        </p:grpSp>
        <p:cxnSp>
          <p:nvCxnSpPr>
            <p:cNvPr id="165" name="Straight Connector 164">
              <a:extLst>
                <a:ext uri="{FF2B5EF4-FFF2-40B4-BE49-F238E27FC236}">
                  <a16:creationId xmlns:a16="http://schemas.microsoft.com/office/drawing/2014/main" id="{97693E3D-54AB-D54D-9325-307B45FA8DB1}"/>
                </a:ext>
              </a:extLst>
            </p:cNvPr>
            <p:cNvCxnSpPr>
              <a:cxnSpLocks/>
              <a:endCxn id="168" idx="7"/>
            </p:cNvCxnSpPr>
            <p:nvPr/>
          </p:nvCxnSpPr>
          <p:spPr>
            <a:xfrm flipH="1">
              <a:off x="21277031" y="20667257"/>
              <a:ext cx="2502662" cy="1938416"/>
            </a:xfrm>
            <a:prstGeom prst="line">
              <a:avLst/>
            </a:prstGeom>
            <a:ln w="76200" cap="rnd">
              <a:solidFill>
                <a:srgbClr val="002060"/>
              </a:solidFill>
              <a:prstDash val="sysDot"/>
              <a:round/>
            </a:ln>
          </p:spPr>
          <p:style>
            <a:lnRef idx="1">
              <a:schemeClr val="accent1"/>
            </a:lnRef>
            <a:fillRef idx="0">
              <a:schemeClr val="accent1"/>
            </a:fillRef>
            <a:effectRef idx="0">
              <a:schemeClr val="accent1"/>
            </a:effectRef>
            <a:fontRef idx="minor">
              <a:schemeClr val="tx1"/>
            </a:fontRef>
          </p:style>
        </p:cxnSp>
        <p:sp>
          <p:nvSpPr>
            <p:cNvPr id="168" name="Oval 167">
              <a:extLst>
                <a:ext uri="{FF2B5EF4-FFF2-40B4-BE49-F238E27FC236}">
                  <a16:creationId xmlns:a16="http://schemas.microsoft.com/office/drawing/2014/main" id="{7DC9AA97-F770-4D02-FD0C-4FEC9313D8E8}"/>
                </a:ext>
              </a:extLst>
            </p:cNvPr>
            <p:cNvSpPr>
              <a:spLocks noChangeAspect="1"/>
            </p:cNvSpPr>
            <p:nvPr/>
          </p:nvSpPr>
          <p:spPr>
            <a:xfrm>
              <a:off x="21050502" y="22566808"/>
              <a:ext cx="265397" cy="265397"/>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76" name="Oval 175">
              <a:extLst>
                <a:ext uri="{FF2B5EF4-FFF2-40B4-BE49-F238E27FC236}">
                  <a16:creationId xmlns:a16="http://schemas.microsoft.com/office/drawing/2014/main" id="{BE3B547E-3968-5B91-AD29-E6FFBEC9DD24}"/>
                </a:ext>
              </a:extLst>
            </p:cNvPr>
            <p:cNvSpPr>
              <a:spLocks noChangeAspect="1"/>
            </p:cNvSpPr>
            <p:nvPr/>
          </p:nvSpPr>
          <p:spPr>
            <a:xfrm>
              <a:off x="21173735" y="23532321"/>
              <a:ext cx="265397" cy="265397"/>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177" name="Straight Connector 176">
              <a:extLst>
                <a:ext uri="{FF2B5EF4-FFF2-40B4-BE49-F238E27FC236}">
                  <a16:creationId xmlns:a16="http://schemas.microsoft.com/office/drawing/2014/main" id="{2560D7D7-D28A-3EEB-6139-33725D82108B}"/>
                </a:ext>
              </a:extLst>
            </p:cNvPr>
            <p:cNvCxnSpPr>
              <a:cxnSpLocks/>
              <a:stCxn id="174" idx="2"/>
              <a:endCxn id="176" idx="6"/>
            </p:cNvCxnSpPr>
            <p:nvPr/>
          </p:nvCxnSpPr>
          <p:spPr>
            <a:xfrm flipH="1">
              <a:off x="21439132" y="22521948"/>
              <a:ext cx="2495771" cy="1143072"/>
            </a:xfrm>
            <a:prstGeom prst="line">
              <a:avLst/>
            </a:prstGeom>
            <a:ln w="76200" cap="rnd">
              <a:solidFill>
                <a:srgbClr val="00B050"/>
              </a:solidFill>
              <a:prstDash val="sysDot"/>
              <a:round/>
            </a:ln>
          </p:spPr>
          <p:style>
            <a:lnRef idx="1">
              <a:schemeClr val="accent1"/>
            </a:lnRef>
            <a:fillRef idx="0">
              <a:schemeClr val="accent1"/>
            </a:fillRef>
            <a:effectRef idx="0">
              <a:schemeClr val="accent1"/>
            </a:effectRef>
            <a:fontRef idx="minor">
              <a:schemeClr val="tx1"/>
            </a:fontRef>
          </p:style>
        </p:cxnSp>
        <p:grpSp>
          <p:nvGrpSpPr>
            <p:cNvPr id="204" name="Group 203">
              <a:extLst>
                <a:ext uri="{FF2B5EF4-FFF2-40B4-BE49-F238E27FC236}">
                  <a16:creationId xmlns:a16="http://schemas.microsoft.com/office/drawing/2014/main" id="{2738C10F-AD26-A7F8-3262-B1F971F85B90}"/>
                </a:ext>
              </a:extLst>
            </p:cNvPr>
            <p:cNvGrpSpPr/>
            <p:nvPr/>
          </p:nvGrpSpPr>
          <p:grpSpPr>
            <a:xfrm flipV="1">
              <a:off x="16663889" y="25265080"/>
              <a:ext cx="4958617" cy="2735716"/>
              <a:chOff x="18625442" y="23891470"/>
              <a:chExt cx="5495925" cy="3032154"/>
            </a:xfrm>
          </p:grpSpPr>
          <p:sp>
            <p:nvSpPr>
              <p:cNvPr id="187" name="Freeform: Shape 186">
                <a:extLst>
                  <a:ext uri="{FF2B5EF4-FFF2-40B4-BE49-F238E27FC236}">
                    <a16:creationId xmlns:a16="http://schemas.microsoft.com/office/drawing/2014/main" id="{F2F52C9C-CC8D-DD43-A518-FC862C4A6516}"/>
                  </a:ext>
                </a:extLst>
              </p:cNvPr>
              <p:cNvSpPr/>
              <p:nvPr/>
            </p:nvSpPr>
            <p:spPr>
              <a:xfrm>
                <a:off x="18644508" y="23891470"/>
                <a:ext cx="5457794" cy="3032154"/>
              </a:xfrm>
              <a:custGeom>
                <a:avLst/>
                <a:gdLst>
                  <a:gd name="connsiteX0" fmla="*/ 272986 w 5457794"/>
                  <a:gd name="connsiteY0" fmla="*/ 0 h 3032154"/>
                  <a:gd name="connsiteX1" fmla="*/ 5184808 w 5457794"/>
                  <a:gd name="connsiteY1" fmla="*/ 0 h 3032154"/>
                  <a:gd name="connsiteX2" fmla="*/ 5457794 w 5457794"/>
                  <a:gd name="connsiteY2" fmla="*/ 272986 h 3032154"/>
                  <a:gd name="connsiteX3" fmla="*/ 5457794 w 5457794"/>
                  <a:gd name="connsiteY3" fmla="*/ 1364902 h 3032154"/>
                  <a:gd name="connsiteX4" fmla="*/ 5377838 w 5457794"/>
                  <a:gd name="connsiteY4" fmla="*/ 1557932 h 3032154"/>
                  <a:gd name="connsiteX5" fmla="*/ 5370708 w 5457794"/>
                  <a:gd name="connsiteY5" fmla="*/ 1563814 h 3032154"/>
                  <a:gd name="connsiteX6" fmla="*/ 5391592 w 5457794"/>
                  <a:gd name="connsiteY6" fmla="*/ 1667254 h 3032154"/>
                  <a:gd name="connsiteX7" fmla="*/ 5391592 w 5457794"/>
                  <a:gd name="connsiteY7" fmla="*/ 2759168 h 3032154"/>
                  <a:gd name="connsiteX8" fmla="*/ 5118604 w 5457794"/>
                  <a:gd name="connsiteY8" fmla="*/ 3032154 h 3032154"/>
                  <a:gd name="connsiteX9" fmla="*/ 1540252 w 5457794"/>
                  <a:gd name="connsiteY9" fmla="*/ 3032154 h 3032154"/>
                  <a:gd name="connsiteX10" fmla="*/ 1267266 w 5457794"/>
                  <a:gd name="connsiteY10" fmla="*/ 2759168 h 3032154"/>
                  <a:gd name="connsiteX11" fmla="*/ 1267266 w 5457794"/>
                  <a:gd name="connsiteY11" fmla="*/ 1667254 h 3032154"/>
                  <a:gd name="connsiteX12" fmla="*/ 1273194 w 5457794"/>
                  <a:gd name="connsiteY12" fmla="*/ 1637888 h 3032154"/>
                  <a:gd name="connsiteX13" fmla="*/ 272986 w 5457794"/>
                  <a:gd name="connsiteY13" fmla="*/ 1637888 h 3032154"/>
                  <a:gd name="connsiteX14" fmla="*/ 0 w 5457794"/>
                  <a:gd name="connsiteY14" fmla="*/ 1364902 h 3032154"/>
                  <a:gd name="connsiteX15" fmla="*/ 0 w 5457794"/>
                  <a:gd name="connsiteY15" fmla="*/ 272986 h 3032154"/>
                  <a:gd name="connsiteX16" fmla="*/ 272986 w 5457794"/>
                  <a:gd name="connsiteY16" fmla="*/ 0 h 303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57794" h="3032154">
                    <a:moveTo>
                      <a:pt x="272986" y="0"/>
                    </a:moveTo>
                    <a:lnTo>
                      <a:pt x="5184808" y="0"/>
                    </a:lnTo>
                    <a:cubicBezTo>
                      <a:pt x="5335574" y="0"/>
                      <a:pt x="5457794" y="122220"/>
                      <a:pt x="5457794" y="272986"/>
                    </a:cubicBezTo>
                    <a:lnTo>
                      <a:pt x="5457794" y="1364902"/>
                    </a:lnTo>
                    <a:cubicBezTo>
                      <a:pt x="5457794" y="1440286"/>
                      <a:pt x="5427238" y="1508532"/>
                      <a:pt x="5377838" y="1557932"/>
                    </a:cubicBezTo>
                    <a:lnTo>
                      <a:pt x="5370708" y="1563814"/>
                    </a:lnTo>
                    <a:lnTo>
                      <a:pt x="5391592" y="1667254"/>
                    </a:lnTo>
                    <a:lnTo>
                      <a:pt x="5391592" y="2759168"/>
                    </a:lnTo>
                    <a:cubicBezTo>
                      <a:pt x="5391592" y="2909934"/>
                      <a:pt x="5269372" y="3032154"/>
                      <a:pt x="5118604" y="3032154"/>
                    </a:cubicBezTo>
                    <a:lnTo>
                      <a:pt x="1540252" y="3032154"/>
                    </a:lnTo>
                    <a:cubicBezTo>
                      <a:pt x="1389486" y="3032154"/>
                      <a:pt x="1267266" y="2909934"/>
                      <a:pt x="1267266" y="2759168"/>
                    </a:cubicBezTo>
                    <a:lnTo>
                      <a:pt x="1267266" y="1667254"/>
                    </a:lnTo>
                    <a:lnTo>
                      <a:pt x="1273194" y="1637888"/>
                    </a:lnTo>
                    <a:lnTo>
                      <a:pt x="272986" y="1637888"/>
                    </a:lnTo>
                    <a:cubicBezTo>
                      <a:pt x="122220" y="1637888"/>
                      <a:pt x="0" y="1515668"/>
                      <a:pt x="0" y="1364902"/>
                    </a:cubicBezTo>
                    <a:lnTo>
                      <a:pt x="0" y="272986"/>
                    </a:lnTo>
                    <a:cubicBezTo>
                      <a:pt x="0" y="122220"/>
                      <a:pt x="122220" y="0"/>
                      <a:pt x="272986" y="0"/>
                    </a:cubicBezTo>
                    <a:close/>
                  </a:path>
                </a:pathLst>
              </a:custGeom>
              <a:solidFill>
                <a:srgbClr val="9DC3E6"/>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sz="1624"/>
              </a:p>
            </p:txBody>
          </p:sp>
          <p:pic>
            <p:nvPicPr>
              <p:cNvPr id="102" name="Picture 101" descr="A group of test tubes&#10;&#10;Description automatically generated">
                <a:extLst>
                  <a:ext uri="{FF2B5EF4-FFF2-40B4-BE49-F238E27FC236}">
                    <a16:creationId xmlns:a16="http://schemas.microsoft.com/office/drawing/2014/main" id="{E67B344A-00BA-D70F-396B-529C222CEF8B}"/>
                  </a:ext>
                </a:extLst>
              </p:cNvPr>
              <p:cNvPicPr>
                <a:picLocks noChangeAspect="1"/>
              </p:cNvPicPr>
              <p:nvPr/>
            </p:nvPicPr>
            <p:blipFill rotWithShape="1">
              <a:blip r:embed="rId13">
                <a:extLst>
                  <a:ext uri="{28A0092B-C50C-407E-A947-70E740481C1C}">
                    <a14:useLocalDpi xmlns:a14="http://schemas.microsoft.com/office/drawing/2010/main" val="0"/>
                  </a:ext>
                </a:extLst>
              </a:blip>
              <a:srcRect t="40246" b="22341"/>
              <a:stretch/>
            </p:blipFill>
            <p:spPr>
              <a:xfrm flipV="1">
                <a:off x="18625442" y="23968657"/>
                <a:ext cx="5495925" cy="1543014"/>
              </a:xfrm>
              <a:prstGeom prst="rect">
                <a:avLst/>
              </a:prstGeom>
            </p:spPr>
          </p:pic>
          <p:sp>
            <p:nvSpPr>
              <p:cNvPr id="185" name="TextBox 184">
                <a:extLst>
                  <a:ext uri="{FF2B5EF4-FFF2-40B4-BE49-F238E27FC236}">
                    <a16:creationId xmlns:a16="http://schemas.microsoft.com/office/drawing/2014/main" id="{5DD74C8C-B8BD-F26B-69FC-B3C3B19C3429}"/>
                  </a:ext>
                </a:extLst>
              </p:cNvPr>
              <p:cNvSpPr txBox="1"/>
              <p:nvPr/>
            </p:nvSpPr>
            <p:spPr>
              <a:xfrm flipV="1">
                <a:off x="20232709" y="25695359"/>
                <a:ext cx="3810005"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3D-printed vial trays </a:t>
                </a:r>
                <a:r>
                  <a:rPr lang="en-US" sz="1985" i="1" dirty="0">
                    <a:solidFill>
                      <a:srgbClr val="002060"/>
                    </a:solidFill>
                    <a:latin typeface="Aptos" panose="020B0004020202020204" pitchFamily="34" charset="0"/>
                    <a:cs typeface="Arial" panose="020B0604020202020204" pitchFamily="34" charset="0"/>
                  </a:rPr>
                  <a:t>designed to house 15 HPLC vials and centrifuge vials</a:t>
                </a:r>
              </a:p>
            </p:txBody>
          </p:sp>
          <p:cxnSp>
            <p:nvCxnSpPr>
              <p:cNvPr id="188" name="Straight Connector 187">
                <a:extLst>
                  <a:ext uri="{FF2B5EF4-FFF2-40B4-BE49-F238E27FC236}">
                    <a16:creationId xmlns:a16="http://schemas.microsoft.com/office/drawing/2014/main" id="{AEF89FB9-124F-B370-EE18-B1CE61F9D850}"/>
                  </a:ext>
                </a:extLst>
              </p:cNvPr>
              <p:cNvCxnSpPr>
                <a:cxnSpLocks/>
              </p:cNvCxnSpPr>
              <p:nvPr/>
            </p:nvCxnSpPr>
            <p:spPr>
              <a:xfrm flipV="1">
                <a:off x="20292980" y="25624429"/>
                <a:ext cx="2953915"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68200DDE-1388-D7DF-FC8A-B6207855C69D}"/>
                </a:ext>
              </a:extLst>
            </p:cNvPr>
            <p:cNvCxnSpPr>
              <a:cxnSpLocks/>
            </p:cNvCxnSpPr>
            <p:nvPr/>
          </p:nvCxnSpPr>
          <p:spPr>
            <a:xfrm flipH="1" flipV="1">
              <a:off x="18396920" y="22877797"/>
              <a:ext cx="3958599" cy="2329990"/>
            </a:xfrm>
            <a:prstGeom prst="line">
              <a:avLst/>
            </a:prstGeom>
            <a:ln w="76200" cap="rnd">
              <a:solidFill>
                <a:srgbClr val="FFC000"/>
              </a:solidFill>
              <a:prstDash val="sysDot"/>
              <a:round/>
            </a:ln>
          </p:spPr>
          <p:style>
            <a:lnRef idx="1">
              <a:schemeClr val="accent1"/>
            </a:lnRef>
            <a:fillRef idx="0">
              <a:schemeClr val="accent1"/>
            </a:fillRef>
            <a:effectRef idx="0">
              <a:schemeClr val="accent1"/>
            </a:effectRef>
            <a:fontRef idx="minor">
              <a:schemeClr val="tx1"/>
            </a:fontRef>
          </p:style>
        </p:cxnSp>
        <p:sp>
          <p:nvSpPr>
            <p:cNvPr id="197" name="Oval 196">
              <a:extLst>
                <a:ext uri="{FF2B5EF4-FFF2-40B4-BE49-F238E27FC236}">
                  <a16:creationId xmlns:a16="http://schemas.microsoft.com/office/drawing/2014/main" id="{EC67A3C1-6ED0-3E81-0CAF-068465A92DBB}"/>
                </a:ext>
              </a:extLst>
            </p:cNvPr>
            <p:cNvSpPr>
              <a:spLocks noChangeAspect="1"/>
            </p:cNvSpPr>
            <p:nvPr/>
          </p:nvSpPr>
          <p:spPr>
            <a:xfrm>
              <a:off x="18183591" y="22695085"/>
              <a:ext cx="265397" cy="26539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17" name="Oval 216">
              <a:extLst>
                <a:ext uri="{FF2B5EF4-FFF2-40B4-BE49-F238E27FC236}">
                  <a16:creationId xmlns:a16="http://schemas.microsoft.com/office/drawing/2014/main" id="{CFEAEA71-A615-F19B-8617-3E41E9E105FC}"/>
                </a:ext>
              </a:extLst>
            </p:cNvPr>
            <p:cNvSpPr>
              <a:spLocks noChangeAspect="1"/>
            </p:cNvSpPr>
            <p:nvPr/>
          </p:nvSpPr>
          <p:spPr>
            <a:xfrm>
              <a:off x="17364404" y="23652358"/>
              <a:ext cx="265397" cy="265397"/>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218" name="Straight Connector 217">
              <a:extLst>
                <a:ext uri="{FF2B5EF4-FFF2-40B4-BE49-F238E27FC236}">
                  <a16:creationId xmlns:a16="http://schemas.microsoft.com/office/drawing/2014/main" id="{002E3F14-7330-9E45-4036-9662B58AF069}"/>
                </a:ext>
              </a:extLst>
            </p:cNvPr>
            <p:cNvCxnSpPr>
              <a:cxnSpLocks/>
              <a:stCxn id="215" idx="0"/>
              <a:endCxn id="217" idx="4"/>
            </p:cNvCxnSpPr>
            <p:nvPr/>
          </p:nvCxnSpPr>
          <p:spPr>
            <a:xfrm flipH="1" flipV="1">
              <a:off x="17497101" y="23917755"/>
              <a:ext cx="391363" cy="963034"/>
            </a:xfrm>
            <a:prstGeom prst="line">
              <a:avLst/>
            </a:prstGeom>
            <a:ln w="76200" cap="rnd">
              <a:solidFill>
                <a:srgbClr val="00B0F0"/>
              </a:solidFill>
              <a:prstDash val="sysDot"/>
              <a:round/>
            </a:ln>
          </p:spPr>
          <p:style>
            <a:lnRef idx="1">
              <a:schemeClr val="accent1"/>
            </a:lnRef>
            <a:fillRef idx="0">
              <a:schemeClr val="accent1"/>
            </a:fillRef>
            <a:effectRef idx="0">
              <a:schemeClr val="accent1"/>
            </a:effectRef>
            <a:fontRef idx="minor">
              <a:schemeClr val="tx1"/>
            </a:fontRef>
          </p:style>
        </p:cxnSp>
        <p:grpSp>
          <p:nvGrpSpPr>
            <p:cNvPr id="119" name="Group 118">
              <a:extLst>
                <a:ext uri="{FF2B5EF4-FFF2-40B4-BE49-F238E27FC236}">
                  <a16:creationId xmlns:a16="http://schemas.microsoft.com/office/drawing/2014/main" id="{F6654B16-99C7-E16C-09BF-7F632EEB5A1E}"/>
                </a:ext>
              </a:extLst>
            </p:cNvPr>
            <p:cNvGrpSpPr/>
            <p:nvPr/>
          </p:nvGrpSpPr>
          <p:grpSpPr>
            <a:xfrm>
              <a:off x="20664916" y="14487447"/>
              <a:ext cx="649609" cy="649608"/>
              <a:chOff x="12131209" y="11563837"/>
              <a:chExt cx="720000" cy="720000"/>
            </a:xfrm>
          </p:grpSpPr>
          <p:sp>
            <p:nvSpPr>
              <p:cNvPr id="120" name="Oval 119">
                <a:extLst>
                  <a:ext uri="{FF2B5EF4-FFF2-40B4-BE49-F238E27FC236}">
                    <a16:creationId xmlns:a16="http://schemas.microsoft.com/office/drawing/2014/main" id="{09641F23-1D6D-4856-9B51-68BCEFE9B708}"/>
                  </a:ext>
                </a:extLst>
              </p:cNvPr>
              <p:cNvSpPr>
                <a:spLocks noChangeAspect="1"/>
              </p:cNvSpPr>
              <p:nvPr/>
            </p:nvSpPr>
            <p:spPr>
              <a:xfrm>
                <a:off x="12131209" y="11563837"/>
                <a:ext cx="720000" cy="720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22" name="TextBox 121">
                <a:extLst>
                  <a:ext uri="{FF2B5EF4-FFF2-40B4-BE49-F238E27FC236}">
                    <a16:creationId xmlns:a16="http://schemas.microsoft.com/office/drawing/2014/main" id="{613B7863-73E7-7C28-343E-1F5440D4CB53}"/>
                  </a:ext>
                </a:extLst>
              </p:cNvPr>
              <p:cNvSpPr txBox="1"/>
              <p:nvPr/>
            </p:nvSpPr>
            <p:spPr>
              <a:xfrm>
                <a:off x="12211423" y="11600671"/>
                <a:ext cx="539795" cy="656316"/>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2</a:t>
                </a:r>
              </a:p>
            </p:txBody>
          </p:sp>
        </p:grpSp>
        <p:grpSp>
          <p:nvGrpSpPr>
            <p:cNvPr id="199" name="Group 198">
              <a:extLst>
                <a:ext uri="{FF2B5EF4-FFF2-40B4-BE49-F238E27FC236}">
                  <a16:creationId xmlns:a16="http://schemas.microsoft.com/office/drawing/2014/main" id="{0FCD6E4E-8E92-1416-ADA0-6FF2529EB0E2}"/>
                </a:ext>
              </a:extLst>
            </p:cNvPr>
            <p:cNvGrpSpPr/>
            <p:nvPr/>
          </p:nvGrpSpPr>
          <p:grpSpPr>
            <a:xfrm>
              <a:off x="21982988" y="10539540"/>
              <a:ext cx="5864521" cy="4781882"/>
              <a:chOff x="25303376" y="8326824"/>
              <a:chExt cx="6499991" cy="5300039"/>
            </a:xfrm>
          </p:grpSpPr>
          <p:sp>
            <p:nvSpPr>
              <p:cNvPr id="82" name="Freeform 81">
                <a:extLst>
                  <a:ext uri="{FF2B5EF4-FFF2-40B4-BE49-F238E27FC236}">
                    <a16:creationId xmlns:a16="http://schemas.microsoft.com/office/drawing/2014/main" id="{17037220-FF37-9266-6EC4-4BA972CF0307}"/>
                  </a:ext>
                </a:extLst>
              </p:cNvPr>
              <p:cNvSpPr/>
              <p:nvPr/>
            </p:nvSpPr>
            <p:spPr>
              <a:xfrm>
                <a:off x="26065167" y="8421492"/>
                <a:ext cx="5648454" cy="5205371"/>
              </a:xfrm>
              <a:custGeom>
                <a:avLst/>
                <a:gdLst>
                  <a:gd name="connsiteX0" fmla="*/ 503508 w 5648454"/>
                  <a:gd name="connsiteY0" fmla="*/ 0 h 5205371"/>
                  <a:gd name="connsiteX1" fmla="*/ 2517480 w 5648454"/>
                  <a:gd name="connsiteY1" fmla="*/ 0 h 5205371"/>
                  <a:gd name="connsiteX2" fmla="*/ 3020988 w 5648454"/>
                  <a:gd name="connsiteY2" fmla="*/ 503508 h 5205371"/>
                  <a:gd name="connsiteX3" fmla="*/ 3020988 w 5648454"/>
                  <a:gd name="connsiteY3" fmla="*/ 3549467 h 5205371"/>
                  <a:gd name="connsiteX4" fmla="*/ 5373040 w 5648454"/>
                  <a:gd name="connsiteY4" fmla="*/ 3549467 h 5205371"/>
                  <a:gd name="connsiteX5" fmla="*/ 5648454 w 5648454"/>
                  <a:gd name="connsiteY5" fmla="*/ 3824881 h 5205371"/>
                  <a:gd name="connsiteX6" fmla="*/ 5648454 w 5648454"/>
                  <a:gd name="connsiteY6" fmla="*/ 4926502 h 5205371"/>
                  <a:gd name="connsiteX7" fmla="*/ 5373040 w 5648454"/>
                  <a:gd name="connsiteY7" fmla="*/ 5201916 h 5205371"/>
                  <a:gd name="connsiteX8" fmla="*/ 2551754 w 5648454"/>
                  <a:gd name="connsiteY8" fmla="*/ 5201916 h 5205371"/>
                  <a:gd name="connsiteX9" fmla="*/ 2517480 w 5648454"/>
                  <a:gd name="connsiteY9" fmla="*/ 5205371 h 5205371"/>
                  <a:gd name="connsiteX10" fmla="*/ 503508 w 5648454"/>
                  <a:gd name="connsiteY10" fmla="*/ 5205371 h 5205371"/>
                  <a:gd name="connsiteX11" fmla="*/ 0 w 5648454"/>
                  <a:gd name="connsiteY11" fmla="*/ 4701863 h 5205371"/>
                  <a:gd name="connsiteX12" fmla="*/ 0 w 5648454"/>
                  <a:gd name="connsiteY12" fmla="*/ 503508 h 5205371"/>
                  <a:gd name="connsiteX13" fmla="*/ 503508 w 5648454"/>
                  <a:gd name="connsiteY13" fmla="*/ 0 h 5205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48454" h="5205371">
                    <a:moveTo>
                      <a:pt x="503508" y="0"/>
                    </a:moveTo>
                    <a:lnTo>
                      <a:pt x="2517480" y="0"/>
                    </a:lnTo>
                    <a:cubicBezTo>
                      <a:pt x="2795560" y="0"/>
                      <a:pt x="3020988" y="225428"/>
                      <a:pt x="3020988" y="503508"/>
                    </a:cubicBezTo>
                    <a:lnTo>
                      <a:pt x="3020988" y="3549467"/>
                    </a:lnTo>
                    <a:lnTo>
                      <a:pt x="5373040" y="3549467"/>
                    </a:lnTo>
                    <a:cubicBezTo>
                      <a:pt x="5525148" y="3549467"/>
                      <a:pt x="5648454" y="3672774"/>
                      <a:pt x="5648454" y="3824881"/>
                    </a:cubicBezTo>
                    <a:lnTo>
                      <a:pt x="5648454" y="4926502"/>
                    </a:lnTo>
                    <a:cubicBezTo>
                      <a:pt x="5648454" y="5078609"/>
                      <a:pt x="5525148" y="5201916"/>
                      <a:pt x="5373040" y="5201916"/>
                    </a:cubicBezTo>
                    <a:lnTo>
                      <a:pt x="2551754" y="5201916"/>
                    </a:lnTo>
                    <a:lnTo>
                      <a:pt x="2517480" y="5205371"/>
                    </a:lnTo>
                    <a:lnTo>
                      <a:pt x="503508" y="5205371"/>
                    </a:lnTo>
                    <a:cubicBezTo>
                      <a:pt x="225428" y="5205371"/>
                      <a:pt x="0" y="4979943"/>
                      <a:pt x="0" y="4701863"/>
                    </a:cubicBezTo>
                    <a:lnTo>
                      <a:pt x="0" y="503508"/>
                    </a:lnTo>
                    <a:cubicBezTo>
                      <a:pt x="0" y="225428"/>
                      <a:pt x="225428" y="0"/>
                      <a:pt x="503508" y="0"/>
                    </a:cubicBezTo>
                    <a:close/>
                  </a:path>
                </a:pathLst>
              </a:cu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24"/>
              </a:p>
            </p:txBody>
          </p:sp>
          <p:grpSp>
            <p:nvGrpSpPr>
              <p:cNvPr id="88" name="Group 87">
                <a:extLst>
                  <a:ext uri="{FF2B5EF4-FFF2-40B4-BE49-F238E27FC236}">
                    <a16:creationId xmlns:a16="http://schemas.microsoft.com/office/drawing/2014/main" id="{AD306338-43E0-2F86-E8EC-0455E44B0FA4}"/>
                  </a:ext>
                </a:extLst>
              </p:cNvPr>
              <p:cNvGrpSpPr/>
              <p:nvPr/>
            </p:nvGrpSpPr>
            <p:grpSpPr>
              <a:xfrm>
                <a:off x="28204427" y="12254819"/>
                <a:ext cx="3598940" cy="1108037"/>
                <a:chOff x="29017441" y="11502918"/>
                <a:chExt cx="3598940" cy="1108037"/>
              </a:xfrm>
            </p:grpSpPr>
            <p:cxnSp>
              <p:nvCxnSpPr>
                <p:cNvPr id="38" name="Straight Connector 37">
                  <a:extLst>
                    <a:ext uri="{FF2B5EF4-FFF2-40B4-BE49-F238E27FC236}">
                      <a16:creationId xmlns:a16="http://schemas.microsoft.com/office/drawing/2014/main" id="{05D96F05-EDC9-8892-0C93-3DFD60F96D14}"/>
                    </a:ext>
                  </a:extLst>
                </p:cNvPr>
                <p:cNvCxnSpPr>
                  <a:cxnSpLocks/>
                </p:cNvCxnSpPr>
                <p:nvPr/>
              </p:nvCxnSpPr>
              <p:spPr>
                <a:xfrm flipV="1">
                  <a:off x="29017441" y="11630649"/>
                  <a:ext cx="0" cy="82207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465F32F-9BEA-933D-73A5-E965DC48D9B9}"/>
                    </a:ext>
                  </a:extLst>
                </p:cNvPr>
                <p:cNvSpPr txBox="1"/>
                <p:nvPr/>
              </p:nvSpPr>
              <p:spPr>
                <a:xfrm>
                  <a:off x="29162770" y="11502918"/>
                  <a:ext cx="3453611"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3D-printed housing </a:t>
                  </a:r>
                  <a:r>
                    <a:rPr lang="en-US" sz="1985" i="1" dirty="0">
                      <a:solidFill>
                        <a:srgbClr val="002060"/>
                      </a:solidFill>
                      <a:latin typeface="Aptos" panose="020B0004020202020204" pitchFamily="34" charset="0"/>
                      <a:cs typeface="Arial" panose="020B0604020202020204" pitchFamily="34" charset="0"/>
                    </a:rPr>
                    <a:t>for a stepper motor-activated  Fisher </a:t>
                  </a:r>
                  <a:r>
                    <a:rPr lang="en-US" sz="1985" b="1" i="1" dirty="0">
                      <a:solidFill>
                        <a:srgbClr val="002060"/>
                      </a:solidFill>
                      <a:latin typeface="Aptos" panose="020B0004020202020204" pitchFamily="34" charset="0"/>
                      <a:cs typeface="Arial" panose="020B0604020202020204" pitchFamily="34" charset="0"/>
                    </a:rPr>
                    <a:t>vortexer</a:t>
                  </a:r>
                  <a:endParaRPr lang="en-US" sz="1985" i="1" dirty="0">
                    <a:solidFill>
                      <a:srgbClr val="002060"/>
                    </a:solidFill>
                    <a:latin typeface="Aptos" panose="020B0004020202020204" pitchFamily="34" charset="0"/>
                    <a:cs typeface="Arial" panose="020B0604020202020204" pitchFamily="34" charset="0"/>
                  </a:endParaRPr>
                </a:p>
              </p:txBody>
            </p:sp>
          </p:grpSp>
          <p:pic>
            <p:nvPicPr>
              <p:cNvPr id="94" name="Picture 93">
                <a:extLst>
                  <a:ext uri="{FF2B5EF4-FFF2-40B4-BE49-F238E27FC236}">
                    <a16:creationId xmlns:a16="http://schemas.microsoft.com/office/drawing/2014/main" id="{C1355FF2-7603-73E9-81DC-1264A854D89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5303376" y="8326824"/>
                <a:ext cx="3720447" cy="4957732"/>
              </a:xfrm>
              <a:prstGeom prst="rect">
                <a:avLst/>
              </a:prstGeom>
            </p:spPr>
          </p:pic>
        </p:grpSp>
        <p:grpSp>
          <p:nvGrpSpPr>
            <p:cNvPr id="50" name="Group 49">
              <a:extLst>
                <a:ext uri="{FF2B5EF4-FFF2-40B4-BE49-F238E27FC236}">
                  <a16:creationId xmlns:a16="http://schemas.microsoft.com/office/drawing/2014/main" id="{BA737ADE-F4E6-5388-027C-92EDD3E6333D}"/>
                </a:ext>
              </a:extLst>
            </p:cNvPr>
            <p:cNvGrpSpPr/>
            <p:nvPr/>
          </p:nvGrpSpPr>
          <p:grpSpPr>
            <a:xfrm>
              <a:off x="22481945" y="14916106"/>
              <a:ext cx="649609" cy="649609"/>
              <a:chOff x="12131209" y="11563837"/>
              <a:chExt cx="720000" cy="720000"/>
            </a:xfrm>
            <a:solidFill>
              <a:srgbClr val="FF0000"/>
            </a:solidFill>
          </p:grpSpPr>
          <p:sp>
            <p:nvSpPr>
              <p:cNvPr id="52" name="Oval 51">
                <a:extLst>
                  <a:ext uri="{FF2B5EF4-FFF2-40B4-BE49-F238E27FC236}">
                    <a16:creationId xmlns:a16="http://schemas.microsoft.com/office/drawing/2014/main" id="{6A298FB9-98FD-EAAC-A61C-A0C0EFDDFD9E}"/>
                  </a:ext>
                </a:extLst>
              </p:cNvPr>
              <p:cNvSpPr>
                <a:spLocks noChangeAspect="1"/>
              </p:cNvSpPr>
              <p:nvPr/>
            </p:nvSpPr>
            <p:spPr>
              <a:xfrm>
                <a:off x="12131209" y="11563837"/>
                <a:ext cx="720000" cy="720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58" name="TextBox 57">
                <a:extLst>
                  <a:ext uri="{FF2B5EF4-FFF2-40B4-BE49-F238E27FC236}">
                    <a16:creationId xmlns:a16="http://schemas.microsoft.com/office/drawing/2014/main" id="{0DD8E698-9ACE-74D2-AB8E-9923DCCAC4B9}"/>
                  </a:ext>
                </a:extLst>
              </p:cNvPr>
              <p:cNvSpPr txBox="1"/>
              <p:nvPr/>
            </p:nvSpPr>
            <p:spPr>
              <a:xfrm>
                <a:off x="12223634" y="11606241"/>
                <a:ext cx="539795" cy="656315"/>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3</a:t>
                </a:r>
              </a:p>
            </p:txBody>
          </p:sp>
        </p:grpSp>
        <p:grpSp>
          <p:nvGrpSpPr>
            <p:cNvPr id="123" name="Group 122">
              <a:extLst>
                <a:ext uri="{FF2B5EF4-FFF2-40B4-BE49-F238E27FC236}">
                  <a16:creationId xmlns:a16="http://schemas.microsoft.com/office/drawing/2014/main" id="{4FA9FC1E-4B8B-36B1-9689-D56DD73B53D6}"/>
                </a:ext>
              </a:extLst>
            </p:cNvPr>
            <p:cNvGrpSpPr/>
            <p:nvPr/>
          </p:nvGrpSpPr>
          <p:grpSpPr>
            <a:xfrm>
              <a:off x="23414211" y="18186641"/>
              <a:ext cx="649609" cy="649609"/>
              <a:chOff x="12131209" y="11563837"/>
              <a:chExt cx="720000" cy="720000"/>
            </a:xfrm>
            <a:solidFill>
              <a:srgbClr val="FF0000"/>
            </a:solidFill>
          </p:grpSpPr>
          <p:sp>
            <p:nvSpPr>
              <p:cNvPr id="124" name="Oval 123">
                <a:extLst>
                  <a:ext uri="{FF2B5EF4-FFF2-40B4-BE49-F238E27FC236}">
                    <a16:creationId xmlns:a16="http://schemas.microsoft.com/office/drawing/2014/main" id="{D0E55FCC-E778-364B-50A9-3ADB4B9ED64F}"/>
                  </a:ext>
                </a:extLst>
              </p:cNvPr>
              <p:cNvSpPr>
                <a:spLocks noChangeAspect="1"/>
              </p:cNvSpPr>
              <p:nvPr/>
            </p:nvSpPr>
            <p:spPr>
              <a:xfrm>
                <a:off x="12131209" y="11563837"/>
                <a:ext cx="720000" cy="720000"/>
              </a:xfrm>
              <a:prstGeom prst="ellipse">
                <a:avLst/>
              </a:prstGeom>
              <a:solidFill>
                <a:srgbClr val="FF9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25" name="TextBox 124">
                <a:extLst>
                  <a:ext uri="{FF2B5EF4-FFF2-40B4-BE49-F238E27FC236}">
                    <a16:creationId xmlns:a16="http://schemas.microsoft.com/office/drawing/2014/main" id="{6021962C-531E-1B18-8EFA-258BDC170FE9}"/>
                  </a:ext>
                </a:extLst>
              </p:cNvPr>
              <p:cNvSpPr txBox="1"/>
              <p:nvPr/>
            </p:nvSpPr>
            <p:spPr>
              <a:xfrm>
                <a:off x="12221311" y="11605301"/>
                <a:ext cx="539795" cy="656315"/>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4</a:t>
                </a:r>
              </a:p>
            </p:txBody>
          </p:sp>
        </p:grpSp>
        <p:grpSp>
          <p:nvGrpSpPr>
            <p:cNvPr id="220" name="Group 219">
              <a:extLst>
                <a:ext uri="{FF2B5EF4-FFF2-40B4-BE49-F238E27FC236}">
                  <a16:creationId xmlns:a16="http://schemas.microsoft.com/office/drawing/2014/main" id="{47E6E817-6139-6461-C958-EE3955AE4C00}"/>
                </a:ext>
              </a:extLst>
            </p:cNvPr>
            <p:cNvGrpSpPr/>
            <p:nvPr/>
          </p:nvGrpSpPr>
          <p:grpSpPr>
            <a:xfrm flipH="1">
              <a:off x="12397525" y="25056794"/>
              <a:ext cx="3817211" cy="2813704"/>
              <a:chOff x="12812633" y="23616340"/>
              <a:chExt cx="4230838" cy="3118592"/>
            </a:xfrm>
          </p:grpSpPr>
          <p:sp>
            <p:nvSpPr>
              <p:cNvPr id="181" name="Freeform 180">
                <a:extLst>
                  <a:ext uri="{FF2B5EF4-FFF2-40B4-BE49-F238E27FC236}">
                    <a16:creationId xmlns:a16="http://schemas.microsoft.com/office/drawing/2014/main" id="{D0BE18C7-82DA-938F-178F-6984FD3127E6}"/>
                  </a:ext>
                </a:extLst>
              </p:cNvPr>
              <p:cNvSpPr/>
              <p:nvPr/>
            </p:nvSpPr>
            <p:spPr>
              <a:xfrm flipH="1">
                <a:off x="12812633" y="23616340"/>
                <a:ext cx="4230838" cy="3118592"/>
              </a:xfrm>
              <a:custGeom>
                <a:avLst/>
                <a:gdLst>
                  <a:gd name="connsiteX0" fmla="*/ 227707 w 4230838"/>
                  <a:gd name="connsiteY0" fmla="*/ 0 h 3118592"/>
                  <a:gd name="connsiteX1" fmla="*/ 1769196 w 4230838"/>
                  <a:gd name="connsiteY1" fmla="*/ 0 h 3118592"/>
                  <a:gd name="connsiteX2" fmla="*/ 1979009 w 4230838"/>
                  <a:gd name="connsiteY2" fmla="*/ 139074 h 3118592"/>
                  <a:gd name="connsiteX3" fmla="*/ 1979956 w 4230838"/>
                  <a:gd name="connsiteY3" fmla="*/ 143764 h 3118592"/>
                  <a:gd name="connsiteX4" fmla="*/ 3976847 w 4230838"/>
                  <a:gd name="connsiteY4" fmla="*/ 143764 h 3118592"/>
                  <a:gd name="connsiteX5" fmla="*/ 4230838 w 4230838"/>
                  <a:gd name="connsiteY5" fmla="*/ 397754 h 3118592"/>
                  <a:gd name="connsiteX6" fmla="*/ 4230838 w 4230838"/>
                  <a:gd name="connsiteY6" fmla="*/ 1413684 h 3118592"/>
                  <a:gd name="connsiteX7" fmla="*/ 3976847 w 4230838"/>
                  <a:gd name="connsiteY7" fmla="*/ 1667676 h 3118592"/>
                  <a:gd name="connsiteX8" fmla="*/ 1996903 w 4230838"/>
                  <a:gd name="connsiteY8" fmla="*/ 1667676 h 3118592"/>
                  <a:gd name="connsiteX9" fmla="*/ 1996903 w 4230838"/>
                  <a:gd name="connsiteY9" fmla="*/ 2890884 h 3118592"/>
                  <a:gd name="connsiteX10" fmla="*/ 1769196 w 4230838"/>
                  <a:gd name="connsiteY10" fmla="*/ 3118592 h 3118592"/>
                  <a:gd name="connsiteX11" fmla="*/ 227707 w 4230838"/>
                  <a:gd name="connsiteY11" fmla="*/ 3118592 h 3118592"/>
                  <a:gd name="connsiteX12" fmla="*/ 0 w 4230838"/>
                  <a:gd name="connsiteY12" fmla="*/ 2890884 h 3118592"/>
                  <a:gd name="connsiteX13" fmla="*/ 0 w 4230838"/>
                  <a:gd name="connsiteY13" fmla="*/ 227708 h 3118592"/>
                  <a:gd name="connsiteX14" fmla="*/ 227707 w 4230838"/>
                  <a:gd name="connsiteY14" fmla="*/ 0 h 311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30838" h="3118592">
                    <a:moveTo>
                      <a:pt x="227707" y="0"/>
                    </a:moveTo>
                    <a:lnTo>
                      <a:pt x="1769196" y="0"/>
                    </a:lnTo>
                    <a:cubicBezTo>
                      <a:pt x="1863515" y="0"/>
                      <a:pt x="1944441" y="57346"/>
                      <a:pt x="1979009" y="139074"/>
                    </a:cubicBezTo>
                    <a:lnTo>
                      <a:pt x="1979956" y="143764"/>
                    </a:lnTo>
                    <a:lnTo>
                      <a:pt x="3976847" y="143764"/>
                    </a:lnTo>
                    <a:cubicBezTo>
                      <a:pt x="4117122" y="143764"/>
                      <a:pt x="4230838" y="257480"/>
                      <a:pt x="4230838" y="397754"/>
                    </a:cubicBezTo>
                    <a:lnTo>
                      <a:pt x="4230838" y="1413684"/>
                    </a:lnTo>
                    <a:cubicBezTo>
                      <a:pt x="4230838" y="1553960"/>
                      <a:pt x="4117122" y="1667676"/>
                      <a:pt x="3976847" y="1667676"/>
                    </a:cubicBezTo>
                    <a:lnTo>
                      <a:pt x="1996903" y="1667676"/>
                    </a:lnTo>
                    <a:lnTo>
                      <a:pt x="1996903" y="2890884"/>
                    </a:lnTo>
                    <a:cubicBezTo>
                      <a:pt x="1996903" y="3016644"/>
                      <a:pt x="1894955" y="3118592"/>
                      <a:pt x="1769196" y="3118592"/>
                    </a:cubicBezTo>
                    <a:lnTo>
                      <a:pt x="227707" y="3118592"/>
                    </a:lnTo>
                    <a:cubicBezTo>
                      <a:pt x="101948" y="3118592"/>
                      <a:pt x="0" y="3016644"/>
                      <a:pt x="0" y="2890884"/>
                    </a:cubicBezTo>
                    <a:lnTo>
                      <a:pt x="0" y="227708"/>
                    </a:lnTo>
                    <a:cubicBezTo>
                      <a:pt x="0" y="101948"/>
                      <a:pt x="101948" y="0"/>
                      <a:pt x="227707" y="0"/>
                    </a:cubicBezTo>
                    <a:close/>
                  </a:path>
                </a:pathLst>
              </a:cu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24"/>
              </a:p>
            </p:txBody>
          </p:sp>
          <p:grpSp>
            <p:nvGrpSpPr>
              <p:cNvPr id="180" name="Group 179">
                <a:extLst>
                  <a:ext uri="{FF2B5EF4-FFF2-40B4-BE49-F238E27FC236}">
                    <a16:creationId xmlns:a16="http://schemas.microsoft.com/office/drawing/2014/main" id="{6476D3E3-C6C8-01A9-40B1-F5D36B6C74F1}"/>
                  </a:ext>
                </a:extLst>
              </p:cNvPr>
              <p:cNvGrpSpPr/>
              <p:nvPr/>
            </p:nvGrpSpPr>
            <p:grpSpPr>
              <a:xfrm>
                <a:off x="12812633" y="23981828"/>
                <a:ext cx="2204627" cy="1038160"/>
                <a:chOff x="12611606" y="23848161"/>
                <a:chExt cx="2204627" cy="1038160"/>
              </a:xfrm>
            </p:grpSpPr>
            <p:sp>
              <p:nvSpPr>
                <p:cNvPr id="208" name="TextBox 207">
                  <a:extLst>
                    <a:ext uri="{FF2B5EF4-FFF2-40B4-BE49-F238E27FC236}">
                      <a16:creationId xmlns:a16="http://schemas.microsoft.com/office/drawing/2014/main" id="{2F8A96C5-10F5-C2C0-FB8B-40D5B27C04AA}"/>
                    </a:ext>
                  </a:extLst>
                </p:cNvPr>
                <p:cNvSpPr txBox="1"/>
                <p:nvPr/>
              </p:nvSpPr>
              <p:spPr>
                <a:xfrm>
                  <a:off x="12611606" y="23848161"/>
                  <a:ext cx="2059620" cy="1009976"/>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Agilent HPLC </a:t>
                  </a:r>
                  <a:r>
                    <a:rPr lang="en-US" sz="1985" i="1" dirty="0">
                      <a:solidFill>
                        <a:srgbClr val="002060"/>
                      </a:solidFill>
                      <a:latin typeface="Aptos" panose="020B0004020202020204" pitchFamily="34" charset="0"/>
                      <a:cs typeface="Arial" panose="020B0604020202020204" pitchFamily="34" charset="0"/>
                    </a:rPr>
                    <a:t>for substance analysis</a:t>
                  </a:r>
                </a:p>
              </p:txBody>
            </p:sp>
            <p:cxnSp>
              <p:nvCxnSpPr>
                <p:cNvPr id="210" name="Straight Connector 209">
                  <a:extLst>
                    <a:ext uri="{FF2B5EF4-FFF2-40B4-BE49-F238E27FC236}">
                      <a16:creationId xmlns:a16="http://schemas.microsoft.com/office/drawing/2014/main" id="{D73E33AB-3354-306C-00A0-2D03201B917D}"/>
                    </a:ext>
                  </a:extLst>
                </p:cNvPr>
                <p:cNvCxnSpPr>
                  <a:cxnSpLocks/>
                </p:cNvCxnSpPr>
                <p:nvPr/>
              </p:nvCxnSpPr>
              <p:spPr>
                <a:xfrm>
                  <a:off x="14816233" y="23917997"/>
                  <a:ext cx="0" cy="968324"/>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grpSp>
          <p:nvGrpSpPr>
            <p:cNvPr id="214" name="Group 213">
              <a:extLst>
                <a:ext uri="{FF2B5EF4-FFF2-40B4-BE49-F238E27FC236}">
                  <a16:creationId xmlns:a16="http://schemas.microsoft.com/office/drawing/2014/main" id="{C142A433-BBBA-F2B5-032C-B65067E4C1B3}"/>
                </a:ext>
              </a:extLst>
            </p:cNvPr>
            <p:cNvGrpSpPr/>
            <p:nvPr/>
          </p:nvGrpSpPr>
          <p:grpSpPr>
            <a:xfrm>
              <a:off x="17563660" y="24880785"/>
              <a:ext cx="649609" cy="649608"/>
              <a:chOff x="12131209" y="11563837"/>
              <a:chExt cx="720000" cy="720000"/>
            </a:xfrm>
            <a:solidFill>
              <a:srgbClr val="00B050"/>
            </a:solidFill>
          </p:grpSpPr>
          <p:sp>
            <p:nvSpPr>
              <p:cNvPr id="215" name="Oval 214">
                <a:extLst>
                  <a:ext uri="{FF2B5EF4-FFF2-40B4-BE49-F238E27FC236}">
                    <a16:creationId xmlns:a16="http://schemas.microsoft.com/office/drawing/2014/main" id="{A5FB4F9E-62DD-94DA-D0C0-6F8B7EE22CF2}"/>
                  </a:ext>
                </a:extLst>
              </p:cNvPr>
              <p:cNvSpPr>
                <a:spLocks noChangeAspect="1"/>
              </p:cNvSpPr>
              <p:nvPr/>
            </p:nvSpPr>
            <p:spPr>
              <a:xfrm>
                <a:off x="12131209" y="11563837"/>
                <a:ext cx="720000" cy="720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16" name="TextBox 215">
                <a:extLst>
                  <a:ext uri="{FF2B5EF4-FFF2-40B4-BE49-F238E27FC236}">
                    <a16:creationId xmlns:a16="http://schemas.microsoft.com/office/drawing/2014/main" id="{524C5862-30B8-F600-7E07-C908C99D3E89}"/>
                  </a:ext>
                </a:extLst>
              </p:cNvPr>
              <p:cNvSpPr txBox="1"/>
              <p:nvPr/>
            </p:nvSpPr>
            <p:spPr>
              <a:xfrm>
                <a:off x="12221311" y="11600671"/>
                <a:ext cx="539795" cy="656316"/>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8</a:t>
                </a:r>
              </a:p>
            </p:txBody>
          </p:sp>
        </p:grpSp>
        <p:grpSp>
          <p:nvGrpSpPr>
            <p:cNvPr id="206" name="Group 205">
              <a:extLst>
                <a:ext uri="{FF2B5EF4-FFF2-40B4-BE49-F238E27FC236}">
                  <a16:creationId xmlns:a16="http://schemas.microsoft.com/office/drawing/2014/main" id="{211EAC52-DE69-B4DA-3644-5665C4DED011}"/>
                </a:ext>
              </a:extLst>
            </p:cNvPr>
            <p:cNvGrpSpPr/>
            <p:nvPr/>
          </p:nvGrpSpPr>
          <p:grpSpPr>
            <a:xfrm>
              <a:off x="24221321" y="22178047"/>
              <a:ext cx="5262602" cy="3625300"/>
              <a:chOff x="26788764" y="19864297"/>
              <a:chExt cx="5832849" cy="4018132"/>
            </a:xfrm>
          </p:grpSpPr>
          <p:grpSp>
            <p:nvGrpSpPr>
              <p:cNvPr id="169" name="Group 168">
                <a:extLst>
                  <a:ext uri="{FF2B5EF4-FFF2-40B4-BE49-F238E27FC236}">
                    <a16:creationId xmlns:a16="http://schemas.microsoft.com/office/drawing/2014/main" id="{A77AEE18-E339-FF08-1453-563ADDC4D56B}"/>
                  </a:ext>
                </a:extLst>
              </p:cNvPr>
              <p:cNvGrpSpPr/>
              <p:nvPr/>
            </p:nvGrpSpPr>
            <p:grpSpPr>
              <a:xfrm flipH="1">
                <a:off x="26788764" y="19864297"/>
                <a:ext cx="5832849" cy="4018132"/>
                <a:chOff x="26821341" y="24934012"/>
                <a:chExt cx="5832849" cy="4018132"/>
              </a:xfrm>
            </p:grpSpPr>
            <p:sp>
              <p:nvSpPr>
                <p:cNvPr id="149" name="Freeform: Shape 148">
                  <a:extLst>
                    <a:ext uri="{FF2B5EF4-FFF2-40B4-BE49-F238E27FC236}">
                      <a16:creationId xmlns:a16="http://schemas.microsoft.com/office/drawing/2014/main" id="{B541DBA6-FADF-1556-332F-C14AD1BBB86A}"/>
                    </a:ext>
                  </a:extLst>
                </p:cNvPr>
                <p:cNvSpPr/>
                <p:nvPr/>
              </p:nvSpPr>
              <p:spPr>
                <a:xfrm flipV="1">
                  <a:off x="26821341" y="24934012"/>
                  <a:ext cx="5806091" cy="4018132"/>
                </a:xfrm>
                <a:custGeom>
                  <a:avLst/>
                  <a:gdLst>
                    <a:gd name="connsiteX0" fmla="*/ 445856 w 5210360"/>
                    <a:gd name="connsiteY0" fmla="*/ 0 h 4018132"/>
                    <a:gd name="connsiteX1" fmla="*/ 2229236 w 5210360"/>
                    <a:gd name="connsiteY1" fmla="*/ 0 h 4018132"/>
                    <a:gd name="connsiteX2" fmla="*/ 2675092 w 5210360"/>
                    <a:gd name="connsiteY2" fmla="*/ 445858 h 4018132"/>
                    <a:gd name="connsiteX3" fmla="*/ 2675092 w 5210360"/>
                    <a:gd name="connsiteY3" fmla="*/ 1939556 h 4018132"/>
                    <a:gd name="connsiteX4" fmla="*/ 4917966 w 5210360"/>
                    <a:gd name="connsiteY4" fmla="*/ 1939556 h 4018132"/>
                    <a:gd name="connsiteX5" fmla="*/ 5210360 w 5210360"/>
                    <a:gd name="connsiteY5" fmla="*/ 2231950 h 4018132"/>
                    <a:gd name="connsiteX6" fmla="*/ 5210360 w 5210360"/>
                    <a:gd name="connsiteY6" fmla="*/ 3401488 h 4018132"/>
                    <a:gd name="connsiteX7" fmla="*/ 4917966 w 5210360"/>
                    <a:gd name="connsiteY7" fmla="*/ 3693882 h 4018132"/>
                    <a:gd name="connsiteX8" fmla="*/ 2656178 w 5210360"/>
                    <a:gd name="connsiteY8" fmla="*/ 3693882 h 4018132"/>
                    <a:gd name="connsiteX9" fmla="*/ 2640054 w 5210360"/>
                    <a:gd name="connsiteY9" fmla="*/ 3745822 h 4018132"/>
                    <a:gd name="connsiteX10" fmla="*/ 2229236 w 5210360"/>
                    <a:gd name="connsiteY10" fmla="*/ 4018132 h 4018132"/>
                    <a:gd name="connsiteX11" fmla="*/ 445856 w 5210360"/>
                    <a:gd name="connsiteY11" fmla="*/ 4018132 h 4018132"/>
                    <a:gd name="connsiteX12" fmla="*/ 0 w 5210360"/>
                    <a:gd name="connsiteY12" fmla="*/ 3572274 h 4018132"/>
                    <a:gd name="connsiteX13" fmla="*/ 0 w 5210360"/>
                    <a:gd name="connsiteY13" fmla="*/ 445858 h 4018132"/>
                    <a:gd name="connsiteX14" fmla="*/ 445856 w 5210360"/>
                    <a:gd name="connsiteY14" fmla="*/ 0 h 4018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10360" h="4018132">
                      <a:moveTo>
                        <a:pt x="445856" y="0"/>
                      </a:moveTo>
                      <a:lnTo>
                        <a:pt x="2229236" y="0"/>
                      </a:lnTo>
                      <a:cubicBezTo>
                        <a:pt x="2475476" y="0"/>
                        <a:pt x="2675092" y="199616"/>
                        <a:pt x="2675092" y="445858"/>
                      </a:cubicBezTo>
                      <a:lnTo>
                        <a:pt x="2675092" y="1939556"/>
                      </a:lnTo>
                      <a:lnTo>
                        <a:pt x="4917966" y="1939556"/>
                      </a:lnTo>
                      <a:cubicBezTo>
                        <a:pt x="5079452" y="1939556"/>
                        <a:pt x="5210360" y="2070464"/>
                        <a:pt x="5210360" y="2231950"/>
                      </a:cubicBezTo>
                      <a:lnTo>
                        <a:pt x="5210360" y="3401488"/>
                      </a:lnTo>
                      <a:cubicBezTo>
                        <a:pt x="5210360" y="3562972"/>
                        <a:pt x="5079452" y="3693882"/>
                        <a:pt x="4917966" y="3693882"/>
                      </a:cubicBezTo>
                      <a:lnTo>
                        <a:pt x="2656178" y="3693882"/>
                      </a:lnTo>
                      <a:lnTo>
                        <a:pt x="2640054" y="3745822"/>
                      </a:lnTo>
                      <a:cubicBezTo>
                        <a:pt x="2572370" y="3905848"/>
                        <a:pt x="2413916" y="4018132"/>
                        <a:pt x="2229236" y="4018132"/>
                      </a:cubicBezTo>
                      <a:lnTo>
                        <a:pt x="445856" y="4018132"/>
                      </a:lnTo>
                      <a:cubicBezTo>
                        <a:pt x="199616" y="4018132"/>
                        <a:pt x="0" y="3818516"/>
                        <a:pt x="0" y="3572274"/>
                      </a:cubicBezTo>
                      <a:lnTo>
                        <a:pt x="0" y="445858"/>
                      </a:lnTo>
                      <a:cubicBezTo>
                        <a:pt x="0" y="199616"/>
                        <a:pt x="199616" y="0"/>
                        <a:pt x="445856" y="0"/>
                      </a:cubicBezTo>
                      <a:close/>
                    </a:path>
                  </a:pathLst>
                </a:custGeom>
                <a:solidFill>
                  <a:srgbClr val="9DC3E6"/>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sz="1624"/>
                </a:p>
              </p:txBody>
            </p:sp>
            <p:pic>
              <p:nvPicPr>
                <p:cNvPr id="99" name="Picture 98" descr="A white and black round object&#10;&#10;Description automatically generated">
                  <a:extLst>
                    <a:ext uri="{FF2B5EF4-FFF2-40B4-BE49-F238E27FC236}">
                      <a16:creationId xmlns:a16="http://schemas.microsoft.com/office/drawing/2014/main" id="{5ACA408B-F31B-6B06-F125-FCACCC7B926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flipH="1">
                  <a:off x="27189403" y="25181665"/>
                  <a:ext cx="1988147" cy="3403791"/>
                </a:xfrm>
                <a:prstGeom prst="rect">
                  <a:avLst/>
                </a:prstGeom>
              </p:spPr>
            </p:pic>
            <p:sp>
              <p:nvSpPr>
                <p:cNvPr id="148" name="TextBox 147">
                  <a:extLst>
                    <a:ext uri="{FF2B5EF4-FFF2-40B4-BE49-F238E27FC236}">
                      <a16:creationId xmlns:a16="http://schemas.microsoft.com/office/drawing/2014/main" id="{9EED9CE9-C71D-6CB7-8837-4A5D3648F230}"/>
                    </a:ext>
                  </a:extLst>
                </p:cNvPr>
                <p:cNvSpPr txBox="1"/>
                <p:nvPr/>
              </p:nvSpPr>
              <p:spPr>
                <a:xfrm>
                  <a:off x="30026129" y="25441105"/>
                  <a:ext cx="2628061" cy="131858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r"/>
                  <a:r>
                    <a:rPr lang="en-US" sz="1985" b="1" i="1" dirty="0">
                      <a:solidFill>
                        <a:srgbClr val="002060"/>
                      </a:solidFill>
                      <a:latin typeface="Aptos" panose="020B0004020202020204" pitchFamily="34" charset="0"/>
                      <a:cs typeface="Arial" panose="020B0604020202020204" pitchFamily="34" charset="0"/>
                    </a:rPr>
                    <a:t>Barcode reader </a:t>
                  </a:r>
                  <a:r>
                    <a:rPr lang="en-US" sz="1985" i="1" dirty="0">
                      <a:solidFill>
                        <a:srgbClr val="002060"/>
                      </a:solidFill>
                      <a:latin typeface="Aptos" panose="020B0004020202020204" pitchFamily="34" charset="0"/>
                      <a:cs typeface="Arial" panose="020B0604020202020204" pitchFamily="34" charset="0"/>
                    </a:rPr>
                    <a:t>designed with  a Razer webcam and </a:t>
                  </a:r>
                  <a:r>
                    <a:rPr lang="en-US" sz="1985" b="1" i="1" dirty="0">
                      <a:solidFill>
                        <a:srgbClr val="002060"/>
                      </a:solidFill>
                      <a:latin typeface="Aptos" panose="020B0004020202020204" pitchFamily="34" charset="0"/>
                      <a:cs typeface="Arial" panose="020B0604020202020204" pitchFamily="34" charset="0"/>
                    </a:rPr>
                    <a:t>3D-printed mount</a:t>
                  </a:r>
                </a:p>
              </p:txBody>
            </p:sp>
            <p:cxnSp>
              <p:nvCxnSpPr>
                <p:cNvPr id="156" name="Straight Connector 155">
                  <a:extLst>
                    <a:ext uri="{FF2B5EF4-FFF2-40B4-BE49-F238E27FC236}">
                      <a16:creationId xmlns:a16="http://schemas.microsoft.com/office/drawing/2014/main" id="{5F9CA05D-CE4F-D691-3C17-DC91F5C8ACEE}"/>
                    </a:ext>
                  </a:extLst>
                </p:cNvPr>
                <p:cNvCxnSpPr>
                  <a:cxnSpLocks/>
                </p:cNvCxnSpPr>
                <p:nvPr/>
              </p:nvCxnSpPr>
              <p:spPr>
                <a:xfrm flipH="1" flipV="1">
                  <a:off x="29793350" y="27067411"/>
                  <a:ext cx="3001" cy="138944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cxnSp>
            <p:nvCxnSpPr>
              <p:cNvPr id="203" name="Straight Connector 202">
                <a:extLst>
                  <a:ext uri="{FF2B5EF4-FFF2-40B4-BE49-F238E27FC236}">
                    <a16:creationId xmlns:a16="http://schemas.microsoft.com/office/drawing/2014/main" id="{CCD658A9-3463-9400-DFFF-1A1508DCE0D8}"/>
                  </a:ext>
                </a:extLst>
              </p:cNvPr>
              <p:cNvCxnSpPr>
                <a:cxnSpLocks/>
              </p:cNvCxnSpPr>
              <p:nvPr/>
            </p:nvCxnSpPr>
            <p:spPr>
              <a:xfrm flipV="1">
                <a:off x="29646603" y="20493369"/>
                <a:ext cx="0" cy="116647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173" name="Group 172">
              <a:extLst>
                <a:ext uri="{FF2B5EF4-FFF2-40B4-BE49-F238E27FC236}">
                  <a16:creationId xmlns:a16="http://schemas.microsoft.com/office/drawing/2014/main" id="{22632262-A0DC-F7A8-155C-B8CBC881B12C}"/>
                </a:ext>
              </a:extLst>
            </p:cNvPr>
            <p:cNvGrpSpPr/>
            <p:nvPr/>
          </p:nvGrpSpPr>
          <p:grpSpPr>
            <a:xfrm>
              <a:off x="23934903" y="22197144"/>
              <a:ext cx="649609" cy="649608"/>
              <a:chOff x="12131209" y="11563837"/>
              <a:chExt cx="720000" cy="720000"/>
            </a:xfrm>
            <a:solidFill>
              <a:srgbClr val="00B050"/>
            </a:solidFill>
          </p:grpSpPr>
          <p:sp>
            <p:nvSpPr>
              <p:cNvPr id="174" name="Oval 173">
                <a:extLst>
                  <a:ext uri="{FF2B5EF4-FFF2-40B4-BE49-F238E27FC236}">
                    <a16:creationId xmlns:a16="http://schemas.microsoft.com/office/drawing/2014/main" id="{466E2297-B62A-36C5-0FEC-3ED9A2087C06}"/>
                  </a:ext>
                </a:extLst>
              </p:cNvPr>
              <p:cNvSpPr>
                <a:spLocks noChangeAspect="1"/>
              </p:cNvSpPr>
              <p:nvPr/>
            </p:nvSpPr>
            <p:spPr>
              <a:xfrm>
                <a:off x="12131209" y="11563837"/>
                <a:ext cx="720000" cy="720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75" name="TextBox 174">
                <a:extLst>
                  <a:ext uri="{FF2B5EF4-FFF2-40B4-BE49-F238E27FC236}">
                    <a16:creationId xmlns:a16="http://schemas.microsoft.com/office/drawing/2014/main" id="{0956C682-653E-74AA-47D6-C35724C2BD00}"/>
                  </a:ext>
                </a:extLst>
              </p:cNvPr>
              <p:cNvSpPr txBox="1"/>
              <p:nvPr/>
            </p:nvSpPr>
            <p:spPr>
              <a:xfrm>
                <a:off x="12213165" y="11600671"/>
                <a:ext cx="539795" cy="656316"/>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6</a:t>
                </a:r>
              </a:p>
            </p:txBody>
          </p:sp>
        </p:grpSp>
        <p:grpSp>
          <p:nvGrpSpPr>
            <p:cNvPr id="111" name="Group 110">
              <a:extLst>
                <a:ext uri="{FF2B5EF4-FFF2-40B4-BE49-F238E27FC236}">
                  <a16:creationId xmlns:a16="http://schemas.microsoft.com/office/drawing/2014/main" id="{75C1987A-6826-53E2-4949-859907FED473}"/>
                </a:ext>
              </a:extLst>
            </p:cNvPr>
            <p:cNvGrpSpPr/>
            <p:nvPr/>
          </p:nvGrpSpPr>
          <p:grpSpPr>
            <a:xfrm>
              <a:off x="10884914" y="14425859"/>
              <a:ext cx="649609" cy="649609"/>
              <a:chOff x="12131209" y="11563837"/>
              <a:chExt cx="720000" cy="720000"/>
            </a:xfrm>
          </p:grpSpPr>
          <p:sp>
            <p:nvSpPr>
              <p:cNvPr id="108" name="Oval 107">
                <a:extLst>
                  <a:ext uri="{FF2B5EF4-FFF2-40B4-BE49-F238E27FC236}">
                    <a16:creationId xmlns:a16="http://schemas.microsoft.com/office/drawing/2014/main" id="{8B1862E1-755C-4BAB-5C33-ABCB754B3313}"/>
                  </a:ext>
                </a:extLst>
              </p:cNvPr>
              <p:cNvSpPr>
                <a:spLocks noChangeAspect="1"/>
              </p:cNvSpPr>
              <p:nvPr/>
            </p:nvSpPr>
            <p:spPr>
              <a:xfrm>
                <a:off x="12131209" y="11563837"/>
                <a:ext cx="720000" cy="72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09" name="TextBox 108">
                <a:extLst>
                  <a:ext uri="{FF2B5EF4-FFF2-40B4-BE49-F238E27FC236}">
                    <a16:creationId xmlns:a16="http://schemas.microsoft.com/office/drawing/2014/main" id="{B4004CCA-CAB6-8806-7917-A4E409F322B2}"/>
                  </a:ext>
                </a:extLst>
              </p:cNvPr>
              <p:cNvSpPr txBox="1"/>
              <p:nvPr/>
            </p:nvSpPr>
            <p:spPr>
              <a:xfrm>
                <a:off x="12217896" y="11610954"/>
                <a:ext cx="539795" cy="656315"/>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1</a:t>
                </a:r>
              </a:p>
            </p:txBody>
          </p:sp>
        </p:grpSp>
        <p:grpSp>
          <p:nvGrpSpPr>
            <p:cNvPr id="269" name="Group 268">
              <a:extLst>
                <a:ext uri="{FF2B5EF4-FFF2-40B4-BE49-F238E27FC236}">
                  <a16:creationId xmlns:a16="http://schemas.microsoft.com/office/drawing/2014/main" id="{8B837FD0-0C2D-747B-C853-47F7BCC58D33}"/>
                </a:ext>
              </a:extLst>
            </p:cNvPr>
            <p:cNvGrpSpPr/>
            <p:nvPr/>
          </p:nvGrpSpPr>
          <p:grpSpPr>
            <a:xfrm>
              <a:off x="22431243" y="25059819"/>
              <a:ext cx="4036441" cy="2989738"/>
              <a:chOff x="24422350" y="23077157"/>
              <a:chExt cx="4473823" cy="3313701"/>
            </a:xfrm>
          </p:grpSpPr>
          <p:sp>
            <p:nvSpPr>
              <p:cNvPr id="258" name="Rounded Rectangle 257">
                <a:extLst>
                  <a:ext uri="{FF2B5EF4-FFF2-40B4-BE49-F238E27FC236}">
                    <a16:creationId xmlns:a16="http://schemas.microsoft.com/office/drawing/2014/main" id="{DA65E476-AA61-F082-D1B3-705FE19CF805}"/>
                  </a:ext>
                </a:extLst>
              </p:cNvPr>
              <p:cNvSpPr/>
              <p:nvPr/>
            </p:nvSpPr>
            <p:spPr>
              <a:xfrm>
                <a:off x="24422350" y="23123874"/>
                <a:ext cx="4473823" cy="3266984"/>
              </a:xfrm>
              <a:prstGeom prst="roundRect">
                <a:avLst>
                  <a:gd name="adj" fmla="val 13437"/>
                </a:avLst>
              </a:prstGeom>
              <a:solidFill>
                <a:schemeClr val="accent5">
                  <a:lumMod val="60000"/>
                  <a:lumOff val="40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a:p>
            </p:txBody>
          </p:sp>
          <p:grpSp>
            <p:nvGrpSpPr>
              <p:cNvPr id="244" name="Group 243">
                <a:extLst>
                  <a:ext uri="{FF2B5EF4-FFF2-40B4-BE49-F238E27FC236}">
                    <a16:creationId xmlns:a16="http://schemas.microsoft.com/office/drawing/2014/main" id="{60F0DE10-EB06-63C2-D920-3F002CD52802}"/>
                  </a:ext>
                </a:extLst>
              </p:cNvPr>
              <p:cNvGrpSpPr/>
              <p:nvPr/>
            </p:nvGrpSpPr>
            <p:grpSpPr>
              <a:xfrm>
                <a:off x="24656836" y="23077157"/>
                <a:ext cx="4014251" cy="3030052"/>
                <a:chOff x="16724541" y="25212237"/>
                <a:chExt cx="4014251" cy="3030052"/>
              </a:xfrm>
            </p:grpSpPr>
            <p:pic>
              <p:nvPicPr>
                <p:cNvPr id="101" name="Picture 100" descr="A metal object with text on it&#10;&#10;Description automatically generated">
                  <a:extLst>
                    <a:ext uri="{FF2B5EF4-FFF2-40B4-BE49-F238E27FC236}">
                      <a16:creationId xmlns:a16="http://schemas.microsoft.com/office/drawing/2014/main" id="{B13F8231-3449-5122-ACDD-5BFB02D21C5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6724541" y="25212237"/>
                  <a:ext cx="3934563" cy="2952627"/>
                </a:xfrm>
                <a:prstGeom prst="rect">
                  <a:avLst/>
                </a:prstGeom>
              </p:spPr>
            </p:pic>
            <p:sp>
              <p:nvSpPr>
                <p:cNvPr id="234" name="TextBox 233">
                  <a:extLst>
                    <a:ext uri="{FF2B5EF4-FFF2-40B4-BE49-F238E27FC236}">
                      <a16:creationId xmlns:a16="http://schemas.microsoft.com/office/drawing/2014/main" id="{EE792FFB-442A-BB43-FB3B-345036E4A89A}"/>
                    </a:ext>
                  </a:extLst>
                </p:cNvPr>
                <p:cNvSpPr txBox="1"/>
                <p:nvPr/>
              </p:nvSpPr>
              <p:spPr>
                <a:xfrm>
                  <a:off x="16880579" y="27134252"/>
                  <a:ext cx="3858213"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Mettler-Toledo balance </a:t>
                  </a:r>
                  <a:r>
                    <a:rPr lang="en-US" sz="1985" i="1" dirty="0">
                      <a:solidFill>
                        <a:srgbClr val="002060"/>
                      </a:solidFill>
                      <a:latin typeface="Aptos" panose="020B0004020202020204" pitchFamily="34" charset="0"/>
                      <a:cs typeface="Arial" panose="020B0604020202020204" pitchFamily="34" charset="0"/>
                    </a:rPr>
                    <a:t>mounted underneath platform using 3D-printed legs</a:t>
                  </a:r>
                </a:p>
              </p:txBody>
            </p:sp>
          </p:grpSp>
        </p:grpSp>
        <p:cxnSp>
          <p:nvCxnSpPr>
            <p:cNvPr id="264" name="Straight Connector 263">
              <a:extLst>
                <a:ext uri="{FF2B5EF4-FFF2-40B4-BE49-F238E27FC236}">
                  <a16:creationId xmlns:a16="http://schemas.microsoft.com/office/drawing/2014/main" id="{8C087ED6-2335-5FDE-428E-4BAE79EF24FF}"/>
                </a:ext>
              </a:extLst>
            </p:cNvPr>
            <p:cNvCxnSpPr>
              <a:cxnSpLocks/>
            </p:cNvCxnSpPr>
            <p:nvPr/>
          </p:nvCxnSpPr>
          <p:spPr>
            <a:xfrm>
              <a:off x="22812796" y="26723549"/>
              <a:ext cx="2665126"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90" name="Group 189">
              <a:extLst>
                <a:ext uri="{FF2B5EF4-FFF2-40B4-BE49-F238E27FC236}">
                  <a16:creationId xmlns:a16="http://schemas.microsoft.com/office/drawing/2014/main" id="{3DEA2E28-6A74-AF5A-16A2-630CB9251EB4}"/>
                </a:ext>
              </a:extLst>
            </p:cNvPr>
            <p:cNvGrpSpPr/>
            <p:nvPr/>
          </p:nvGrpSpPr>
          <p:grpSpPr>
            <a:xfrm>
              <a:off x="22158598" y="24917893"/>
              <a:ext cx="649609" cy="649609"/>
              <a:chOff x="12131209" y="11563837"/>
              <a:chExt cx="720000" cy="720000"/>
            </a:xfrm>
            <a:solidFill>
              <a:srgbClr val="00B050"/>
            </a:solidFill>
          </p:grpSpPr>
          <p:sp>
            <p:nvSpPr>
              <p:cNvPr id="191" name="Oval 190">
                <a:extLst>
                  <a:ext uri="{FF2B5EF4-FFF2-40B4-BE49-F238E27FC236}">
                    <a16:creationId xmlns:a16="http://schemas.microsoft.com/office/drawing/2014/main" id="{95ED89AE-DFBB-D8F8-458E-C75D649F0101}"/>
                  </a:ext>
                </a:extLst>
              </p:cNvPr>
              <p:cNvSpPr>
                <a:spLocks noChangeAspect="1"/>
              </p:cNvSpPr>
              <p:nvPr/>
            </p:nvSpPr>
            <p:spPr>
              <a:xfrm>
                <a:off x="12131209" y="11563837"/>
                <a:ext cx="720000" cy="7200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192" name="TextBox 191">
                <a:extLst>
                  <a:ext uri="{FF2B5EF4-FFF2-40B4-BE49-F238E27FC236}">
                    <a16:creationId xmlns:a16="http://schemas.microsoft.com/office/drawing/2014/main" id="{C66468D1-DDDD-8ACA-51C0-E6F0FF5FDFB4}"/>
                  </a:ext>
                </a:extLst>
              </p:cNvPr>
              <p:cNvSpPr txBox="1"/>
              <p:nvPr/>
            </p:nvSpPr>
            <p:spPr>
              <a:xfrm>
                <a:off x="12221311" y="11599920"/>
                <a:ext cx="539795" cy="656315"/>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7</a:t>
                </a:r>
              </a:p>
            </p:txBody>
          </p:sp>
        </p:grpSp>
        <p:grpSp>
          <p:nvGrpSpPr>
            <p:cNvPr id="275" name="Group 274">
              <a:extLst>
                <a:ext uri="{FF2B5EF4-FFF2-40B4-BE49-F238E27FC236}">
                  <a16:creationId xmlns:a16="http://schemas.microsoft.com/office/drawing/2014/main" id="{BC03B2E0-3120-E4AC-A946-3A0D008D47FD}"/>
                </a:ext>
              </a:extLst>
            </p:cNvPr>
            <p:cNvGrpSpPr/>
            <p:nvPr/>
          </p:nvGrpSpPr>
          <p:grpSpPr>
            <a:xfrm>
              <a:off x="12146444" y="24810475"/>
              <a:ext cx="649609" cy="649608"/>
              <a:chOff x="12131209" y="11563837"/>
              <a:chExt cx="720000" cy="720000"/>
            </a:xfrm>
            <a:solidFill>
              <a:srgbClr val="00B050"/>
            </a:solidFill>
          </p:grpSpPr>
          <p:sp>
            <p:nvSpPr>
              <p:cNvPr id="276" name="Oval 275">
                <a:extLst>
                  <a:ext uri="{FF2B5EF4-FFF2-40B4-BE49-F238E27FC236}">
                    <a16:creationId xmlns:a16="http://schemas.microsoft.com/office/drawing/2014/main" id="{7D032EA5-9DE1-2260-B160-CBE63000D797}"/>
                  </a:ext>
                </a:extLst>
              </p:cNvPr>
              <p:cNvSpPr>
                <a:spLocks noChangeAspect="1"/>
              </p:cNvSpPr>
              <p:nvPr/>
            </p:nvSpPr>
            <p:spPr>
              <a:xfrm>
                <a:off x="12131209" y="11563837"/>
                <a:ext cx="720000" cy="720000"/>
              </a:xfrm>
              <a:prstGeom prst="ellipse">
                <a:avLst/>
              </a:prstGeom>
              <a:solidFill>
                <a:srgbClr val="AB79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303" name="TextBox 302">
                <a:extLst>
                  <a:ext uri="{FF2B5EF4-FFF2-40B4-BE49-F238E27FC236}">
                    <a16:creationId xmlns:a16="http://schemas.microsoft.com/office/drawing/2014/main" id="{21F78F6E-1CD8-E47A-5781-8A9C78FB6372}"/>
                  </a:ext>
                </a:extLst>
              </p:cNvPr>
              <p:cNvSpPr txBox="1"/>
              <p:nvPr/>
            </p:nvSpPr>
            <p:spPr>
              <a:xfrm>
                <a:off x="12221311" y="11600671"/>
                <a:ext cx="539795" cy="656316"/>
              </a:xfrm>
              <a:prstGeom prst="rect">
                <a:avLst/>
              </a:prstGeom>
              <a:noFill/>
            </p:spPr>
            <p:txBody>
              <a:bodyPr wrap="square" rtlCol="0">
                <a:spAutoFit/>
              </a:bodyPr>
              <a:lstStyle/>
              <a:p>
                <a:pPr algn="ctr"/>
                <a:r>
                  <a:rPr lang="en-US" sz="3248" b="1" dirty="0">
                    <a:solidFill>
                      <a:schemeClr val="bg1"/>
                    </a:solidFill>
                    <a:latin typeface="Aptos" panose="020B0004020202020204" pitchFamily="34" charset="0"/>
                  </a:rPr>
                  <a:t>9</a:t>
                </a:r>
              </a:p>
            </p:txBody>
          </p:sp>
        </p:grpSp>
        <p:sp>
          <p:nvSpPr>
            <p:cNvPr id="304" name="Oval 303">
              <a:extLst>
                <a:ext uri="{FF2B5EF4-FFF2-40B4-BE49-F238E27FC236}">
                  <a16:creationId xmlns:a16="http://schemas.microsoft.com/office/drawing/2014/main" id="{F79A0C24-3D7C-9812-9875-2C1687E017F4}"/>
                </a:ext>
              </a:extLst>
            </p:cNvPr>
            <p:cNvSpPr>
              <a:spLocks noChangeAspect="1"/>
            </p:cNvSpPr>
            <p:nvPr/>
          </p:nvSpPr>
          <p:spPr>
            <a:xfrm>
              <a:off x="12894836" y="23729757"/>
              <a:ext cx="265397" cy="265397"/>
            </a:xfrm>
            <a:prstGeom prst="ellipse">
              <a:avLst/>
            </a:prstGeom>
            <a:solidFill>
              <a:srgbClr val="AB79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cxnSp>
          <p:nvCxnSpPr>
            <p:cNvPr id="306" name="Straight Connector 305">
              <a:extLst>
                <a:ext uri="{FF2B5EF4-FFF2-40B4-BE49-F238E27FC236}">
                  <a16:creationId xmlns:a16="http://schemas.microsoft.com/office/drawing/2014/main" id="{D21E17E7-BE3D-8A04-A0CF-2A471177D9F7}"/>
                </a:ext>
              </a:extLst>
            </p:cNvPr>
            <p:cNvCxnSpPr>
              <a:cxnSpLocks/>
            </p:cNvCxnSpPr>
            <p:nvPr/>
          </p:nvCxnSpPr>
          <p:spPr>
            <a:xfrm flipV="1">
              <a:off x="12585432" y="23966088"/>
              <a:ext cx="402825" cy="945903"/>
            </a:xfrm>
            <a:prstGeom prst="line">
              <a:avLst/>
            </a:prstGeom>
            <a:ln w="76200" cap="rnd">
              <a:solidFill>
                <a:srgbClr val="AB7942"/>
              </a:solidFill>
              <a:prstDash val="sysDot"/>
              <a:round/>
            </a:ln>
          </p:spPr>
          <p:style>
            <a:lnRef idx="1">
              <a:schemeClr val="accent1"/>
            </a:lnRef>
            <a:fillRef idx="0">
              <a:schemeClr val="accent1"/>
            </a:fillRef>
            <a:effectRef idx="0">
              <a:schemeClr val="accent1"/>
            </a:effectRef>
            <a:fontRef idx="minor">
              <a:schemeClr val="tx1"/>
            </a:fontRef>
          </p:style>
        </p:cxnSp>
        <p:grpSp>
          <p:nvGrpSpPr>
            <p:cNvPr id="225" name="Group 224">
              <a:extLst>
                <a:ext uri="{FF2B5EF4-FFF2-40B4-BE49-F238E27FC236}">
                  <a16:creationId xmlns:a16="http://schemas.microsoft.com/office/drawing/2014/main" id="{7693F5BA-494F-1FBC-6B2D-CC374560C43C}"/>
                </a:ext>
              </a:extLst>
            </p:cNvPr>
            <p:cNvGrpSpPr/>
            <p:nvPr/>
          </p:nvGrpSpPr>
          <p:grpSpPr>
            <a:xfrm>
              <a:off x="12368912" y="29387288"/>
              <a:ext cx="7405593" cy="781961"/>
              <a:chOff x="12166951" y="25658381"/>
              <a:chExt cx="8208051" cy="866693"/>
            </a:xfrm>
          </p:grpSpPr>
          <p:sp>
            <p:nvSpPr>
              <p:cNvPr id="162" name="Text Box 42">
                <a:extLst>
                  <a:ext uri="{FF2B5EF4-FFF2-40B4-BE49-F238E27FC236}">
                    <a16:creationId xmlns:a16="http://schemas.microsoft.com/office/drawing/2014/main" id="{7665516B-3561-BC75-F16D-B9CA7BAE44C9}"/>
                  </a:ext>
                </a:extLst>
              </p:cNvPr>
              <p:cNvSpPr txBox="1">
                <a:spLocks noChangeArrowheads="1"/>
              </p:cNvSpPr>
              <p:nvPr/>
            </p:nvSpPr>
            <p:spPr bwMode="auto">
              <a:xfrm>
                <a:off x="12166951" y="25658381"/>
                <a:ext cx="8208051" cy="769469"/>
              </a:xfrm>
              <a:prstGeom prst="rect">
                <a:avLst/>
              </a:prstGeom>
              <a:noFill/>
              <a:ln w="9525">
                <a:noFill/>
                <a:miter lim="800000"/>
                <a:headEnd/>
                <a:tailEnd/>
              </a:ln>
              <a:effectLst/>
            </p:spPr>
            <p:txBody>
              <a:bodyPr wrap="square" lIns="82500" tIns="41250" rIns="82500" bIns="41250" anchor="t">
                <a:spAutoFit/>
              </a:bodyPr>
              <a:lstStyle/>
              <a:p>
                <a:pPr defTabSz="3960365">
                  <a:spcBef>
                    <a:spcPct val="50000"/>
                  </a:spcBef>
                </a:pPr>
                <a:r>
                  <a:rPr lang="en-US" sz="3970" b="1" i="1" dirty="0">
                    <a:solidFill>
                      <a:srgbClr val="002060"/>
                    </a:solidFill>
                    <a:latin typeface="Aptos" panose="020B0004020202020204" pitchFamily="34" charset="0"/>
                    <a:cs typeface="Arial" panose="020B0604020202020204" pitchFamily="34" charset="0"/>
                  </a:rPr>
                  <a:t>Hidden Components</a:t>
                </a:r>
                <a:endParaRPr lang="en-US" sz="1263" i="1" dirty="0">
                  <a:solidFill>
                    <a:srgbClr val="002060"/>
                  </a:solidFill>
                  <a:latin typeface="Aptos" panose="020B0004020202020204" pitchFamily="34" charset="0"/>
                  <a:cs typeface="Arial" panose="020B0604020202020204" pitchFamily="34" charset="0"/>
                </a:endParaRPr>
              </a:p>
            </p:txBody>
          </p:sp>
          <p:cxnSp>
            <p:nvCxnSpPr>
              <p:cNvPr id="163" name="Straight Connector 162">
                <a:extLst>
                  <a:ext uri="{FF2B5EF4-FFF2-40B4-BE49-F238E27FC236}">
                    <a16:creationId xmlns:a16="http://schemas.microsoft.com/office/drawing/2014/main" id="{3EFA60B1-11DB-EF47-B0E3-63BA82E9C144}"/>
                  </a:ext>
                </a:extLst>
              </p:cNvPr>
              <p:cNvCxnSpPr>
                <a:cxnSpLocks/>
              </p:cNvCxnSpPr>
              <p:nvPr/>
            </p:nvCxnSpPr>
            <p:spPr>
              <a:xfrm>
                <a:off x="12301980" y="26525074"/>
                <a:ext cx="3083417"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18" name="Group 317">
              <a:extLst>
                <a:ext uri="{FF2B5EF4-FFF2-40B4-BE49-F238E27FC236}">
                  <a16:creationId xmlns:a16="http://schemas.microsoft.com/office/drawing/2014/main" id="{4B1B85DE-37BD-CE6F-C888-520592F81DB8}"/>
                </a:ext>
              </a:extLst>
            </p:cNvPr>
            <p:cNvGrpSpPr/>
            <p:nvPr/>
          </p:nvGrpSpPr>
          <p:grpSpPr>
            <a:xfrm>
              <a:off x="12231107" y="30523769"/>
              <a:ext cx="7805020" cy="2623948"/>
              <a:chOff x="14888347" y="28401132"/>
              <a:chExt cx="8650759" cy="2908274"/>
            </a:xfrm>
          </p:grpSpPr>
          <p:grpSp>
            <p:nvGrpSpPr>
              <p:cNvPr id="250" name="Group 249">
                <a:extLst>
                  <a:ext uri="{FF2B5EF4-FFF2-40B4-BE49-F238E27FC236}">
                    <a16:creationId xmlns:a16="http://schemas.microsoft.com/office/drawing/2014/main" id="{BA2A051C-CC35-6A19-ABAA-DF9EC20824E5}"/>
                  </a:ext>
                </a:extLst>
              </p:cNvPr>
              <p:cNvGrpSpPr/>
              <p:nvPr/>
            </p:nvGrpSpPr>
            <p:grpSpPr>
              <a:xfrm>
                <a:off x="14888347" y="28456719"/>
                <a:ext cx="8650759" cy="2852687"/>
                <a:chOff x="16541207" y="25592617"/>
                <a:chExt cx="8650759" cy="2852687"/>
              </a:xfrm>
            </p:grpSpPr>
            <p:pic>
              <p:nvPicPr>
                <p:cNvPr id="103" name="Picture 102" descr="A close-up of a circuit board&#10;&#10;Description automatically generated">
                  <a:extLst>
                    <a:ext uri="{FF2B5EF4-FFF2-40B4-BE49-F238E27FC236}">
                      <a16:creationId xmlns:a16="http://schemas.microsoft.com/office/drawing/2014/main" id="{3EE8F348-4E19-1F7D-5BC0-EA69636DA03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6541207" y="25592617"/>
                  <a:ext cx="3801387" cy="2852687"/>
                </a:xfrm>
                <a:prstGeom prst="rect">
                  <a:avLst/>
                </a:prstGeom>
              </p:spPr>
            </p:pic>
            <p:sp>
              <p:nvSpPr>
                <p:cNvPr id="239" name="TextBox 238">
                  <a:extLst>
                    <a:ext uri="{FF2B5EF4-FFF2-40B4-BE49-F238E27FC236}">
                      <a16:creationId xmlns:a16="http://schemas.microsoft.com/office/drawing/2014/main" id="{99E06E0C-9554-4850-87D9-5B63C9B79F64}"/>
                    </a:ext>
                  </a:extLst>
                </p:cNvPr>
                <p:cNvSpPr txBox="1"/>
                <p:nvPr/>
              </p:nvSpPr>
              <p:spPr>
                <a:xfrm>
                  <a:off x="21530411" y="25648512"/>
                  <a:ext cx="3661555"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3D-printed electronics box </a:t>
                  </a:r>
                  <a:r>
                    <a:rPr lang="en-US" sz="1985" i="1" dirty="0">
                      <a:solidFill>
                        <a:srgbClr val="002060"/>
                      </a:solidFill>
                      <a:latin typeface="Aptos" panose="020B0004020202020204" pitchFamily="34" charset="0"/>
                      <a:cs typeface="Arial" panose="020B0604020202020204" pitchFamily="34" charset="0"/>
                    </a:rPr>
                    <a:t>to house stepper motor and BLDC motor controllers</a:t>
                  </a:r>
                </a:p>
              </p:txBody>
            </p:sp>
          </p:grpSp>
          <p:cxnSp>
            <p:nvCxnSpPr>
              <p:cNvPr id="314" name="Elbow Connector 313">
                <a:extLst>
                  <a:ext uri="{FF2B5EF4-FFF2-40B4-BE49-F238E27FC236}">
                    <a16:creationId xmlns:a16="http://schemas.microsoft.com/office/drawing/2014/main" id="{BF047E34-83E8-7C01-4450-EC40395BE8B8}"/>
                  </a:ext>
                </a:extLst>
              </p:cNvPr>
              <p:cNvCxnSpPr>
                <a:cxnSpLocks/>
              </p:cNvCxnSpPr>
              <p:nvPr/>
            </p:nvCxnSpPr>
            <p:spPr>
              <a:xfrm flipV="1">
                <a:off x="18242769" y="29052982"/>
                <a:ext cx="1554631" cy="1358221"/>
              </a:xfrm>
              <a:prstGeom prst="bentConnector3">
                <a:avLst/>
              </a:prstGeom>
              <a:ln w="28575">
                <a:solidFill>
                  <a:srgbClr val="002060"/>
                </a:solidFill>
                <a:headEnd type="oval" w="lg" len="lg"/>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CD5C43AA-8C95-D6DE-BE01-DFEEED9BEE01}"/>
                  </a:ext>
                </a:extLst>
              </p:cNvPr>
              <p:cNvCxnSpPr>
                <a:cxnSpLocks/>
              </p:cNvCxnSpPr>
              <p:nvPr/>
            </p:nvCxnSpPr>
            <p:spPr>
              <a:xfrm>
                <a:off x="19797400" y="28401132"/>
                <a:ext cx="0" cy="133096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27" name="Group 326">
              <a:extLst>
                <a:ext uri="{FF2B5EF4-FFF2-40B4-BE49-F238E27FC236}">
                  <a16:creationId xmlns:a16="http://schemas.microsoft.com/office/drawing/2014/main" id="{91A36D3E-357F-C1AC-19B4-79232EBA5FCD}"/>
                </a:ext>
              </a:extLst>
            </p:cNvPr>
            <p:cNvGrpSpPr/>
            <p:nvPr/>
          </p:nvGrpSpPr>
          <p:grpSpPr>
            <a:xfrm>
              <a:off x="18851858" y="28510752"/>
              <a:ext cx="7863522" cy="5323064"/>
              <a:chOff x="19492438" y="26370771"/>
              <a:chExt cx="8715601" cy="5899863"/>
            </a:xfrm>
          </p:grpSpPr>
          <p:grpSp>
            <p:nvGrpSpPr>
              <p:cNvPr id="253" name="Group 252">
                <a:extLst>
                  <a:ext uri="{FF2B5EF4-FFF2-40B4-BE49-F238E27FC236}">
                    <a16:creationId xmlns:a16="http://schemas.microsoft.com/office/drawing/2014/main" id="{63214438-E96F-50CB-9642-96609E5E6101}"/>
                  </a:ext>
                </a:extLst>
              </p:cNvPr>
              <p:cNvGrpSpPr/>
              <p:nvPr/>
            </p:nvGrpSpPr>
            <p:grpSpPr>
              <a:xfrm>
                <a:off x="19492438" y="26370771"/>
                <a:ext cx="8715601" cy="5899863"/>
                <a:chOff x="8972602" y="23715963"/>
                <a:chExt cx="8715601" cy="5899863"/>
              </a:xfrm>
            </p:grpSpPr>
            <p:pic>
              <p:nvPicPr>
                <p:cNvPr id="105" name="Picture 104" descr="A close-up of a glass bottle&#10;&#10;Description automatically generated">
                  <a:extLst>
                    <a:ext uri="{FF2B5EF4-FFF2-40B4-BE49-F238E27FC236}">
                      <a16:creationId xmlns:a16="http://schemas.microsoft.com/office/drawing/2014/main" id="{B7C0EC87-B3A9-F416-BB0E-EA3927F94B6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260749" y="23715963"/>
                  <a:ext cx="4427454" cy="5899863"/>
                </a:xfrm>
                <a:prstGeom prst="rect">
                  <a:avLst/>
                </a:prstGeom>
              </p:spPr>
            </p:pic>
            <p:sp>
              <p:nvSpPr>
                <p:cNvPr id="227" name="TextBox 226">
                  <a:extLst>
                    <a:ext uri="{FF2B5EF4-FFF2-40B4-BE49-F238E27FC236}">
                      <a16:creationId xmlns:a16="http://schemas.microsoft.com/office/drawing/2014/main" id="{EE0C8827-75BF-9D5A-411D-442D7144492E}"/>
                    </a:ext>
                  </a:extLst>
                </p:cNvPr>
                <p:cNvSpPr txBox="1"/>
                <p:nvPr/>
              </p:nvSpPr>
              <p:spPr>
                <a:xfrm>
                  <a:off x="8972602" y="27311834"/>
                  <a:ext cx="3382266" cy="1108037"/>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r"/>
                  <a:r>
                    <a:rPr lang="en-US" sz="1985" b="1" i="1" dirty="0">
                      <a:solidFill>
                        <a:srgbClr val="002060"/>
                      </a:solidFill>
                      <a:latin typeface="Aptos" panose="020B0004020202020204" pitchFamily="34" charset="0"/>
                      <a:cs typeface="Arial" panose="020B0604020202020204" pitchFamily="34" charset="0"/>
                    </a:rPr>
                    <a:t>Syringe pump </a:t>
                  </a:r>
                  <a:r>
                    <a:rPr lang="en-US" sz="1985" i="1" dirty="0">
                      <a:solidFill>
                        <a:srgbClr val="002060"/>
                      </a:solidFill>
                      <a:latin typeface="Aptos" panose="020B0004020202020204" pitchFamily="34" charset="0"/>
                      <a:cs typeface="Arial" panose="020B0604020202020204" pitchFamily="34" charset="0"/>
                    </a:rPr>
                    <a:t>and </a:t>
                  </a:r>
                  <a:r>
                    <a:rPr lang="en-US" sz="1985" b="1" i="1" dirty="0">
                      <a:solidFill>
                        <a:srgbClr val="002060"/>
                      </a:solidFill>
                      <a:latin typeface="Aptos" panose="020B0004020202020204" pitchFamily="34" charset="0"/>
                      <a:cs typeface="Arial" panose="020B0604020202020204" pitchFamily="34" charset="0"/>
                    </a:rPr>
                    <a:t>solvent and waste bottle housing </a:t>
                  </a:r>
                  <a:r>
                    <a:rPr lang="en-US" sz="1985" i="1" dirty="0">
                      <a:solidFill>
                        <a:srgbClr val="002060"/>
                      </a:solidFill>
                      <a:latin typeface="Aptos" panose="020B0004020202020204" pitchFamily="34" charset="0"/>
                      <a:cs typeface="Arial" panose="020B0604020202020204" pitchFamily="34" charset="0"/>
                    </a:rPr>
                    <a:t>behind the HPLC</a:t>
                  </a:r>
                </a:p>
              </p:txBody>
            </p:sp>
          </p:grpSp>
          <p:cxnSp>
            <p:nvCxnSpPr>
              <p:cNvPr id="320" name="Elbow Connector 319">
                <a:extLst>
                  <a:ext uri="{FF2B5EF4-FFF2-40B4-BE49-F238E27FC236}">
                    <a16:creationId xmlns:a16="http://schemas.microsoft.com/office/drawing/2014/main" id="{DB20B0ED-9E70-5F54-BAF3-844849F2C44D}"/>
                  </a:ext>
                </a:extLst>
              </p:cNvPr>
              <p:cNvCxnSpPr>
                <a:cxnSpLocks/>
              </p:cNvCxnSpPr>
              <p:nvPr/>
            </p:nvCxnSpPr>
            <p:spPr>
              <a:xfrm rot="10800000" flipV="1">
                <a:off x="22954918" y="29471672"/>
                <a:ext cx="1288982" cy="1021162"/>
              </a:xfrm>
              <a:prstGeom prst="bentConnector3">
                <a:avLst/>
              </a:prstGeom>
              <a:ln w="28575">
                <a:solidFill>
                  <a:srgbClr val="002060"/>
                </a:solidFill>
                <a:headEnd type="oval" w="lg" len="lg"/>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C013E576-039F-948F-1F5F-5F64CC3DEC6C}"/>
                  </a:ext>
                </a:extLst>
              </p:cNvPr>
              <p:cNvCxnSpPr>
                <a:cxnSpLocks/>
              </p:cNvCxnSpPr>
              <p:nvPr/>
            </p:nvCxnSpPr>
            <p:spPr>
              <a:xfrm>
                <a:off x="22954917" y="30026220"/>
                <a:ext cx="0" cy="92984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05D34EFB-6D5A-E034-A07E-0E22C5A7C7AC}"/>
                </a:ext>
              </a:extLst>
            </p:cNvPr>
            <p:cNvGrpSpPr/>
            <p:nvPr/>
          </p:nvGrpSpPr>
          <p:grpSpPr>
            <a:xfrm>
              <a:off x="1457173" y="19721222"/>
              <a:ext cx="8758854" cy="7616470"/>
              <a:chOff x="1577104" y="15383836"/>
              <a:chExt cx="9707949" cy="8441779"/>
            </a:xfrm>
          </p:grpSpPr>
          <p:grpSp>
            <p:nvGrpSpPr>
              <p:cNvPr id="153" name="Group 152">
                <a:extLst>
                  <a:ext uri="{FF2B5EF4-FFF2-40B4-BE49-F238E27FC236}">
                    <a16:creationId xmlns:a16="http://schemas.microsoft.com/office/drawing/2014/main" id="{AFCDFE2D-FBA6-DD81-F5F9-6F6246D71F41}"/>
                  </a:ext>
                </a:extLst>
              </p:cNvPr>
              <p:cNvGrpSpPr/>
              <p:nvPr/>
            </p:nvGrpSpPr>
            <p:grpSpPr>
              <a:xfrm>
                <a:off x="1596957" y="16448195"/>
                <a:ext cx="9643327" cy="1492723"/>
                <a:chOff x="1608964" y="17025971"/>
                <a:chExt cx="9643327" cy="1492723"/>
              </a:xfrm>
            </p:grpSpPr>
            <p:sp>
              <p:nvSpPr>
                <p:cNvPr id="42" name="Rounded Rectangle 41">
                  <a:extLst>
                    <a:ext uri="{FF2B5EF4-FFF2-40B4-BE49-F238E27FC236}">
                      <a16:creationId xmlns:a16="http://schemas.microsoft.com/office/drawing/2014/main" id="{37341404-C517-256C-A485-14F10A3E0A02}"/>
                    </a:ext>
                  </a:extLst>
                </p:cNvPr>
                <p:cNvSpPr/>
                <p:nvPr/>
              </p:nvSpPr>
              <p:spPr>
                <a:xfrm>
                  <a:off x="1608964" y="17025971"/>
                  <a:ext cx="3074877" cy="1492723"/>
                </a:xfrm>
                <a:prstGeom prst="roundRect">
                  <a:avLst/>
                </a:prstGeom>
                <a:solidFill>
                  <a:srgbClr val="A2D8BF"/>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43" name="Rounded Rectangle 42">
                  <a:extLst>
                    <a:ext uri="{FF2B5EF4-FFF2-40B4-BE49-F238E27FC236}">
                      <a16:creationId xmlns:a16="http://schemas.microsoft.com/office/drawing/2014/main" id="{F7F41A38-787E-AC15-EDCC-2D8676DE30A1}"/>
                    </a:ext>
                  </a:extLst>
                </p:cNvPr>
                <p:cNvSpPr/>
                <p:nvPr/>
              </p:nvSpPr>
              <p:spPr>
                <a:xfrm>
                  <a:off x="4840291" y="17025971"/>
                  <a:ext cx="3009969" cy="1492723"/>
                </a:xfrm>
                <a:prstGeom prst="roundRect">
                  <a:avLst/>
                </a:prstGeom>
                <a:solidFill>
                  <a:srgbClr val="A2D7BF"/>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45" name="Rounded Rectangle 44">
                  <a:extLst>
                    <a:ext uri="{FF2B5EF4-FFF2-40B4-BE49-F238E27FC236}">
                      <a16:creationId xmlns:a16="http://schemas.microsoft.com/office/drawing/2014/main" id="{47325D5F-C002-BF03-BB68-DA03AD373B65}"/>
                    </a:ext>
                  </a:extLst>
                </p:cNvPr>
                <p:cNvSpPr/>
                <p:nvPr/>
              </p:nvSpPr>
              <p:spPr>
                <a:xfrm>
                  <a:off x="8002474" y="17038379"/>
                  <a:ext cx="3249817" cy="1478060"/>
                </a:xfrm>
                <a:prstGeom prst="roundRect">
                  <a:avLst/>
                </a:prstGeom>
                <a:solidFill>
                  <a:srgbClr val="A2D7BF"/>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grpSp>
          <p:grpSp>
            <p:nvGrpSpPr>
              <p:cNvPr id="160" name="Group 159">
                <a:extLst>
                  <a:ext uri="{FF2B5EF4-FFF2-40B4-BE49-F238E27FC236}">
                    <a16:creationId xmlns:a16="http://schemas.microsoft.com/office/drawing/2014/main" id="{7396B96F-05C0-AA2E-A77A-443152224B6E}"/>
                  </a:ext>
                </a:extLst>
              </p:cNvPr>
              <p:cNvGrpSpPr/>
              <p:nvPr/>
            </p:nvGrpSpPr>
            <p:grpSpPr>
              <a:xfrm>
                <a:off x="7309394" y="15780107"/>
                <a:ext cx="1040224" cy="647118"/>
                <a:chOff x="8016607" y="16195201"/>
                <a:chExt cx="2626425" cy="795037"/>
              </a:xfrm>
              <a:solidFill>
                <a:srgbClr val="00B050"/>
              </a:solidFill>
            </p:grpSpPr>
            <p:cxnSp>
              <p:nvCxnSpPr>
                <p:cNvPr id="155" name="Straight Connector 154">
                  <a:extLst>
                    <a:ext uri="{FF2B5EF4-FFF2-40B4-BE49-F238E27FC236}">
                      <a16:creationId xmlns:a16="http://schemas.microsoft.com/office/drawing/2014/main" id="{0E95A40B-578E-C373-8B9B-DE8E3F1D3F52}"/>
                    </a:ext>
                  </a:extLst>
                </p:cNvPr>
                <p:cNvCxnSpPr>
                  <a:cxnSpLocks/>
                </p:cNvCxnSpPr>
                <p:nvPr/>
              </p:nvCxnSpPr>
              <p:spPr>
                <a:xfrm flipV="1">
                  <a:off x="8040695" y="16195201"/>
                  <a:ext cx="0" cy="795037"/>
                </a:xfrm>
                <a:prstGeom prst="line">
                  <a:avLst/>
                </a:prstGeom>
                <a:grpFill/>
                <a:ln w="57150" cap="rnd">
                  <a:solidFill>
                    <a:srgbClr val="00B050"/>
                  </a:solidFill>
                  <a:prstDash val="sysDot"/>
                  <a:round/>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63875B20-4739-20CD-038D-0202089258E9}"/>
                    </a:ext>
                  </a:extLst>
                </p:cNvPr>
                <p:cNvCxnSpPr>
                  <a:cxnSpLocks/>
                </p:cNvCxnSpPr>
                <p:nvPr/>
              </p:nvCxnSpPr>
              <p:spPr>
                <a:xfrm flipH="1">
                  <a:off x="8016607" y="16195201"/>
                  <a:ext cx="2626425" cy="0"/>
                </a:xfrm>
                <a:prstGeom prst="line">
                  <a:avLst/>
                </a:prstGeom>
                <a:grpFill/>
                <a:ln w="57150" cap="rnd">
                  <a:solidFill>
                    <a:srgbClr val="00B050"/>
                  </a:solidFill>
                  <a:prstDash val="sysDot"/>
                  <a:round/>
                </a:ln>
              </p:spPr>
              <p:style>
                <a:lnRef idx="1">
                  <a:schemeClr val="accent1"/>
                </a:lnRef>
                <a:fillRef idx="0">
                  <a:schemeClr val="accent1"/>
                </a:fillRef>
                <a:effectRef idx="0">
                  <a:schemeClr val="accent1"/>
                </a:effectRef>
                <a:fontRef idx="minor">
                  <a:schemeClr val="tx1"/>
                </a:fontRef>
              </p:style>
            </p:cxnSp>
          </p:grpSp>
          <p:grpSp>
            <p:nvGrpSpPr>
              <p:cNvPr id="337" name="Group 336">
                <a:extLst>
                  <a:ext uri="{FF2B5EF4-FFF2-40B4-BE49-F238E27FC236}">
                    <a16:creationId xmlns:a16="http://schemas.microsoft.com/office/drawing/2014/main" id="{BD7B4FFC-D36A-5597-3DD3-EC276F8377CE}"/>
                  </a:ext>
                </a:extLst>
              </p:cNvPr>
              <p:cNvGrpSpPr/>
              <p:nvPr/>
            </p:nvGrpSpPr>
            <p:grpSpPr>
              <a:xfrm>
                <a:off x="8421303" y="15383836"/>
                <a:ext cx="1786773" cy="795757"/>
                <a:chOff x="9800796" y="16153225"/>
                <a:chExt cx="1786773" cy="795757"/>
              </a:xfrm>
            </p:grpSpPr>
            <p:sp>
              <p:nvSpPr>
                <p:cNvPr id="251" name="Rectangle: Rounded Corners 250">
                  <a:extLst>
                    <a:ext uri="{FF2B5EF4-FFF2-40B4-BE49-F238E27FC236}">
                      <a16:creationId xmlns:a16="http://schemas.microsoft.com/office/drawing/2014/main" id="{B57C2CE7-6E6C-EB54-F1C5-B292E1A89749}"/>
                    </a:ext>
                  </a:extLst>
                </p:cNvPr>
                <p:cNvSpPr/>
                <p:nvPr/>
              </p:nvSpPr>
              <p:spPr>
                <a:xfrm>
                  <a:off x="9800796" y="16153225"/>
                  <a:ext cx="1786773" cy="795757"/>
                </a:xfrm>
                <a:prstGeom prst="roundRect">
                  <a:avLst/>
                </a:prstGeom>
                <a:solidFill>
                  <a:srgbClr val="00B050">
                    <a:alpha val="34902"/>
                  </a:srgbClr>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52" name="TextBox 251">
                  <a:extLst>
                    <a:ext uri="{FF2B5EF4-FFF2-40B4-BE49-F238E27FC236}">
                      <a16:creationId xmlns:a16="http://schemas.microsoft.com/office/drawing/2014/main" id="{A394C98B-3D2A-3D32-F92F-2AB520792500}"/>
                    </a:ext>
                  </a:extLst>
                </p:cNvPr>
                <p:cNvSpPr txBox="1"/>
                <p:nvPr/>
              </p:nvSpPr>
              <p:spPr>
                <a:xfrm>
                  <a:off x="9916823" y="16167613"/>
                  <a:ext cx="1555550" cy="769469"/>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r>
                    <a:rPr lang="en-US" sz="1985" b="1" i="1" dirty="0">
                      <a:solidFill>
                        <a:srgbClr val="002060"/>
                      </a:solidFill>
                      <a:latin typeface="Aptos" panose="020B0004020202020204" pitchFamily="34" charset="0"/>
                      <a:cs typeface="Arial" panose="020B0604020202020204" pitchFamily="34" charset="0"/>
                    </a:rPr>
                    <a:t>User input required</a:t>
                  </a:r>
                </a:p>
              </p:txBody>
            </p:sp>
          </p:grpSp>
          <p:sp>
            <p:nvSpPr>
              <p:cNvPr id="263" name="TextBox 262">
                <a:extLst>
                  <a:ext uri="{FF2B5EF4-FFF2-40B4-BE49-F238E27FC236}">
                    <a16:creationId xmlns:a16="http://schemas.microsoft.com/office/drawing/2014/main" id="{D6F85555-1F52-E73E-C25F-923F905E2744}"/>
                  </a:ext>
                </a:extLst>
              </p:cNvPr>
              <p:cNvSpPr txBox="1"/>
              <p:nvPr/>
            </p:nvSpPr>
            <p:spPr>
              <a:xfrm>
                <a:off x="1711482" y="16786711"/>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Vial tared and barcode applied</a:t>
                </a:r>
              </a:p>
            </p:txBody>
          </p:sp>
          <p:sp>
            <p:nvSpPr>
              <p:cNvPr id="265" name="Arrow: Right 264">
                <a:extLst>
                  <a:ext uri="{FF2B5EF4-FFF2-40B4-BE49-F238E27FC236}">
                    <a16:creationId xmlns:a16="http://schemas.microsoft.com/office/drawing/2014/main" id="{786F231A-7CE8-B8B7-23FA-28DA89924F89}"/>
                  </a:ext>
                </a:extLst>
              </p:cNvPr>
              <p:cNvSpPr/>
              <p:nvPr/>
            </p:nvSpPr>
            <p:spPr>
              <a:xfrm>
                <a:off x="4578851" y="17159194"/>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66" name="TextBox 265">
                <a:extLst>
                  <a:ext uri="{FF2B5EF4-FFF2-40B4-BE49-F238E27FC236}">
                    <a16:creationId xmlns:a16="http://schemas.microsoft.com/office/drawing/2014/main" id="{3DC0D4E2-6E4B-8017-81CA-860C164B196E}"/>
                  </a:ext>
                </a:extLst>
              </p:cNvPr>
              <p:cNvSpPr txBox="1"/>
              <p:nvPr/>
            </p:nvSpPr>
            <p:spPr>
              <a:xfrm>
                <a:off x="4956846" y="16832946"/>
                <a:ext cx="2740161" cy="757340"/>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Vial is loaded with solid sample</a:t>
                </a:r>
              </a:p>
            </p:txBody>
          </p:sp>
          <p:sp>
            <p:nvSpPr>
              <p:cNvPr id="267" name="TextBox 266">
                <a:extLst>
                  <a:ext uri="{FF2B5EF4-FFF2-40B4-BE49-F238E27FC236}">
                    <a16:creationId xmlns:a16="http://schemas.microsoft.com/office/drawing/2014/main" id="{2467976A-8C38-0B38-78BE-8300EADF5A61}"/>
                  </a:ext>
                </a:extLst>
              </p:cNvPr>
              <p:cNvSpPr txBox="1"/>
              <p:nvPr/>
            </p:nvSpPr>
            <p:spPr>
              <a:xfrm>
                <a:off x="8007474" y="16794874"/>
                <a:ext cx="3242188"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Vial loaded into </a:t>
                </a:r>
              </a:p>
              <a:p>
                <a:pPr algn="ctr"/>
                <a:r>
                  <a:rPr lang="en-US" sz="2165" b="1" i="1" dirty="0">
                    <a:solidFill>
                      <a:srgbClr val="002060"/>
                    </a:solidFill>
                    <a:latin typeface="Aptos SemiBold" panose="020B0004020202020204" pitchFamily="34" charset="0"/>
                    <a:cs typeface="Arial" panose="020B0604020202020204" pitchFamily="34" charset="0"/>
                  </a:rPr>
                  <a:t>vial tray</a:t>
                </a:r>
              </a:p>
            </p:txBody>
          </p:sp>
          <p:sp>
            <p:nvSpPr>
              <p:cNvPr id="268" name="Arrow: Right 267">
                <a:extLst>
                  <a:ext uri="{FF2B5EF4-FFF2-40B4-BE49-F238E27FC236}">
                    <a16:creationId xmlns:a16="http://schemas.microsoft.com/office/drawing/2014/main" id="{9C195D87-E03B-B057-E13E-A5A3D3FBBBB4}"/>
                  </a:ext>
                </a:extLst>
              </p:cNvPr>
              <p:cNvSpPr/>
              <p:nvPr/>
            </p:nvSpPr>
            <p:spPr>
              <a:xfrm>
                <a:off x="7733650" y="17157635"/>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74" name="Rounded Rectangle 41">
                <a:extLst>
                  <a:ext uri="{FF2B5EF4-FFF2-40B4-BE49-F238E27FC236}">
                    <a16:creationId xmlns:a16="http://schemas.microsoft.com/office/drawing/2014/main" id="{D3D62A01-76FA-C25C-6262-D6ADA4C07E80}"/>
                  </a:ext>
                </a:extLst>
              </p:cNvPr>
              <p:cNvSpPr/>
              <p:nvPr/>
            </p:nvSpPr>
            <p:spPr>
              <a:xfrm>
                <a:off x="1588898" y="18557795"/>
                <a:ext cx="3074877"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77" name="TextBox 276">
                <a:extLst>
                  <a:ext uri="{FF2B5EF4-FFF2-40B4-BE49-F238E27FC236}">
                    <a16:creationId xmlns:a16="http://schemas.microsoft.com/office/drawing/2014/main" id="{73FEE4B3-85D3-90EB-8B52-149A1265A7F8}"/>
                  </a:ext>
                </a:extLst>
              </p:cNvPr>
              <p:cNvSpPr txBox="1"/>
              <p:nvPr/>
            </p:nvSpPr>
            <p:spPr>
              <a:xfrm>
                <a:off x="1687977" y="18873017"/>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Dilute sample </a:t>
                </a:r>
              </a:p>
              <a:p>
                <a:pPr algn="ctr"/>
                <a:r>
                  <a:rPr lang="en-US" sz="2165" b="1" i="1" dirty="0">
                    <a:solidFill>
                      <a:srgbClr val="002060"/>
                    </a:solidFill>
                    <a:latin typeface="Aptos SemiBold" panose="020B0004020202020204" pitchFamily="34" charset="0"/>
                    <a:cs typeface="Arial" panose="020B0604020202020204" pitchFamily="34" charset="0"/>
                  </a:rPr>
                  <a:t>with solute</a:t>
                </a:r>
              </a:p>
            </p:txBody>
          </p:sp>
          <p:sp>
            <p:nvSpPr>
              <p:cNvPr id="278" name="Rounded Rectangle 41">
                <a:extLst>
                  <a:ext uri="{FF2B5EF4-FFF2-40B4-BE49-F238E27FC236}">
                    <a16:creationId xmlns:a16="http://schemas.microsoft.com/office/drawing/2014/main" id="{B7E6D54B-9651-9190-522B-277CCB1EBF4B}"/>
                  </a:ext>
                </a:extLst>
              </p:cNvPr>
              <p:cNvSpPr/>
              <p:nvPr/>
            </p:nvSpPr>
            <p:spPr>
              <a:xfrm>
                <a:off x="4821942" y="18553486"/>
                <a:ext cx="3009970"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79" name="Rounded Rectangle 41">
                <a:extLst>
                  <a:ext uri="{FF2B5EF4-FFF2-40B4-BE49-F238E27FC236}">
                    <a16:creationId xmlns:a16="http://schemas.microsoft.com/office/drawing/2014/main" id="{0C74C52A-239A-D894-C899-520594099635}"/>
                  </a:ext>
                </a:extLst>
              </p:cNvPr>
              <p:cNvSpPr/>
              <p:nvPr/>
            </p:nvSpPr>
            <p:spPr>
              <a:xfrm>
                <a:off x="7994571" y="18546639"/>
                <a:ext cx="3242350"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80" name="TextBox 279">
                <a:extLst>
                  <a:ext uri="{FF2B5EF4-FFF2-40B4-BE49-F238E27FC236}">
                    <a16:creationId xmlns:a16="http://schemas.microsoft.com/office/drawing/2014/main" id="{4C34975D-6A37-FDCE-E7E1-06EAAD802012}"/>
                  </a:ext>
                </a:extLst>
              </p:cNvPr>
              <p:cNvSpPr txBox="1"/>
              <p:nvPr/>
            </p:nvSpPr>
            <p:spPr>
              <a:xfrm>
                <a:off x="8027362" y="19057895"/>
                <a:ext cx="3257691" cy="46160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Prime needle</a:t>
                </a:r>
              </a:p>
            </p:txBody>
          </p:sp>
          <p:sp>
            <p:nvSpPr>
              <p:cNvPr id="281" name="TextBox 280">
                <a:extLst>
                  <a:ext uri="{FF2B5EF4-FFF2-40B4-BE49-F238E27FC236}">
                    <a16:creationId xmlns:a16="http://schemas.microsoft.com/office/drawing/2014/main" id="{6514C308-E3BE-3944-1CA3-A3DFFFAD44C4}"/>
                  </a:ext>
                </a:extLst>
              </p:cNvPr>
              <p:cNvSpPr txBox="1"/>
              <p:nvPr/>
            </p:nvSpPr>
            <p:spPr>
              <a:xfrm>
                <a:off x="4918735" y="18857229"/>
                <a:ext cx="2792488"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Scan and </a:t>
                </a:r>
              </a:p>
              <a:p>
                <a:pPr algn="ctr"/>
                <a:r>
                  <a:rPr lang="en-US" sz="2165" b="1" i="1" dirty="0">
                    <a:solidFill>
                      <a:srgbClr val="002060"/>
                    </a:solidFill>
                    <a:latin typeface="Aptos SemiBold" panose="020B0004020202020204" pitchFamily="34" charset="0"/>
                    <a:cs typeface="Arial" panose="020B0604020202020204" pitchFamily="34" charset="0"/>
                  </a:rPr>
                  <a:t>weigh vial</a:t>
                </a:r>
              </a:p>
            </p:txBody>
          </p:sp>
          <p:sp>
            <p:nvSpPr>
              <p:cNvPr id="282" name="Arrow: Right 281">
                <a:extLst>
                  <a:ext uri="{FF2B5EF4-FFF2-40B4-BE49-F238E27FC236}">
                    <a16:creationId xmlns:a16="http://schemas.microsoft.com/office/drawing/2014/main" id="{134819C0-F014-49B4-CF1D-3D98966D1B8D}"/>
                  </a:ext>
                </a:extLst>
              </p:cNvPr>
              <p:cNvSpPr/>
              <p:nvPr/>
            </p:nvSpPr>
            <p:spPr>
              <a:xfrm rot="5400000">
                <a:off x="9246092" y="18237560"/>
                <a:ext cx="784287" cy="45721"/>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83" name="Arrow: Right 282">
                <a:extLst>
                  <a:ext uri="{FF2B5EF4-FFF2-40B4-BE49-F238E27FC236}">
                    <a16:creationId xmlns:a16="http://schemas.microsoft.com/office/drawing/2014/main" id="{8D00959E-67E8-D4F3-5269-DDE0F235ECE0}"/>
                  </a:ext>
                </a:extLst>
              </p:cNvPr>
              <p:cNvSpPr/>
              <p:nvPr/>
            </p:nvSpPr>
            <p:spPr>
              <a:xfrm rot="10800000">
                <a:off x="7737282" y="19295273"/>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84" name="Arrow: Right 283">
                <a:extLst>
                  <a:ext uri="{FF2B5EF4-FFF2-40B4-BE49-F238E27FC236}">
                    <a16:creationId xmlns:a16="http://schemas.microsoft.com/office/drawing/2014/main" id="{F3C2D32B-1EBA-8B8C-B295-C7632B510D91}"/>
                  </a:ext>
                </a:extLst>
              </p:cNvPr>
              <p:cNvSpPr/>
              <p:nvPr/>
            </p:nvSpPr>
            <p:spPr>
              <a:xfrm rot="10800000">
                <a:off x="4579355" y="19302989"/>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85" name="Rounded Rectangle 41">
                <a:extLst>
                  <a:ext uri="{FF2B5EF4-FFF2-40B4-BE49-F238E27FC236}">
                    <a16:creationId xmlns:a16="http://schemas.microsoft.com/office/drawing/2014/main" id="{9BCF2B88-5345-EB60-821C-5CBECEB99F42}"/>
                  </a:ext>
                </a:extLst>
              </p:cNvPr>
              <p:cNvSpPr/>
              <p:nvPr/>
            </p:nvSpPr>
            <p:spPr>
              <a:xfrm>
                <a:off x="1582131" y="20319423"/>
                <a:ext cx="3074877"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86" name="Rounded Rectangle 41">
                <a:extLst>
                  <a:ext uri="{FF2B5EF4-FFF2-40B4-BE49-F238E27FC236}">
                    <a16:creationId xmlns:a16="http://schemas.microsoft.com/office/drawing/2014/main" id="{C220E98A-2218-56A3-3E0F-2EA66A3D0E6A}"/>
                  </a:ext>
                </a:extLst>
              </p:cNvPr>
              <p:cNvSpPr/>
              <p:nvPr/>
            </p:nvSpPr>
            <p:spPr>
              <a:xfrm>
                <a:off x="4821942" y="20320545"/>
                <a:ext cx="3009970"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87" name="Rounded Rectangle 41">
                <a:extLst>
                  <a:ext uri="{FF2B5EF4-FFF2-40B4-BE49-F238E27FC236}">
                    <a16:creationId xmlns:a16="http://schemas.microsoft.com/office/drawing/2014/main" id="{3D6721DC-4CBC-93D2-AF31-11439EB00BF3}"/>
                  </a:ext>
                </a:extLst>
              </p:cNvPr>
              <p:cNvSpPr/>
              <p:nvPr/>
            </p:nvSpPr>
            <p:spPr>
              <a:xfrm>
                <a:off x="7981016" y="20327317"/>
                <a:ext cx="3242350" cy="1492723"/>
              </a:xfrm>
              <a:prstGeom prst="roundRect">
                <a:avLst/>
              </a:prstGeom>
              <a:solidFill>
                <a:schemeClr val="accent5">
                  <a:lumMod val="60000"/>
                  <a:lumOff val="40000"/>
                  <a:alpha val="65098"/>
                </a:schemeClr>
              </a:solidFill>
              <a:ln w="381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dirty="0"/>
              </a:p>
            </p:txBody>
          </p:sp>
          <p:sp>
            <p:nvSpPr>
              <p:cNvPr id="288" name="TextBox 287">
                <a:extLst>
                  <a:ext uri="{FF2B5EF4-FFF2-40B4-BE49-F238E27FC236}">
                    <a16:creationId xmlns:a16="http://schemas.microsoft.com/office/drawing/2014/main" id="{C90AB71D-272B-A89B-5238-32D26C33716E}"/>
                  </a:ext>
                </a:extLst>
              </p:cNvPr>
              <p:cNvSpPr txBox="1"/>
              <p:nvPr/>
            </p:nvSpPr>
            <p:spPr>
              <a:xfrm>
                <a:off x="1761423" y="20645951"/>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Vortex and centrifuge </a:t>
                </a:r>
              </a:p>
            </p:txBody>
          </p:sp>
          <p:sp>
            <p:nvSpPr>
              <p:cNvPr id="289" name="TextBox 288">
                <a:extLst>
                  <a:ext uri="{FF2B5EF4-FFF2-40B4-BE49-F238E27FC236}">
                    <a16:creationId xmlns:a16="http://schemas.microsoft.com/office/drawing/2014/main" id="{7B65CA0C-40D2-52DC-F954-86581DF3F574}"/>
                  </a:ext>
                </a:extLst>
              </p:cNvPr>
              <p:cNvSpPr txBox="1"/>
              <p:nvPr/>
            </p:nvSpPr>
            <p:spPr>
              <a:xfrm>
                <a:off x="4875543" y="20521571"/>
                <a:ext cx="2989602" cy="1093930"/>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Transfer stock solution to </a:t>
                </a:r>
              </a:p>
              <a:p>
                <a:pPr algn="ctr"/>
                <a:r>
                  <a:rPr lang="en-US" sz="2165" b="1" i="1" dirty="0">
                    <a:solidFill>
                      <a:srgbClr val="002060"/>
                    </a:solidFill>
                    <a:latin typeface="Aptos SemiBold" panose="020B0004020202020204" pitchFamily="34" charset="0"/>
                    <a:cs typeface="Arial" panose="020B0604020202020204" pitchFamily="34" charset="0"/>
                  </a:rPr>
                  <a:t>HPLC vial and dilute</a:t>
                </a:r>
              </a:p>
            </p:txBody>
          </p:sp>
          <p:sp>
            <p:nvSpPr>
              <p:cNvPr id="290" name="TextBox 289">
                <a:extLst>
                  <a:ext uri="{FF2B5EF4-FFF2-40B4-BE49-F238E27FC236}">
                    <a16:creationId xmlns:a16="http://schemas.microsoft.com/office/drawing/2014/main" id="{EE4EC3EB-E2E2-DE2F-02D0-89296B2644A3}"/>
                  </a:ext>
                </a:extLst>
              </p:cNvPr>
              <p:cNvSpPr txBox="1"/>
              <p:nvPr/>
            </p:nvSpPr>
            <p:spPr>
              <a:xfrm>
                <a:off x="8207088" y="20652034"/>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Run sample through HPLC</a:t>
                </a:r>
              </a:p>
            </p:txBody>
          </p:sp>
          <p:sp>
            <p:nvSpPr>
              <p:cNvPr id="297" name="Arrow: Right 296">
                <a:extLst>
                  <a:ext uri="{FF2B5EF4-FFF2-40B4-BE49-F238E27FC236}">
                    <a16:creationId xmlns:a16="http://schemas.microsoft.com/office/drawing/2014/main" id="{659674CA-C11C-7122-974C-CD526D6DF398}"/>
                  </a:ext>
                </a:extLst>
              </p:cNvPr>
              <p:cNvSpPr/>
              <p:nvPr/>
            </p:nvSpPr>
            <p:spPr>
              <a:xfrm rot="5400000">
                <a:off x="2876847" y="20065537"/>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98" name="Arrow: Right 297">
                <a:extLst>
                  <a:ext uri="{FF2B5EF4-FFF2-40B4-BE49-F238E27FC236}">
                    <a16:creationId xmlns:a16="http://schemas.microsoft.com/office/drawing/2014/main" id="{BC83E07F-1385-5239-EC04-B8077C558176}"/>
                  </a:ext>
                </a:extLst>
              </p:cNvPr>
              <p:cNvSpPr/>
              <p:nvPr/>
            </p:nvSpPr>
            <p:spPr>
              <a:xfrm>
                <a:off x="4585389" y="21060740"/>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299" name="Arrow: Right 298">
                <a:extLst>
                  <a:ext uri="{FF2B5EF4-FFF2-40B4-BE49-F238E27FC236}">
                    <a16:creationId xmlns:a16="http://schemas.microsoft.com/office/drawing/2014/main" id="{2BC88661-ABF2-9382-F5FB-D237C1E3BD29}"/>
                  </a:ext>
                </a:extLst>
              </p:cNvPr>
              <p:cNvSpPr/>
              <p:nvPr/>
            </p:nvSpPr>
            <p:spPr>
              <a:xfrm>
                <a:off x="7767986" y="21067470"/>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sp>
            <p:nvSpPr>
              <p:cNvPr id="308" name="TextBox 307">
                <a:extLst>
                  <a:ext uri="{FF2B5EF4-FFF2-40B4-BE49-F238E27FC236}">
                    <a16:creationId xmlns:a16="http://schemas.microsoft.com/office/drawing/2014/main" id="{012A790D-0BC0-3A6B-4BE1-E7DC2E2484C1}"/>
                  </a:ext>
                </a:extLst>
              </p:cNvPr>
              <p:cNvSpPr txBox="1"/>
              <p:nvPr/>
            </p:nvSpPr>
            <p:spPr>
              <a:xfrm>
                <a:off x="1577104" y="15900067"/>
                <a:ext cx="1733108" cy="533153"/>
              </a:xfrm>
              <a:prstGeom prst="rect">
                <a:avLst/>
              </a:prstGeom>
              <a:noFill/>
            </p:spPr>
            <p:txBody>
              <a:bodyPr wrap="square">
                <a:spAutoFit/>
              </a:bodyPr>
              <a:lstStyle/>
              <a:p>
                <a:r>
                  <a:rPr lang="en-US" sz="2526" b="1" i="1" dirty="0">
                    <a:solidFill>
                      <a:srgbClr val="002060"/>
                    </a:solidFill>
                    <a:latin typeface="Aptos" panose="020B0004020202020204" pitchFamily="34" charset="0"/>
                    <a:cs typeface="Arial" panose="020B0604020202020204" pitchFamily="34" charset="0"/>
                  </a:rPr>
                  <a:t>Pre-run</a:t>
                </a:r>
              </a:p>
            </p:txBody>
          </p:sp>
          <p:sp>
            <p:nvSpPr>
              <p:cNvPr id="333" name="TextBox 332">
                <a:extLst>
                  <a:ext uri="{FF2B5EF4-FFF2-40B4-BE49-F238E27FC236}">
                    <a16:creationId xmlns:a16="http://schemas.microsoft.com/office/drawing/2014/main" id="{F2C7671D-9F74-E43C-A37B-B6DE7638C009}"/>
                  </a:ext>
                </a:extLst>
              </p:cNvPr>
              <p:cNvSpPr txBox="1"/>
              <p:nvPr/>
            </p:nvSpPr>
            <p:spPr>
              <a:xfrm>
                <a:off x="1603998" y="17983762"/>
                <a:ext cx="3814984" cy="533153"/>
              </a:xfrm>
              <a:prstGeom prst="rect">
                <a:avLst/>
              </a:prstGeom>
              <a:noFill/>
            </p:spPr>
            <p:txBody>
              <a:bodyPr wrap="square">
                <a:spAutoFit/>
              </a:bodyPr>
              <a:lstStyle/>
              <a:p>
                <a:r>
                  <a:rPr lang="en-US" sz="2526" b="1" i="1" dirty="0">
                    <a:solidFill>
                      <a:srgbClr val="002060"/>
                    </a:solidFill>
                    <a:latin typeface="Aptos" panose="020B0004020202020204" pitchFamily="34" charset="0"/>
                    <a:cs typeface="Arial" panose="020B0604020202020204" pitchFamily="34" charset="0"/>
                  </a:rPr>
                  <a:t>Sample Preparation </a:t>
                </a:r>
              </a:p>
            </p:txBody>
          </p:sp>
          <p:grpSp>
            <p:nvGrpSpPr>
              <p:cNvPr id="336" name="Group 335">
                <a:extLst>
                  <a:ext uri="{FF2B5EF4-FFF2-40B4-BE49-F238E27FC236}">
                    <a16:creationId xmlns:a16="http://schemas.microsoft.com/office/drawing/2014/main" id="{D94BD693-FD6F-E0EC-59AB-74067FA5D25F}"/>
                  </a:ext>
                </a:extLst>
              </p:cNvPr>
              <p:cNvGrpSpPr/>
              <p:nvPr/>
            </p:nvGrpSpPr>
            <p:grpSpPr>
              <a:xfrm>
                <a:off x="1588898" y="21811825"/>
                <a:ext cx="9647652" cy="2013790"/>
                <a:chOff x="1588898" y="22584045"/>
                <a:chExt cx="9647652" cy="2013790"/>
              </a:xfrm>
            </p:grpSpPr>
            <p:sp>
              <p:nvSpPr>
                <p:cNvPr id="291" name="Rounded Rectangle 41">
                  <a:extLst>
                    <a:ext uri="{FF2B5EF4-FFF2-40B4-BE49-F238E27FC236}">
                      <a16:creationId xmlns:a16="http://schemas.microsoft.com/office/drawing/2014/main" id="{40FB9371-2AB8-818D-1215-9F8476C0FF67}"/>
                    </a:ext>
                  </a:extLst>
                </p:cNvPr>
                <p:cNvSpPr/>
                <p:nvPr/>
              </p:nvSpPr>
              <p:spPr>
                <a:xfrm>
                  <a:off x="1588898" y="23088077"/>
                  <a:ext cx="3074877" cy="1492723"/>
                </a:xfrm>
                <a:prstGeom prst="roundRect">
                  <a:avLst/>
                </a:prstGeom>
                <a:solidFill>
                  <a:schemeClr val="accent4">
                    <a:lumMod val="60000"/>
                    <a:lumOff val="40000"/>
                    <a:alpha val="65098"/>
                  </a:schemeClr>
                </a:solid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b="1" i="1" dirty="0">
                    <a:latin typeface="Aptos SemiBold" panose="020B0004020202020204" pitchFamily="34" charset="0"/>
                  </a:endParaRPr>
                </a:p>
              </p:txBody>
            </p:sp>
            <p:sp>
              <p:nvSpPr>
                <p:cNvPr id="292" name="Rounded Rectangle 41">
                  <a:extLst>
                    <a:ext uri="{FF2B5EF4-FFF2-40B4-BE49-F238E27FC236}">
                      <a16:creationId xmlns:a16="http://schemas.microsoft.com/office/drawing/2014/main" id="{402A3537-6FCC-FEBE-9368-075375D4B2DB}"/>
                    </a:ext>
                  </a:extLst>
                </p:cNvPr>
                <p:cNvSpPr/>
                <p:nvPr/>
              </p:nvSpPr>
              <p:spPr>
                <a:xfrm>
                  <a:off x="4821942" y="23099029"/>
                  <a:ext cx="3009970" cy="1492723"/>
                </a:xfrm>
                <a:prstGeom prst="roundRect">
                  <a:avLst/>
                </a:prstGeom>
                <a:solidFill>
                  <a:schemeClr val="accent4">
                    <a:lumMod val="60000"/>
                    <a:lumOff val="40000"/>
                    <a:alpha val="65098"/>
                  </a:schemeClr>
                </a:solid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b="1" i="1" dirty="0">
                    <a:latin typeface="Aptos SemiBold" panose="020B0004020202020204" pitchFamily="34" charset="0"/>
                  </a:endParaRPr>
                </a:p>
              </p:txBody>
            </p:sp>
            <p:sp>
              <p:nvSpPr>
                <p:cNvPr id="293" name="Rounded Rectangle 41">
                  <a:extLst>
                    <a:ext uri="{FF2B5EF4-FFF2-40B4-BE49-F238E27FC236}">
                      <a16:creationId xmlns:a16="http://schemas.microsoft.com/office/drawing/2014/main" id="{B9F396DF-F506-EDFF-D3CD-D40F40C79FAC}"/>
                    </a:ext>
                  </a:extLst>
                </p:cNvPr>
                <p:cNvSpPr/>
                <p:nvPr/>
              </p:nvSpPr>
              <p:spPr>
                <a:xfrm>
                  <a:off x="7994200" y="23105112"/>
                  <a:ext cx="3242350" cy="1492723"/>
                </a:xfrm>
                <a:prstGeom prst="roundRect">
                  <a:avLst/>
                </a:prstGeom>
                <a:solidFill>
                  <a:schemeClr val="accent4">
                    <a:lumMod val="60000"/>
                    <a:lumOff val="40000"/>
                    <a:alpha val="65098"/>
                  </a:schemeClr>
                </a:solid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4" b="1" i="1" dirty="0">
                    <a:latin typeface="Aptos SemiBold" panose="020B0004020202020204" pitchFamily="34" charset="0"/>
                  </a:endParaRPr>
                </a:p>
              </p:txBody>
            </p:sp>
            <p:sp>
              <p:nvSpPr>
                <p:cNvPr id="294" name="TextBox 293">
                  <a:extLst>
                    <a:ext uri="{FF2B5EF4-FFF2-40B4-BE49-F238E27FC236}">
                      <a16:creationId xmlns:a16="http://schemas.microsoft.com/office/drawing/2014/main" id="{2410F5F3-FB05-C9CD-508E-B2596A99E296}"/>
                    </a:ext>
                  </a:extLst>
                </p:cNvPr>
                <p:cNvSpPr txBox="1"/>
                <p:nvPr/>
              </p:nvSpPr>
              <p:spPr>
                <a:xfrm>
                  <a:off x="8297330" y="23492281"/>
                  <a:ext cx="2740161" cy="830872"/>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Extract relevant area data</a:t>
                  </a:r>
                </a:p>
              </p:txBody>
            </p:sp>
            <p:sp>
              <p:nvSpPr>
                <p:cNvPr id="295" name="TextBox 294">
                  <a:extLst>
                    <a:ext uri="{FF2B5EF4-FFF2-40B4-BE49-F238E27FC236}">
                      <a16:creationId xmlns:a16="http://schemas.microsoft.com/office/drawing/2014/main" id="{9EB62AA3-A407-AF9A-E412-6CAACAEF62DF}"/>
                    </a:ext>
                  </a:extLst>
                </p:cNvPr>
                <p:cNvSpPr txBox="1"/>
                <p:nvPr/>
              </p:nvSpPr>
              <p:spPr>
                <a:xfrm>
                  <a:off x="5020601" y="23287254"/>
                  <a:ext cx="2578107" cy="1093929"/>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Correlate to mass % using calibration curve</a:t>
                  </a:r>
                </a:p>
              </p:txBody>
            </p:sp>
            <p:sp>
              <p:nvSpPr>
                <p:cNvPr id="296" name="TextBox 295">
                  <a:extLst>
                    <a:ext uri="{FF2B5EF4-FFF2-40B4-BE49-F238E27FC236}">
                      <a16:creationId xmlns:a16="http://schemas.microsoft.com/office/drawing/2014/main" id="{E2060E7E-7FC0-98AB-B49C-AD0A5D75211E}"/>
                    </a:ext>
                  </a:extLst>
                </p:cNvPr>
                <p:cNvSpPr txBox="1"/>
                <p:nvPr/>
              </p:nvSpPr>
              <p:spPr>
                <a:xfrm>
                  <a:off x="1749045" y="23612629"/>
                  <a:ext cx="2740161" cy="461603"/>
                </a:xfrm>
                <a:prstGeom prst="rect">
                  <a:avLst/>
                </a:prstGeom>
                <a:noFill/>
              </p:spPr>
              <p:txBody>
                <a:bodyPr rot="0" spcFirstLastPara="0" vertOverflow="overflow" horzOverflow="overflow" vert="horz" wrap="square" lIns="82500" tIns="41250" rIns="82500" bIns="41250" numCol="1" spcCol="0" rtlCol="0" fromWordArt="0" anchor="t" anchorCtr="0" forceAA="0" compatLnSpc="1">
                  <a:prstTxWarp prst="textNoShape">
                    <a:avLst/>
                  </a:prstTxWarp>
                  <a:spAutoFit/>
                </a:bodyPr>
                <a:lstStyle/>
                <a:p>
                  <a:pPr algn="ctr"/>
                  <a:r>
                    <a:rPr lang="en-US" sz="2165" b="1" i="1" dirty="0">
                      <a:solidFill>
                        <a:srgbClr val="002060"/>
                      </a:solidFill>
                      <a:latin typeface="Aptos SemiBold" panose="020B0004020202020204" pitchFamily="34" charset="0"/>
                      <a:cs typeface="Arial" panose="020B0604020202020204" pitchFamily="34" charset="0"/>
                    </a:rPr>
                    <a:t>Upload data</a:t>
                  </a:r>
                </a:p>
              </p:txBody>
            </p:sp>
            <p:sp>
              <p:nvSpPr>
                <p:cNvPr id="301" name="Arrow: Right 300">
                  <a:extLst>
                    <a:ext uri="{FF2B5EF4-FFF2-40B4-BE49-F238E27FC236}">
                      <a16:creationId xmlns:a16="http://schemas.microsoft.com/office/drawing/2014/main" id="{4527BDE9-08FC-0D8D-7F76-EDFCB0C2B44E}"/>
                    </a:ext>
                  </a:extLst>
                </p:cNvPr>
                <p:cNvSpPr/>
                <p:nvPr/>
              </p:nvSpPr>
              <p:spPr>
                <a:xfrm rot="10800000">
                  <a:off x="7772098" y="23765052"/>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b="1" i="1">
                    <a:latin typeface="Aptos SemiBold" panose="020B0004020202020204" pitchFamily="34" charset="0"/>
                  </a:endParaRPr>
                </a:p>
              </p:txBody>
            </p:sp>
            <p:sp>
              <p:nvSpPr>
                <p:cNvPr id="302" name="Arrow: Right 301">
                  <a:extLst>
                    <a:ext uri="{FF2B5EF4-FFF2-40B4-BE49-F238E27FC236}">
                      <a16:creationId xmlns:a16="http://schemas.microsoft.com/office/drawing/2014/main" id="{9C833D10-9938-C584-F39A-43AC9F85548D}"/>
                    </a:ext>
                  </a:extLst>
                </p:cNvPr>
                <p:cNvSpPr/>
                <p:nvPr/>
              </p:nvSpPr>
              <p:spPr>
                <a:xfrm rot="10800000">
                  <a:off x="4572414" y="23765052"/>
                  <a:ext cx="324000" cy="45719"/>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b="1" i="1">
                    <a:latin typeface="Aptos SemiBold" panose="020B0004020202020204" pitchFamily="34" charset="0"/>
                  </a:endParaRPr>
                </a:p>
              </p:txBody>
            </p:sp>
            <p:sp>
              <p:nvSpPr>
                <p:cNvPr id="334" name="TextBox 333">
                  <a:extLst>
                    <a:ext uri="{FF2B5EF4-FFF2-40B4-BE49-F238E27FC236}">
                      <a16:creationId xmlns:a16="http://schemas.microsoft.com/office/drawing/2014/main" id="{F01DA6A2-F8B5-EBBF-9CD8-935672B47083}"/>
                    </a:ext>
                  </a:extLst>
                </p:cNvPr>
                <p:cNvSpPr txBox="1"/>
                <p:nvPr/>
              </p:nvSpPr>
              <p:spPr>
                <a:xfrm>
                  <a:off x="1665187" y="22584045"/>
                  <a:ext cx="3814984" cy="533153"/>
                </a:xfrm>
                <a:prstGeom prst="rect">
                  <a:avLst/>
                </a:prstGeom>
                <a:noFill/>
              </p:spPr>
              <p:txBody>
                <a:bodyPr wrap="square">
                  <a:spAutoFit/>
                </a:bodyPr>
                <a:lstStyle/>
                <a:p>
                  <a:r>
                    <a:rPr lang="en-US" sz="2526" b="1" i="1" dirty="0">
                      <a:solidFill>
                        <a:srgbClr val="002060"/>
                      </a:solidFill>
                      <a:latin typeface="Aptos" panose="020B0004020202020204" pitchFamily="34" charset="0"/>
                      <a:cs typeface="Arial" panose="020B0604020202020204" pitchFamily="34" charset="0"/>
                    </a:rPr>
                    <a:t>Analysis</a:t>
                  </a:r>
                </a:p>
              </p:txBody>
            </p:sp>
          </p:grpSp>
          <p:sp>
            <p:nvSpPr>
              <p:cNvPr id="335" name="Arrow: Right 281">
                <a:extLst>
                  <a:ext uri="{FF2B5EF4-FFF2-40B4-BE49-F238E27FC236}">
                    <a16:creationId xmlns:a16="http://schemas.microsoft.com/office/drawing/2014/main" id="{B20FC0A8-F7E7-1E69-1208-3F6266EAEEF0}"/>
                  </a:ext>
                </a:extLst>
              </p:cNvPr>
              <p:cNvSpPr/>
              <p:nvPr/>
            </p:nvSpPr>
            <p:spPr>
              <a:xfrm rot="5400000">
                <a:off x="9326985" y="22089348"/>
                <a:ext cx="660219" cy="76405"/>
              </a:xfrm>
              <a:prstGeom prst="rightArrow">
                <a:avLst/>
              </a:prstGeom>
              <a:ln w="139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624"/>
              </a:p>
            </p:txBody>
          </p:sp>
        </p:grpSp>
        <p:grpSp>
          <p:nvGrpSpPr>
            <p:cNvPr id="351" name="Group 350">
              <a:extLst>
                <a:ext uri="{FF2B5EF4-FFF2-40B4-BE49-F238E27FC236}">
                  <a16:creationId xmlns:a16="http://schemas.microsoft.com/office/drawing/2014/main" id="{2CA69EEB-825B-F02B-E3E2-9B7B917C7BCF}"/>
                </a:ext>
              </a:extLst>
            </p:cNvPr>
            <p:cNvGrpSpPr/>
            <p:nvPr/>
          </p:nvGrpSpPr>
          <p:grpSpPr>
            <a:xfrm>
              <a:off x="10926644" y="21202157"/>
              <a:ext cx="692475" cy="3562127"/>
              <a:chOff x="12153396" y="19199529"/>
              <a:chExt cx="767511" cy="3948113"/>
            </a:xfrm>
          </p:grpSpPr>
          <p:cxnSp>
            <p:nvCxnSpPr>
              <p:cNvPr id="343" name="Straight Connector 342">
                <a:extLst>
                  <a:ext uri="{FF2B5EF4-FFF2-40B4-BE49-F238E27FC236}">
                    <a16:creationId xmlns:a16="http://schemas.microsoft.com/office/drawing/2014/main" id="{CD3EEE8D-FF20-6BF3-0E41-46D3A3DF3E50}"/>
                  </a:ext>
                </a:extLst>
              </p:cNvPr>
              <p:cNvCxnSpPr>
                <a:cxnSpLocks/>
              </p:cNvCxnSpPr>
              <p:nvPr/>
            </p:nvCxnSpPr>
            <p:spPr>
              <a:xfrm flipH="1">
                <a:off x="12347213" y="19199529"/>
                <a:ext cx="573694" cy="394203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82716CBB-FC8E-8849-E03E-2CCBA988326C}"/>
                  </a:ext>
                </a:extLst>
              </p:cNvPr>
              <p:cNvCxnSpPr>
                <a:cxnSpLocks/>
              </p:cNvCxnSpPr>
              <p:nvPr/>
            </p:nvCxnSpPr>
            <p:spPr>
              <a:xfrm flipH="1" flipV="1">
                <a:off x="12153396" y="23132155"/>
                <a:ext cx="405657" cy="1548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354" name="Group 353">
              <a:extLst>
                <a:ext uri="{FF2B5EF4-FFF2-40B4-BE49-F238E27FC236}">
                  <a16:creationId xmlns:a16="http://schemas.microsoft.com/office/drawing/2014/main" id="{3298C0FD-2514-92B0-B999-0FA4B3E8E9CB}"/>
                </a:ext>
              </a:extLst>
            </p:cNvPr>
            <p:cNvGrpSpPr/>
            <p:nvPr/>
          </p:nvGrpSpPr>
          <p:grpSpPr>
            <a:xfrm>
              <a:off x="11747465" y="17310014"/>
              <a:ext cx="655957" cy="3064232"/>
              <a:chOff x="13063161" y="14885641"/>
              <a:chExt cx="727035" cy="3396267"/>
            </a:xfrm>
          </p:grpSpPr>
          <p:cxnSp>
            <p:nvCxnSpPr>
              <p:cNvPr id="342" name="Straight Connector 341">
                <a:extLst>
                  <a:ext uri="{FF2B5EF4-FFF2-40B4-BE49-F238E27FC236}">
                    <a16:creationId xmlns:a16="http://schemas.microsoft.com/office/drawing/2014/main" id="{0789D2C4-9D0F-9D10-6B6E-1C928FC2C2F4}"/>
                  </a:ext>
                </a:extLst>
              </p:cNvPr>
              <p:cNvCxnSpPr>
                <a:cxnSpLocks/>
              </p:cNvCxnSpPr>
              <p:nvPr/>
            </p:nvCxnSpPr>
            <p:spPr>
              <a:xfrm flipH="1">
                <a:off x="13063161" y="14901466"/>
                <a:ext cx="517064" cy="3380442"/>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0C3BFDBA-D715-E6E4-7579-5FD3224AEA07}"/>
                  </a:ext>
                </a:extLst>
              </p:cNvPr>
              <p:cNvCxnSpPr>
                <a:cxnSpLocks/>
              </p:cNvCxnSpPr>
              <p:nvPr/>
            </p:nvCxnSpPr>
            <p:spPr>
              <a:xfrm flipH="1" flipV="1">
                <a:off x="13431964" y="14885641"/>
                <a:ext cx="358232" cy="1731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355" name="TextBox 354">
              <a:extLst>
                <a:ext uri="{FF2B5EF4-FFF2-40B4-BE49-F238E27FC236}">
                  <a16:creationId xmlns:a16="http://schemas.microsoft.com/office/drawing/2014/main" id="{0C65CAF9-38E1-B17A-992E-DD84FDD7EC57}"/>
                </a:ext>
              </a:extLst>
            </p:cNvPr>
            <p:cNvSpPr txBox="1"/>
            <p:nvPr/>
          </p:nvSpPr>
          <p:spPr>
            <a:xfrm>
              <a:off x="11192761" y="20621484"/>
              <a:ext cx="1035436" cy="337231"/>
            </a:xfrm>
            <a:prstGeom prst="rect">
              <a:avLst/>
            </a:prstGeom>
            <a:noFill/>
            <a:scene3d>
              <a:camera prst="orthographicFront">
                <a:rot lat="0" lon="0" rev="21300000"/>
              </a:camera>
              <a:lightRig rig="threePt" dir="t"/>
            </a:scene3d>
          </p:spPr>
          <p:txBody>
            <a:bodyPr wrap="square" rtlCol="0">
              <a:spAutoFit/>
            </a:bodyPr>
            <a:lstStyle/>
            <a:p>
              <a:r>
                <a:rPr lang="en-US" sz="1804" b="1" dirty="0">
                  <a:solidFill>
                    <a:srgbClr val="002060"/>
                  </a:solidFill>
                  <a:latin typeface="Aptos" panose="020B0004020202020204" pitchFamily="34" charset="0"/>
                </a:rPr>
                <a:t>67.5 cm</a:t>
              </a:r>
            </a:p>
          </p:txBody>
        </p:sp>
      </p:grpSp>
      <p:sp>
        <p:nvSpPr>
          <p:cNvPr id="30" name="TextBox 29">
            <a:extLst>
              <a:ext uri="{FF2B5EF4-FFF2-40B4-BE49-F238E27FC236}">
                <a16:creationId xmlns:a16="http://schemas.microsoft.com/office/drawing/2014/main" id="{2195F94C-D306-E290-7221-F07D5759424C}"/>
              </a:ext>
            </a:extLst>
          </p:cNvPr>
          <p:cNvSpPr txBox="1"/>
          <p:nvPr/>
        </p:nvSpPr>
        <p:spPr>
          <a:xfrm>
            <a:off x="13703188" y="36049626"/>
            <a:ext cx="9448422" cy="861774"/>
          </a:xfrm>
          <a:prstGeom prst="rect">
            <a:avLst/>
          </a:prstGeom>
          <a:noFill/>
        </p:spPr>
        <p:txBody>
          <a:bodyPr wrap="square" rtlCol="0">
            <a:spAutoFit/>
          </a:bodyPr>
          <a:lstStyle/>
          <a:p>
            <a:r>
              <a:rPr lang="en-US" sz="2500" b="1" dirty="0">
                <a:solidFill>
                  <a:srgbClr val="002060"/>
                </a:solidFill>
                <a:latin typeface="Aptos" panose="020B0004020202020204" pitchFamily="34" charset="0"/>
                <a:ea typeface="Open Sans" pitchFamily="2" charset="0"/>
                <a:cs typeface="Open Sans" pitchFamily="2" charset="0"/>
              </a:rPr>
              <a:t>References</a:t>
            </a:r>
          </a:p>
          <a:p>
            <a:pPr marL="464072" indent="-464072">
              <a:buAutoNum type="arabicPeriod"/>
            </a:pPr>
            <a:r>
              <a:rPr lang="en-US" sz="2500" dirty="0">
                <a:solidFill>
                  <a:srgbClr val="002060"/>
                </a:solidFill>
                <a:latin typeface="Aptos" panose="020B0004020202020204" pitchFamily="34" charset="0"/>
                <a:ea typeface="Open Sans" pitchFamily="2" charset="0"/>
                <a:cs typeface="Open Sans" pitchFamily="2" charset="0"/>
              </a:rPr>
              <a:t>BC Emergency Health Services, http://www.bcehs.ca, </a:t>
            </a:r>
            <a:r>
              <a:rPr lang="en-US" sz="2500" b="1" dirty="0">
                <a:solidFill>
                  <a:srgbClr val="002060"/>
                </a:solidFill>
                <a:latin typeface="Aptos" panose="020B0004020202020204" pitchFamily="34" charset="0"/>
                <a:ea typeface="Open Sans" pitchFamily="2" charset="0"/>
                <a:cs typeface="Open Sans" pitchFamily="2" charset="0"/>
              </a:rPr>
              <a:t>2023</a:t>
            </a:r>
          </a:p>
        </p:txBody>
      </p:sp>
      <p:pic>
        <p:nvPicPr>
          <p:cNvPr id="133" name="Picture 132" descr="A black background with blue text&#10;&#10;Description automatically generated">
            <a:extLst>
              <a:ext uri="{FF2B5EF4-FFF2-40B4-BE49-F238E27FC236}">
                <a16:creationId xmlns:a16="http://schemas.microsoft.com/office/drawing/2014/main" id="{4A7C9098-6DA6-21E1-8D60-47630A20B3E7}"/>
              </a:ext>
            </a:extLst>
          </p:cNvPr>
          <p:cNvPicPr>
            <a:picLocks noChangeAspect="1"/>
          </p:cNvPicPr>
          <p:nvPr/>
        </p:nvPicPr>
        <p:blipFill>
          <a:blip r:embed="rId19"/>
          <a:stretch>
            <a:fillRect/>
          </a:stretch>
        </p:blipFill>
        <p:spPr>
          <a:xfrm>
            <a:off x="13703188" y="38226790"/>
            <a:ext cx="4575294" cy="1003392"/>
          </a:xfrm>
          <a:prstGeom prst="rect">
            <a:avLst/>
          </a:prstGeom>
        </p:spPr>
      </p:pic>
      <p:pic>
        <p:nvPicPr>
          <p:cNvPr id="134" name="Picture 133" descr="A red circle with black text&#10;&#10;Description automatically generated">
            <a:extLst>
              <a:ext uri="{FF2B5EF4-FFF2-40B4-BE49-F238E27FC236}">
                <a16:creationId xmlns:a16="http://schemas.microsoft.com/office/drawing/2014/main" id="{3E2245F6-F91F-AE93-E46C-1BB6FF32A734}"/>
              </a:ext>
            </a:extLst>
          </p:cNvPr>
          <p:cNvPicPr>
            <a:picLocks noChangeAspect="1"/>
          </p:cNvPicPr>
          <p:nvPr/>
        </p:nvPicPr>
        <p:blipFill>
          <a:blip r:embed="rId20"/>
          <a:stretch>
            <a:fillRect/>
          </a:stretch>
        </p:blipFill>
        <p:spPr>
          <a:xfrm>
            <a:off x="30973174" y="36476200"/>
            <a:ext cx="5923344" cy="4452792"/>
          </a:xfrm>
          <a:prstGeom prst="rect">
            <a:avLst/>
          </a:prstGeom>
        </p:spPr>
      </p:pic>
      <p:pic>
        <p:nvPicPr>
          <p:cNvPr id="1032" name="Picture 8">
            <a:extLst>
              <a:ext uri="{FF2B5EF4-FFF2-40B4-BE49-F238E27FC236}">
                <a16:creationId xmlns:a16="http://schemas.microsoft.com/office/drawing/2014/main" id="{1640AFD8-235D-BE71-E922-E0C17B6BEB4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102333" y="37926127"/>
            <a:ext cx="4950023" cy="1658258"/>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166" descr="A white and black machine&#10;&#10;Description automatically generated">
            <a:extLst>
              <a:ext uri="{FF2B5EF4-FFF2-40B4-BE49-F238E27FC236}">
                <a16:creationId xmlns:a16="http://schemas.microsoft.com/office/drawing/2014/main" id="{39F9462E-D5BA-E090-D4E0-2284453DD7D9}"/>
              </a:ext>
            </a:extLst>
          </p:cNvPr>
          <p:cNvPicPr>
            <a:picLocks noChangeAspect="1"/>
          </p:cNvPicPr>
          <p:nvPr/>
        </p:nvPicPr>
        <p:blipFill>
          <a:blip r:embed="rId22"/>
          <a:stretch>
            <a:fillRect/>
          </a:stretch>
        </p:blipFill>
        <p:spPr>
          <a:xfrm>
            <a:off x="11384008" y="25484049"/>
            <a:ext cx="3193810" cy="3193810"/>
          </a:xfrm>
          <a:prstGeom prst="rect">
            <a:avLst/>
          </a:prstGeom>
        </p:spPr>
      </p:pic>
    </p:spTree>
    <p:extLst>
      <p:ext uri="{BB962C8B-B14F-4D97-AF65-F5344CB8AC3E}">
        <p14:creationId xmlns:p14="http://schemas.microsoft.com/office/powerpoint/2010/main" val="286447198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737</TotalTime>
  <Words>1155</Words>
  <Application>Microsoft Office PowerPoint</Application>
  <PresentationFormat>Custom</PresentationFormat>
  <Paragraphs>146</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Aptos</vt:lpstr>
      <vt:lpstr>Aptos ExtraBold</vt:lpstr>
      <vt:lpstr>Aptos SemiBold</vt:lpstr>
      <vt:lpstr>Arial</vt:lpstr>
      <vt:lpstr>Calibri</vt:lpstr>
      <vt:lpstr>Calibri Light</vt:lpstr>
      <vt:lpstr>Grandview</vt:lpstr>
      <vt:lpstr>Office 2013 - 2022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green02@student.ubc.ca</dc:creator>
  <cp:lastModifiedBy>Clark Zhang</cp:lastModifiedBy>
  <cp:revision>12</cp:revision>
  <dcterms:created xsi:type="dcterms:W3CDTF">2024-07-29T23:01:12Z</dcterms:created>
  <dcterms:modified xsi:type="dcterms:W3CDTF">2026-05-31T02:37:29Z</dcterms:modified>
</cp:coreProperties>
</file>